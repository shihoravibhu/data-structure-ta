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83" r:id="rId2"/>
    <p:sldId id="444" r:id="rId3"/>
    <p:sldId id="435" r:id="rId4"/>
    <p:sldId id="436" r:id="rId5"/>
    <p:sldId id="423" r:id="rId6"/>
    <p:sldId id="437" r:id="rId7"/>
    <p:sldId id="438" r:id="rId8"/>
    <p:sldId id="439" r:id="rId9"/>
    <p:sldId id="440" r:id="rId10"/>
    <p:sldId id="441" r:id="rId11"/>
    <p:sldId id="442" r:id="rId12"/>
    <p:sldId id="443" r:id="rId13"/>
    <p:sldId id="450" r:id="rId14"/>
    <p:sldId id="451" r:id="rId15"/>
    <p:sldId id="452" r:id="rId16"/>
    <p:sldId id="453" r:id="rId17"/>
    <p:sldId id="454" r:id="rId18"/>
    <p:sldId id="456" r:id="rId19"/>
    <p:sldId id="457" r:id="rId20"/>
    <p:sldId id="455" r:id="rId21"/>
  </p:sldIdLst>
  <p:sldSz cx="12192000" cy="6858000"/>
  <p:notesSz cx="6858000" cy="9144000"/>
  <p:embeddedFontLst>
    <p:embeddedFont>
      <p:font typeface="Consolas" panose="020B0609020204030204" pitchFamily="49" charset="0"/>
      <p:regular r:id="rId24"/>
      <p:bold r:id="rId25"/>
      <p:italic r:id="rId26"/>
      <p:boldItalic r:id="rId27"/>
    </p:embeddedFont>
    <p:embeddedFont>
      <p:font typeface="Roboto Condensed" panose="020F0502020204030204" pitchFamily="34" charset="0"/>
      <p:regular r:id="rId28"/>
      <p:bold r:id="rId29"/>
      <p:italic r:id="rId30"/>
      <p:boldItalic r:id="rId31"/>
    </p:embeddedFont>
    <p:embeddedFont>
      <p:font typeface="Roboto Condensed Light" panose="020F0302020204030204" pitchFamily="34" charset="0"/>
      <p:regular r:id="rId32"/>
      <p:italic r:id="rId33"/>
    </p:embeddedFont>
    <p:embeddedFont>
      <p:font typeface="Wingdings 3" pitchFamily="2" charset="2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  <a:srgbClr val="301B92"/>
    <a:srgbClr val="5C0000"/>
    <a:srgbClr val="F54337"/>
    <a:srgbClr val="ED524F"/>
    <a:srgbClr val="B84742"/>
    <a:srgbClr val="2FA0AE"/>
    <a:srgbClr val="558ED5"/>
    <a:srgbClr val="1D3064"/>
    <a:srgbClr val="673B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97" autoAdjust="0"/>
    <p:restoredTop sz="96370" autoAdjust="0"/>
  </p:normalViewPr>
  <p:slideViewPr>
    <p:cSldViewPr snapToGrid="0">
      <p:cViewPr>
        <p:scale>
          <a:sx n="129" d="100"/>
          <a:sy n="129" d="100"/>
        </p:scale>
        <p:origin x="76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1944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font" Target="fonts/font5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87FD0-6366-498E-B5AA-8D5EAADA1318}" type="datetimeFigureOut">
              <a:rPr lang="en-IN" smtClean="0"/>
              <a:t>11/08/26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D5F676-4FC3-4D3C-BE37-3352AFB19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425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11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11" Type="http://schemas.openxmlformats.org/officeDocument/2006/relationships/image" Target="../media/image8.jpeg"/><Relationship Id="rId5" Type="http://schemas.openxmlformats.org/officeDocument/2006/relationships/image" Target="../media/image3.png"/><Relationship Id="rId10" Type="http://schemas.openxmlformats.org/officeDocument/2006/relationships/image" Target="../media/image14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762" y="307556"/>
            <a:ext cx="270404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1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853" y="2673461"/>
            <a:ext cx="4818221" cy="145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762" y="307556"/>
            <a:ext cx="270404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30" name="Hexagon 2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1D3064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34" name="Rectangle 33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01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 userDrawn="1"/>
        </p:nvGrpSpPr>
        <p:grpSpPr>
          <a:xfrm>
            <a:off x="9716596" y="886592"/>
            <a:ext cx="2554142" cy="587454"/>
            <a:chOff x="9424496" y="861192"/>
            <a:chExt cx="2554142" cy="587454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5018" y="861192"/>
              <a:ext cx="1932495" cy="587453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24496" y="8611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580" y="9015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4180" y="7239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2 (Part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2)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Linked List - Linear Data Structure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2 (Part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2)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Linked List - Linear Data Structure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 userDrawn="1"/>
        </p:nvGrpSpPr>
        <p:grpSpPr>
          <a:xfrm>
            <a:off x="9792796" y="5890392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761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 userDrawn="1"/>
        </p:nvGrpSpPr>
        <p:grpSpPr>
          <a:xfrm>
            <a:off x="-62404" y="5890392"/>
            <a:ext cx="2554142" cy="587454"/>
            <a:chOff x="2423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8918" y="5890392"/>
              <a:ext cx="1932495" cy="58745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2423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888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2 (Part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2)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Linked List - Linear Data Structure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 userDrawn="1"/>
        </p:nvGrpSpPr>
        <p:grpSpPr>
          <a:xfrm>
            <a:off x="9818224" y="6087939"/>
            <a:ext cx="2554142" cy="650953"/>
            <a:chOff x="9437224" y="6087939"/>
            <a:chExt cx="2554142" cy="650953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DD61FEC-075B-4EDD-97CA-36E6F72630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8046" y="6151439"/>
              <a:ext cx="1932495" cy="587453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B550E12-AA95-4B1B-A8D2-ED01E515FC43}"/>
                </a:ext>
              </a:extLst>
            </p:cNvPr>
            <p:cNvSpPr/>
            <p:nvPr userDrawn="1"/>
          </p:nvSpPr>
          <p:spPr>
            <a:xfrm>
              <a:off x="9437224" y="6087939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29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9726758" y="149992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2 (Part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2)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Linked List - Linear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 userDrawn="1"/>
        </p:nvGrpSpPr>
        <p:grpSpPr>
          <a:xfrm>
            <a:off x="9726758" y="6003345"/>
            <a:ext cx="2554142" cy="587454"/>
            <a:chOff x="9475296" y="5890392"/>
            <a:chExt cx="2554142" cy="587454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2 (Part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2)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Linked List - Linear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-249812" y="5977321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2 (Part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2)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Linked List - Linear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>
            <a:normAutofit/>
          </a:bodyPr>
          <a:lstStyle>
            <a:lvl1pPr algn="l">
              <a:defRPr lang="en-US" sz="4400" b="0" kern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  <a:defRPr lang="en-US" sz="24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0485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lang="en-US" sz="23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68375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22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239837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20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454150" indent="-28575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1600" kern="1200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marL="342900" lvl="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marL="625475" lvl="1" indent="-263525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896938" lvl="2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dirty="0"/>
              <a:t>Third level</a:t>
            </a:r>
          </a:p>
          <a:p>
            <a:pPr marL="1168400" lvl="3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–"/>
            </a:pPr>
            <a:r>
              <a:rPr lang="en-US" dirty="0"/>
              <a:t>Fourth level</a:t>
            </a:r>
          </a:p>
          <a:p>
            <a:pPr marL="1439863" lvl="4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»"/>
            </a:pPr>
            <a:r>
              <a:rPr lang="en-US" dirty="0"/>
              <a:t>Fifth level</a:t>
            </a:r>
          </a:p>
        </p:txBody>
      </p:sp>
      <p:sp>
        <p:nvSpPr>
          <p:cNvPr id="5" name="Rektangel 11"/>
          <p:cNvSpPr/>
          <p:nvPr userDrawn="1"/>
        </p:nvSpPr>
        <p:spPr>
          <a:xfrm>
            <a:off x="0" y="6477000"/>
            <a:ext cx="5384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da-DK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Unit</a:t>
            </a:r>
            <a:r>
              <a:rPr lang="da-DK" sz="18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– 2: </a:t>
            </a:r>
            <a:r>
              <a:rPr lang="en-US" sz="1800" dirty="0"/>
              <a:t>Linear Data Structure</a:t>
            </a: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ktangel 11"/>
          <p:cNvSpPr/>
          <p:nvPr userDrawn="1"/>
        </p:nvSpPr>
        <p:spPr>
          <a:xfrm>
            <a:off x="6197600" y="6480727"/>
            <a:ext cx="59944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en-US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Darshan</a:t>
            </a:r>
            <a:r>
              <a:rPr lang="en-US" sz="18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Institute of Engineering &amp; Technology</a:t>
            </a: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Rektangel 11"/>
          <p:cNvSpPr/>
          <p:nvPr userDrawn="1"/>
        </p:nvSpPr>
        <p:spPr>
          <a:xfrm>
            <a:off x="5384800" y="6477000"/>
            <a:ext cx="812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>
              <a:defRPr/>
            </a:pPr>
            <a:fld id="{4CCBBDC9-ADEB-48F3-A42C-1AD0249F062A}" type="slidenum">
              <a:rPr lang="da-DK" sz="18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pPr indent="-342900" algn="ctr">
                <a:defRPr/>
              </a:pPr>
              <a:t>‹#›</a:t>
            </a:fld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5711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638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93" r:id="rId2"/>
    <p:sldLayoutId id="2147483670" r:id="rId3"/>
    <p:sldLayoutId id="2147483687" r:id="rId4"/>
    <p:sldLayoutId id="2147483688" r:id="rId5"/>
    <p:sldLayoutId id="2147483671" r:id="rId6"/>
    <p:sldLayoutId id="2147483672" r:id="rId7"/>
    <p:sldLayoutId id="2147483689" r:id="rId8"/>
    <p:sldLayoutId id="2147483690" r:id="rId9"/>
    <p:sldLayoutId id="2147483673" r:id="rId10"/>
    <p:sldLayoutId id="2147483691" r:id="rId11"/>
    <p:sldLayoutId id="2147483674" r:id="rId12"/>
    <p:sldLayoutId id="2147483676" r:id="rId13"/>
    <p:sldLayoutId id="2147483677" r:id="rId14"/>
    <p:sldLayoutId id="2147483678" r:id="rId15"/>
    <p:sldLayoutId id="2147483679" r:id="rId16"/>
    <p:sldLayoutId id="2147483681" r:id="rId17"/>
    <p:sldLayoutId id="2147483683" r:id="rId18"/>
    <p:sldLayoutId id="2147483682" r:id="rId19"/>
    <p:sldLayoutId id="2147483684" r:id="rId20"/>
    <p:sldLayoutId id="2147483685" r:id="rId21"/>
    <p:sldLayoutId id="2147483686" r:id="rId22"/>
    <p:sldLayoutId id="2147483694" r:id="rId23"/>
    <p:sldLayoutId id="2147483695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60510" cy="2563094"/>
          </a:xfrm>
        </p:spPr>
        <p:txBody>
          <a:bodyPr/>
          <a:lstStyle/>
          <a:p>
            <a:r>
              <a:rPr lang="en-US" sz="6000" dirty="0"/>
              <a:t>Tree Lab 19</a:t>
            </a:r>
            <a:br>
              <a:rPr lang="en-US" sz="6000" dirty="0"/>
            </a:br>
            <a:r>
              <a:rPr lang="en-US" sz="6000" b="0" dirty="0"/>
              <a:t>Data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pradyuman.jadeja@darshan.ac.in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+91 9879461848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6D614-6447-4787-8025-9C902A1B7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7AB9BC-FE08-46B2-A19C-803CB5DF0C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Dr. </a:t>
            </a:r>
            <a:r>
              <a:rPr lang="en-US" dirty="0" err="1"/>
              <a:t>Pradyumansinh</a:t>
            </a:r>
            <a:r>
              <a:rPr lang="en-US" dirty="0"/>
              <a:t> </a:t>
            </a:r>
            <a:r>
              <a:rPr lang="en-US" dirty="0" err="1"/>
              <a:t>Jadeja</a:t>
            </a:r>
            <a:endParaRPr lang="en-US" dirty="0"/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Data Structures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(DS)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#2301CS301</a:t>
            </a: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Placeholder 7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661001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5D476-F5AB-9CAA-3488-CE6A7246C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knowledge of BST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EA076-3781-649E-4A5E-EF34C5DE7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What is a Binary Search Tree?</a:t>
            </a:r>
          </a:p>
          <a:p>
            <a:pPr marL="0" indent="0">
              <a:buNone/>
            </a:pPr>
            <a:r>
              <a:rPr lang="en-GB" dirty="0"/>
              <a:t>A </a:t>
            </a:r>
            <a:r>
              <a:rPr lang="en-GB" b="1" dirty="0"/>
              <a:t>Binary Search Tree (BST)</a:t>
            </a:r>
            <a:r>
              <a:rPr lang="en-GB" dirty="0"/>
              <a:t> is a type of binary tree in which each node contains at most </a:t>
            </a:r>
            <a:r>
              <a:rPr lang="en-GB" b="1" dirty="0"/>
              <a:t>two    children</a:t>
            </a:r>
            <a:r>
              <a:rPr lang="en-GB" dirty="0"/>
              <a:t> and follows a specific ordering rule.</a:t>
            </a:r>
          </a:p>
          <a:p>
            <a:endParaRPr lang="en-GB" dirty="0"/>
          </a:p>
          <a:p>
            <a:r>
              <a:rPr lang="en-GB" b="1" dirty="0"/>
              <a:t>BST Property</a:t>
            </a:r>
          </a:p>
          <a:p>
            <a:pPr marL="0" indent="0">
              <a:buNone/>
            </a:pPr>
            <a:r>
              <a:rPr lang="en-GB" dirty="0"/>
              <a:t>   All nodes in the </a:t>
            </a:r>
            <a:r>
              <a:rPr lang="en-GB" b="1" dirty="0"/>
              <a:t>left subtree</a:t>
            </a:r>
            <a:r>
              <a:rPr lang="en-GB" dirty="0"/>
              <a:t> have values </a:t>
            </a:r>
            <a:r>
              <a:rPr lang="en-GB" b="1" dirty="0"/>
              <a:t>less than</a:t>
            </a:r>
            <a:r>
              <a:rPr lang="en-GB" dirty="0"/>
              <a:t> the parent node. </a:t>
            </a:r>
          </a:p>
          <a:p>
            <a:pPr marL="0" indent="0">
              <a:buNone/>
            </a:pPr>
            <a:r>
              <a:rPr lang="en-GB" dirty="0"/>
              <a:t>   All nodes in the </a:t>
            </a:r>
            <a:r>
              <a:rPr lang="en-GB" b="1" dirty="0"/>
              <a:t>right subtree</a:t>
            </a:r>
            <a:r>
              <a:rPr lang="en-GB" dirty="0"/>
              <a:t> have values </a:t>
            </a:r>
            <a:r>
              <a:rPr lang="en-GB" b="1" dirty="0"/>
              <a:t>greater than</a:t>
            </a:r>
            <a:r>
              <a:rPr lang="en-GB" dirty="0"/>
              <a:t> the parent node. </a:t>
            </a:r>
          </a:p>
          <a:p>
            <a:pPr marL="0" indent="0">
              <a:buNone/>
            </a:pPr>
            <a:r>
              <a:rPr lang="en-GB" dirty="0"/>
              <a:t>   Both the left and right subtrees are themselves Binary Search Trees.</a:t>
            </a:r>
            <a:endParaRPr lang="en-GB" b="1" dirty="0"/>
          </a:p>
          <a:p>
            <a:r>
              <a:rPr lang="en-IN" b="1" dirty="0"/>
              <a:t>Binary Tree vs BST</a:t>
            </a:r>
          </a:p>
          <a:p>
            <a:pPr marL="0" indent="0">
              <a:buNone/>
            </a:pPr>
            <a:r>
              <a:rPr lang="en-IN" b="1" dirty="0"/>
              <a:t>    </a:t>
            </a:r>
            <a:r>
              <a:rPr lang="en-GB" dirty="0"/>
              <a:t>A </a:t>
            </a:r>
            <a:r>
              <a:rPr lang="en-GB" b="1" dirty="0"/>
              <a:t>binary tree</a:t>
            </a:r>
            <a:r>
              <a:rPr lang="en-GB" dirty="0"/>
              <a:t>                  each node has at most two children, </a:t>
            </a:r>
          </a:p>
          <a:p>
            <a:pPr marL="0" indent="0">
              <a:buNone/>
            </a:pPr>
            <a:r>
              <a:rPr lang="en-GB" dirty="0"/>
              <a:t>   </a:t>
            </a:r>
            <a:r>
              <a:rPr lang="en-GB" b="1" dirty="0"/>
              <a:t>BST </a:t>
            </a:r>
            <a:r>
              <a:rPr lang="en-GB" dirty="0"/>
              <a:t>                 Type of binary tree                       left child &lt; parent  AND  right child &gt; parent</a:t>
            </a:r>
            <a:endParaRPr lang="en-IN" b="1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B0379549-5BC7-0D4B-F399-A2D8205768AB}"/>
              </a:ext>
            </a:extLst>
          </p:cNvPr>
          <p:cNvSpPr/>
          <p:nvPr/>
        </p:nvSpPr>
        <p:spPr>
          <a:xfrm>
            <a:off x="2214282" y="4903694"/>
            <a:ext cx="978408" cy="3137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768B2909-AF38-69CE-2136-5828556C1519}"/>
              </a:ext>
            </a:extLst>
          </p:cNvPr>
          <p:cNvSpPr/>
          <p:nvPr/>
        </p:nvSpPr>
        <p:spPr>
          <a:xfrm>
            <a:off x="1030941" y="5334000"/>
            <a:ext cx="978408" cy="3137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03C5869-B423-64D6-065A-3F598BB22F35}"/>
              </a:ext>
            </a:extLst>
          </p:cNvPr>
          <p:cNvSpPr/>
          <p:nvPr/>
        </p:nvSpPr>
        <p:spPr>
          <a:xfrm>
            <a:off x="4697505" y="5334000"/>
            <a:ext cx="978408" cy="3137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3157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82DE4A-774B-8DD8-3FC4-4107241F4742}"/>
              </a:ext>
            </a:extLst>
          </p:cNvPr>
          <p:cNvSpPr/>
          <p:nvPr/>
        </p:nvSpPr>
        <p:spPr>
          <a:xfrm>
            <a:off x="535855" y="1658471"/>
            <a:ext cx="5504328" cy="3541058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F85AE3-EA49-73C8-B52B-98AA32FE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TreeNode Structure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F4002-5B13-0A31-5981-B9CCC958A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76144"/>
            <a:ext cx="5964820" cy="5590565"/>
          </a:xfrm>
        </p:spPr>
        <p:txBody>
          <a:bodyPr/>
          <a:lstStyle/>
          <a:p>
            <a:r>
              <a:rPr lang="en-GB" sz="2800" dirty="0"/>
              <a:t>C structure to represent a node </a:t>
            </a: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8E727F-4506-C476-E3E5-5722269CEC34}"/>
              </a:ext>
            </a:extLst>
          </p:cNvPr>
          <p:cNvSpPr txBox="1"/>
          <p:nvPr/>
        </p:nvSpPr>
        <p:spPr>
          <a:xfrm>
            <a:off x="533899" y="1825042"/>
            <a:ext cx="5508239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GB" sz="2800" b="1" dirty="0">
                <a:latin typeface="Consolas" panose="020B0609020204030204" pitchFamily="49" charset="0"/>
              </a:rPr>
              <a:t> </a:t>
            </a:r>
            <a:r>
              <a:rPr lang="en-GB" sz="2800" b="1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GB" sz="2800" b="1" dirty="0">
                <a:latin typeface="Consolas" panose="020B0609020204030204" pitchFamily="49" charset="0"/>
              </a:rPr>
              <a:t>{</a:t>
            </a:r>
          </a:p>
          <a:p>
            <a:endParaRPr lang="en-GB" sz="2800" b="1" dirty="0">
              <a:latin typeface="Consolas" panose="020B0609020204030204" pitchFamily="49" charset="0"/>
            </a:endParaRPr>
          </a:p>
          <a:p>
            <a:r>
              <a:rPr lang="en-GB" sz="2800" b="1" dirty="0">
                <a:latin typeface="Consolas" panose="020B0609020204030204" pitchFamily="49" charset="0"/>
              </a:rPr>
              <a:t>    </a:t>
            </a:r>
            <a:r>
              <a:rPr lang="en-GB" sz="2800" b="1" dirty="0">
                <a:solidFill>
                  <a:schemeClr val="tx2"/>
                </a:solidFill>
                <a:latin typeface="Consolas" panose="020B0609020204030204" pitchFamily="49" charset="0"/>
              </a:rPr>
              <a:t>int</a:t>
            </a:r>
            <a:r>
              <a:rPr lang="en-GB" sz="2800" b="1" dirty="0">
                <a:latin typeface="Consolas" panose="020B0609020204030204" pitchFamily="49" charset="0"/>
              </a:rPr>
              <a:t> data;</a:t>
            </a:r>
          </a:p>
          <a:p>
            <a:r>
              <a:rPr lang="en-GB" sz="2800" b="1" dirty="0">
                <a:latin typeface="Consolas" panose="020B0609020204030204" pitchFamily="49" charset="0"/>
              </a:rPr>
              <a:t>    </a:t>
            </a:r>
            <a:r>
              <a:rPr lang="en-GB" sz="2800" b="1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GB" sz="2800" b="1" dirty="0">
                <a:latin typeface="Consolas" panose="020B0609020204030204" pitchFamily="49" charset="0"/>
              </a:rPr>
              <a:t> </a:t>
            </a:r>
            <a:r>
              <a:rPr lang="en-GB" sz="2800" b="1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GB" sz="2800" b="1" dirty="0">
                <a:latin typeface="Consolas" panose="020B0609020204030204" pitchFamily="49" charset="0"/>
              </a:rPr>
              <a:t>* left;</a:t>
            </a:r>
          </a:p>
          <a:p>
            <a:r>
              <a:rPr lang="en-GB" sz="2800" b="1" dirty="0">
                <a:latin typeface="Consolas" panose="020B0609020204030204" pitchFamily="49" charset="0"/>
              </a:rPr>
              <a:t>    </a:t>
            </a:r>
            <a:r>
              <a:rPr lang="en-GB" sz="2800" b="1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GB" sz="2800" b="1" dirty="0">
                <a:latin typeface="Consolas" panose="020B0609020204030204" pitchFamily="49" charset="0"/>
              </a:rPr>
              <a:t> </a:t>
            </a:r>
            <a:r>
              <a:rPr lang="en-GB" sz="2800" b="1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GB" sz="2800" b="1" dirty="0">
                <a:latin typeface="Consolas" panose="020B0609020204030204" pitchFamily="49" charset="0"/>
              </a:rPr>
              <a:t>* right;</a:t>
            </a:r>
          </a:p>
          <a:p>
            <a:endParaRPr lang="en-GB" sz="2800" b="1" dirty="0">
              <a:latin typeface="Consolas" panose="020B0609020204030204" pitchFamily="49" charset="0"/>
            </a:endParaRPr>
          </a:p>
          <a:p>
            <a:r>
              <a:rPr lang="en-GB" sz="2800" b="1" dirty="0">
                <a:latin typeface="Consolas" panose="020B0609020204030204" pitchFamily="49" charset="0"/>
              </a:rPr>
              <a:t>};</a:t>
            </a:r>
          </a:p>
          <a:p>
            <a:endParaRPr lang="en-IN" sz="2800" b="1" dirty="0">
              <a:latin typeface="Consolas" panose="020B06090202040302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DFF3F15-7920-FAA2-15C3-DD918F5A43CD}"/>
              </a:ext>
            </a:extLst>
          </p:cNvPr>
          <p:cNvSpPr txBox="1">
            <a:spLocks/>
          </p:cNvSpPr>
          <p:nvPr/>
        </p:nvSpPr>
        <p:spPr>
          <a:xfrm>
            <a:off x="6096000" y="794267"/>
            <a:ext cx="5964820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8B225A-8285-20C0-CA1E-B22FA905E043}"/>
              </a:ext>
            </a:extLst>
          </p:cNvPr>
          <p:cNvSpPr/>
          <p:nvPr/>
        </p:nvSpPr>
        <p:spPr>
          <a:xfrm>
            <a:off x="6476547" y="2456329"/>
            <a:ext cx="1691182" cy="831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left</a:t>
            </a:r>
            <a:endParaRPr lang="en-US" sz="24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E8E8BB-1C84-73A8-4C09-C1A6130529C3}"/>
              </a:ext>
            </a:extLst>
          </p:cNvPr>
          <p:cNvSpPr/>
          <p:nvPr/>
        </p:nvSpPr>
        <p:spPr>
          <a:xfrm>
            <a:off x="8167730" y="2456329"/>
            <a:ext cx="1076123" cy="831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data</a:t>
            </a:r>
            <a:endParaRPr lang="en-US" sz="24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D449BC-CDB9-5766-8795-88E34B71474D}"/>
              </a:ext>
            </a:extLst>
          </p:cNvPr>
          <p:cNvSpPr/>
          <p:nvPr/>
        </p:nvSpPr>
        <p:spPr>
          <a:xfrm>
            <a:off x="9243853" y="2457679"/>
            <a:ext cx="1691182" cy="831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right</a:t>
            </a:r>
            <a:endParaRPr lang="en-US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10512F-4969-0B7D-0EC1-02FCD1B2D275}"/>
              </a:ext>
            </a:extLst>
          </p:cNvPr>
          <p:cNvSpPr txBox="1"/>
          <p:nvPr/>
        </p:nvSpPr>
        <p:spPr>
          <a:xfrm>
            <a:off x="6364914" y="1891576"/>
            <a:ext cx="17620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439257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6C8D6-502E-02F2-990F-082032A09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Insert Node in BST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16D03-1111-5F90-BE69-60127F946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76144"/>
            <a:ext cx="4933878" cy="5590565"/>
          </a:xfrm>
        </p:spPr>
        <p:txBody>
          <a:bodyPr/>
          <a:lstStyle/>
          <a:p>
            <a:r>
              <a:rPr lang="en-IN" dirty="0"/>
              <a:t>ALGORITHM</a:t>
            </a:r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000" b="1" dirty="0">
                <a:solidFill>
                  <a:schemeClr val="tx2"/>
                </a:solidFill>
                <a:latin typeface="Consolas" panose="020B0609020204030204" pitchFamily="49" charset="0"/>
              </a:rPr>
              <a:t>[Check for Empty Tree]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2000" dirty="0">
                <a:latin typeface="Consolas" panose="020B0609020204030204" pitchFamily="49" charset="0"/>
              </a:rPr>
              <a:t> root =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createNode</a:t>
            </a:r>
            <a:r>
              <a:rPr lang="en-IN" sz="2000" dirty="0">
                <a:latin typeface="Consolas" panose="020B0609020204030204" pitchFamily="49" charset="0"/>
              </a:rPr>
              <a:t>(val)</a:t>
            </a: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7732BEA-6F23-A721-ECDC-93833AE1A237}"/>
              </a:ext>
            </a:extLst>
          </p:cNvPr>
          <p:cNvSpPr txBox="1">
            <a:spLocks/>
          </p:cNvSpPr>
          <p:nvPr/>
        </p:nvSpPr>
        <p:spPr>
          <a:xfrm>
            <a:off x="5065059" y="876143"/>
            <a:ext cx="6902825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CODE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IN" dirty="0"/>
          </a:p>
          <a:p>
            <a:pPr marL="0" indent="0">
              <a:buNone/>
            </a:pPr>
            <a:endParaRPr lang="en-IN" sz="16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IN" sz="1600" dirty="0"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1600" dirty="0">
                <a:latin typeface="Consolas" panose="020B0609020204030204" pitchFamily="49" charset="0"/>
              </a:rPr>
              <a:t>* </a:t>
            </a:r>
            <a:r>
              <a:rPr lang="en-IN" sz="1600" dirty="0">
                <a:solidFill>
                  <a:srgbClr val="002060"/>
                </a:solidFill>
                <a:latin typeface="Consolas" panose="020B0609020204030204" pitchFamily="49" charset="0"/>
              </a:rPr>
              <a:t>insertNode</a:t>
            </a:r>
            <a:r>
              <a:rPr lang="en-IN" sz="1600" dirty="0">
                <a:latin typeface="Consolas" panose="020B0609020204030204" pitchFamily="49" charset="0"/>
              </a:rPr>
              <a:t>(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IN" sz="1600" dirty="0"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1600" dirty="0">
                <a:latin typeface="Consolas" panose="020B0609020204030204" pitchFamily="49" charset="0"/>
              </a:rPr>
              <a:t>* root, 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int</a:t>
            </a:r>
            <a:r>
              <a:rPr lang="en-IN" sz="1600" dirty="0">
                <a:latin typeface="Consolas" panose="020B0609020204030204" pitchFamily="49" charset="0"/>
              </a:rPr>
              <a:t> </a:t>
            </a:r>
            <a:r>
              <a:rPr lang="en-IN" sz="1600" dirty="0" err="1">
                <a:latin typeface="Consolas" panose="020B0609020204030204" pitchFamily="49" charset="0"/>
              </a:rPr>
              <a:t>val</a:t>
            </a:r>
            <a:r>
              <a:rPr lang="en-IN" sz="16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br>
              <a:rPr lang="en-IN" sz="2000" dirty="0">
                <a:latin typeface="Consolas" panose="020B0609020204030204" pitchFamily="49" charset="0"/>
              </a:rPr>
            </a:b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   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2000" dirty="0">
                <a:latin typeface="Consolas" panose="020B0609020204030204" pitchFamily="49" charset="0"/>
              </a:rPr>
              <a:t>(root ==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r>
              <a:rPr lang="en-IN" sz="2000" dirty="0">
                <a:latin typeface="Consolas" panose="020B0609020204030204" pitchFamily="49" charset="0"/>
              </a:rPr>
              <a:t>){                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       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createNode</a:t>
            </a:r>
            <a:r>
              <a:rPr lang="en-IN" sz="2000" dirty="0">
                <a:latin typeface="Consolas" panose="020B0609020204030204" pitchFamily="49" charset="0"/>
              </a:rPr>
              <a:t>(val);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endParaRPr lang="en-IN" sz="11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605323-7660-F2FC-7470-17A49018EF9F}"/>
              </a:ext>
            </a:extLst>
          </p:cNvPr>
          <p:cNvSpPr/>
          <p:nvPr/>
        </p:nvSpPr>
        <p:spPr>
          <a:xfrm>
            <a:off x="206188" y="3074894"/>
            <a:ext cx="11779623" cy="1371600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31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Node in BST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76144"/>
            <a:ext cx="5964820" cy="5668091"/>
          </a:xfrm>
        </p:spPr>
        <p:txBody>
          <a:bodyPr/>
          <a:lstStyle/>
          <a:p>
            <a:r>
              <a:rPr lang="en-IN" dirty="0"/>
              <a:t>ALGORITHM</a:t>
            </a:r>
          </a:p>
          <a:p>
            <a:pPr marL="0" indent="0">
              <a:buNone/>
            </a:pPr>
            <a:r>
              <a:rPr lang="en-IN" sz="1700" b="1" dirty="0">
                <a:solidFill>
                  <a:schemeClr val="tx2"/>
                </a:solidFill>
                <a:latin typeface="Consolas" panose="020B0609020204030204" pitchFamily="49" charset="0"/>
              </a:rPr>
              <a:t>[Allocate Memory]</a:t>
            </a:r>
          </a:p>
          <a:p>
            <a:pPr marL="0" indent="0">
              <a:buNone/>
            </a:pPr>
            <a:r>
              <a:rPr lang="en-IN" sz="1700" spc="-150" dirty="0">
                <a:latin typeface="Consolas" panose="020B0609020204030204" pitchFamily="49" charset="0"/>
              </a:rPr>
              <a:t>Allocate memory for a new node using </a:t>
            </a:r>
            <a:r>
              <a:rPr lang="en-IN" sz="1700" spc="-150" dirty="0">
                <a:solidFill>
                  <a:schemeClr val="tx2"/>
                </a:solidFill>
                <a:latin typeface="Consolas" panose="020B0609020204030204" pitchFamily="49" charset="0"/>
              </a:rPr>
              <a:t>malloc</a:t>
            </a:r>
            <a:r>
              <a:rPr lang="en-IN" sz="1700" spc="-150" dirty="0">
                <a:latin typeface="Consolas" panose="020B0609020204030204" pitchFamily="49" charset="0"/>
              </a:rPr>
              <a:t>().</a:t>
            </a:r>
          </a:p>
          <a:p>
            <a:pPr marL="0" indent="0">
              <a:buNone/>
            </a:pPr>
            <a:endParaRPr lang="en-IN" sz="17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700" b="1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700" b="1" dirty="0">
                <a:solidFill>
                  <a:schemeClr val="tx2"/>
                </a:solidFill>
                <a:latin typeface="Consolas" panose="020B0609020204030204" pitchFamily="49" charset="0"/>
              </a:rPr>
              <a:t>[Store Data]</a:t>
            </a:r>
          </a:p>
          <a:p>
            <a:pPr marL="0" indent="0">
              <a:buNone/>
            </a:pPr>
            <a:r>
              <a:rPr lang="en-IN" sz="1700" dirty="0">
                <a:latin typeface="Consolas" panose="020B0609020204030204" pitchFamily="49" charset="0"/>
              </a:rPr>
              <a:t>     data(</a:t>
            </a:r>
            <a:r>
              <a:rPr lang="en-IN" sz="1700" dirty="0">
                <a:solidFill>
                  <a:schemeClr val="accent6"/>
                </a:solidFill>
                <a:latin typeface="Consolas" panose="020B0609020204030204" pitchFamily="49" charset="0"/>
              </a:rPr>
              <a:t>newNode</a:t>
            </a:r>
            <a:r>
              <a:rPr lang="en-IN" sz="1700" dirty="0">
                <a:latin typeface="Consolas" panose="020B0609020204030204" pitchFamily="49" charset="0"/>
              </a:rPr>
              <a:t>) ← val</a:t>
            </a:r>
          </a:p>
          <a:p>
            <a:pPr marL="0" indent="0">
              <a:buNone/>
            </a:pPr>
            <a:endParaRPr lang="en-IN" sz="17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700" b="1" dirty="0">
                <a:solidFill>
                  <a:schemeClr val="tx2"/>
                </a:solidFill>
                <a:latin typeface="Consolas" panose="020B0609020204030204" pitchFamily="49" charset="0"/>
              </a:rPr>
              <a:t>[Initialize Left Pointer]</a:t>
            </a:r>
          </a:p>
          <a:p>
            <a:pPr marL="0" indent="0">
              <a:buNone/>
            </a:pPr>
            <a:r>
              <a:rPr lang="en-IN" sz="1700" dirty="0">
                <a:latin typeface="Consolas" panose="020B0609020204030204" pitchFamily="49" charset="0"/>
              </a:rPr>
              <a:t>        left(</a:t>
            </a:r>
            <a:r>
              <a:rPr lang="en-IN" sz="1700" dirty="0">
                <a:solidFill>
                  <a:schemeClr val="accent6"/>
                </a:solidFill>
                <a:latin typeface="Consolas" panose="020B0609020204030204" pitchFamily="49" charset="0"/>
              </a:rPr>
              <a:t>newNode</a:t>
            </a:r>
            <a:r>
              <a:rPr lang="en-IN" sz="1700" dirty="0">
                <a:latin typeface="Consolas" panose="020B0609020204030204" pitchFamily="49" charset="0"/>
              </a:rPr>
              <a:t>) ← </a:t>
            </a:r>
            <a:r>
              <a:rPr lang="en-IN" sz="17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None/>
            </a:pPr>
            <a:endParaRPr lang="en-IN" sz="17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700" b="1" dirty="0">
                <a:solidFill>
                  <a:schemeClr val="tx2"/>
                </a:solidFill>
                <a:latin typeface="Consolas" panose="020B0609020204030204" pitchFamily="49" charset="0"/>
              </a:rPr>
              <a:t>[Initialize Right Pointer]</a:t>
            </a:r>
          </a:p>
          <a:p>
            <a:pPr marL="0" indent="0">
              <a:buNone/>
            </a:pPr>
            <a:r>
              <a:rPr lang="en-IN" sz="1700" dirty="0">
                <a:latin typeface="Consolas" panose="020B0609020204030204" pitchFamily="49" charset="0"/>
              </a:rPr>
              <a:t>        right(</a:t>
            </a:r>
            <a:r>
              <a:rPr lang="en-IN" sz="1700" dirty="0">
                <a:solidFill>
                  <a:schemeClr val="accent6"/>
                </a:solidFill>
                <a:latin typeface="Consolas" panose="020B0609020204030204" pitchFamily="49" charset="0"/>
              </a:rPr>
              <a:t>newNode</a:t>
            </a:r>
            <a:r>
              <a:rPr lang="en-IN" sz="1700" dirty="0">
                <a:latin typeface="Consolas" panose="020B0609020204030204" pitchFamily="49" charset="0"/>
              </a:rPr>
              <a:t>) ← </a:t>
            </a:r>
            <a:r>
              <a:rPr lang="en-IN" sz="17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endParaRPr lang="en-IN" sz="17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700" b="1" dirty="0">
                <a:solidFill>
                  <a:schemeClr val="tx2"/>
                </a:solidFill>
                <a:latin typeface="Consolas" panose="020B0609020204030204" pitchFamily="49" charset="0"/>
              </a:rPr>
              <a:t>[Return the Node]</a:t>
            </a:r>
          </a:p>
          <a:p>
            <a:pPr marL="0" indent="0">
              <a:buNone/>
            </a:pPr>
            <a:r>
              <a:rPr lang="en-IN" sz="1700" dirty="0">
                <a:latin typeface="Consolas" panose="020B0609020204030204" pitchFamily="49" charset="0"/>
              </a:rPr>
              <a:t>        Return </a:t>
            </a:r>
            <a:r>
              <a:rPr lang="en-IN" sz="1700" dirty="0">
                <a:solidFill>
                  <a:schemeClr val="accent6"/>
                </a:solidFill>
                <a:latin typeface="Consolas" panose="020B0609020204030204" pitchFamily="49" charset="0"/>
              </a:rPr>
              <a:t>newNode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371E05-DAF3-570C-39F6-54C4B07854B1}"/>
              </a:ext>
            </a:extLst>
          </p:cNvPr>
          <p:cNvSpPr txBox="1">
            <a:spLocks/>
          </p:cNvSpPr>
          <p:nvPr/>
        </p:nvSpPr>
        <p:spPr>
          <a:xfrm>
            <a:off x="6095999" y="846853"/>
            <a:ext cx="5964820" cy="56680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Consolas" panose="020B0609020204030204" pitchFamily="49" charset="0"/>
              </a:rPr>
              <a:t>CODE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IN" sz="1800" dirty="0"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1800" dirty="0">
                <a:latin typeface="Consolas" panose="020B0609020204030204" pitchFamily="49" charset="0"/>
              </a:rPr>
              <a:t>* </a:t>
            </a:r>
            <a:r>
              <a:rPr lang="en-IN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createNode</a:t>
            </a:r>
            <a:r>
              <a:rPr lang="en-IN" sz="1800" dirty="0"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int</a:t>
            </a:r>
            <a:r>
              <a:rPr lang="en-IN" sz="1800" dirty="0">
                <a:latin typeface="Consolas" panose="020B0609020204030204" pitchFamily="49" charset="0"/>
              </a:rPr>
              <a:t> val){</a:t>
            </a:r>
          </a:p>
          <a:p>
            <a:pPr marL="0" indent="0">
              <a:buNone/>
            </a:pP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IN" sz="1600" dirty="0"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1600" dirty="0">
                <a:latin typeface="Consolas" panose="020B0609020204030204" pitchFamily="49" charset="0"/>
              </a:rPr>
              <a:t>* </a:t>
            </a:r>
            <a:r>
              <a:rPr lang="en-IN" sz="1600" dirty="0">
                <a:solidFill>
                  <a:schemeClr val="accent6"/>
                </a:solidFill>
                <a:latin typeface="Consolas" panose="020B0609020204030204" pitchFamily="49" charset="0"/>
              </a:rPr>
              <a:t>newNode</a:t>
            </a:r>
            <a:r>
              <a:rPr lang="en-IN" sz="1600" dirty="0">
                <a:latin typeface="Consolas" panose="020B0609020204030204" pitchFamily="49" charset="0"/>
              </a:rPr>
              <a:t> = </a:t>
            </a:r>
          </a:p>
          <a:p>
            <a:pPr marL="0" indent="0">
              <a:buNone/>
            </a:pPr>
            <a:r>
              <a:rPr lang="en-IN" sz="1600" dirty="0">
                <a:latin typeface="Consolas" panose="020B0609020204030204" pitchFamily="49" charset="0"/>
              </a:rPr>
              <a:t>(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IN" sz="1600" dirty="0"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1600" dirty="0">
                <a:latin typeface="Consolas" panose="020B0609020204030204" pitchFamily="49" charset="0"/>
              </a:rPr>
              <a:t>*) 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malloc</a:t>
            </a:r>
            <a:r>
              <a:rPr lang="en-IN" sz="1600" dirty="0">
                <a:latin typeface="Consolas" panose="020B0609020204030204" pitchFamily="49" charset="0"/>
              </a:rPr>
              <a:t>(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sizeof</a:t>
            </a:r>
            <a:r>
              <a:rPr lang="en-IN" sz="1600" dirty="0">
                <a:latin typeface="Consolas" panose="020B0609020204030204" pitchFamily="49" charset="0"/>
              </a:rPr>
              <a:t>(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IN" sz="1600" dirty="0"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1600" dirty="0">
                <a:latin typeface="Consolas" panose="020B0609020204030204" pitchFamily="49" charset="0"/>
              </a:rPr>
              <a:t>));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    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accent6"/>
                </a:solidFill>
                <a:latin typeface="Consolas" panose="020B0609020204030204" pitchFamily="49" charset="0"/>
              </a:rPr>
              <a:t>    </a:t>
            </a:r>
            <a:r>
              <a:rPr lang="en-IN" sz="18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newNode</a:t>
            </a:r>
            <a:r>
              <a:rPr lang="en-IN" sz="1800" dirty="0">
                <a:solidFill>
                  <a:schemeClr val="accent6"/>
                </a:solidFill>
                <a:latin typeface="Consolas" panose="020B0609020204030204" pitchFamily="49" charset="0"/>
              </a:rPr>
              <a:t>-</a:t>
            </a:r>
            <a:r>
              <a:rPr lang="en-IN" sz="1800" dirty="0">
                <a:latin typeface="Consolas" panose="020B0609020204030204" pitchFamily="49" charset="0"/>
              </a:rPr>
              <a:t>&gt;data = val;</a:t>
            </a:r>
          </a:p>
          <a:p>
            <a:pPr marL="0" indent="0">
              <a:buNone/>
            </a:pP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    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accent6"/>
                </a:solidFill>
                <a:latin typeface="Consolas" panose="020B0609020204030204" pitchFamily="49" charset="0"/>
              </a:rPr>
              <a:t>    newNode-</a:t>
            </a:r>
            <a:r>
              <a:rPr lang="en-IN" sz="1800" dirty="0">
                <a:latin typeface="Consolas" panose="020B0609020204030204" pitchFamily="49" charset="0"/>
              </a:rPr>
              <a:t>&gt;left =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r>
              <a:rPr lang="en-IN" sz="18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    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accent6"/>
                </a:solidFill>
                <a:latin typeface="Consolas" panose="020B0609020204030204" pitchFamily="49" charset="0"/>
              </a:rPr>
              <a:t>    newNode-</a:t>
            </a:r>
            <a:r>
              <a:rPr lang="en-IN" sz="1800" dirty="0">
                <a:latin typeface="Consolas" panose="020B0609020204030204" pitchFamily="49" charset="0"/>
              </a:rPr>
              <a:t>&gt;right =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r>
              <a:rPr lang="en-IN" sz="18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    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    return</a:t>
            </a:r>
            <a:r>
              <a:rPr lang="en-IN" sz="1800" dirty="0"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chemeClr val="accent6"/>
                </a:solidFill>
                <a:latin typeface="Consolas" panose="020B0609020204030204" pitchFamily="49" charset="0"/>
              </a:rPr>
              <a:t>newNode</a:t>
            </a:r>
            <a:r>
              <a:rPr lang="en-IN" sz="1800" dirty="0">
                <a:latin typeface="Consolas" panose="020B0609020204030204" pitchFamily="49" charset="0"/>
              </a:rPr>
              <a:t>; }</a:t>
            </a:r>
          </a:p>
          <a:p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96EE8E-187E-3F54-8F3E-92FD863002FF}"/>
              </a:ext>
            </a:extLst>
          </p:cNvPr>
          <p:cNvSpPr/>
          <p:nvPr/>
        </p:nvSpPr>
        <p:spPr>
          <a:xfrm>
            <a:off x="161365" y="1712259"/>
            <a:ext cx="11779623" cy="111743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1CE193-73CD-219C-E959-049995C6C613}"/>
              </a:ext>
            </a:extLst>
          </p:cNvPr>
          <p:cNvSpPr/>
          <p:nvPr/>
        </p:nvSpPr>
        <p:spPr>
          <a:xfrm>
            <a:off x="221282" y="3092824"/>
            <a:ext cx="11779623" cy="528917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6D9331-1CC8-DC6B-70D9-A459F8C81D04}"/>
              </a:ext>
            </a:extLst>
          </p:cNvPr>
          <p:cNvSpPr/>
          <p:nvPr/>
        </p:nvSpPr>
        <p:spPr>
          <a:xfrm>
            <a:off x="221282" y="4222377"/>
            <a:ext cx="11779623" cy="528917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DD1F81-4FED-A8FE-3ECE-41A1CC7BAC07}"/>
              </a:ext>
            </a:extLst>
          </p:cNvPr>
          <p:cNvSpPr/>
          <p:nvPr/>
        </p:nvSpPr>
        <p:spPr>
          <a:xfrm>
            <a:off x="251012" y="5145741"/>
            <a:ext cx="11779623" cy="528917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57B9E1-4B94-A44D-4D5E-E4CFC53D65C6}"/>
              </a:ext>
            </a:extLst>
          </p:cNvPr>
          <p:cNvSpPr/>
          <p:nvPr/>
        </p:nvSpPr>
        <p:spPr>
          <a:xfrm>
            <a:off x="206187" y="5937790"/>
            <a:ext cx="11779623" cy="528917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850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DF9D1-588A-1E2E-E6B3-D4802A535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Insert Node in BST(continued)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7212F-F51D-AFC3-A115-0038CDCC5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76144"/>
            <a:ext cx="5839314" cy="5590565"/>
          </a:xfrm>
        </p:spPr>
        <p:txBody>
          <a:bodyPr/>
          <a:lstStyle/>
          <a:p>
            <a:pPr marL="0" indent="0">
              <a:buNone/>
            </a:pPr>
            <a:r>
              <a:rPr lang="en-IN" sz="2000" b="1" dirty="0">
                <a:solidFill>
                  <a:schemeClr val="tx2"/>
                </a:solidFill>
                <a:latin typeface="Consolas" panose="020B0609020204030204" pitchFamily="49" charset="0"/>
              </a:rPr>
              <a:t>[Compare the Value]</a:t>
            </a:r>
            <a:endParaRPr lang="en-IN" sz="20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chemeClr val="tx2"/>
                </a:solidFill>
                <a:latin typeface="Consolas" panose="020B0609020204030204" pitchFamily="49" charset="0"/>
              </a:rPr>
              <a:t>[Insert into Left Subtree]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2000" dirty="0">
                <a:latin typeface="Consolas" panose="020B0609020204030204" pitchFamily="49" charset="0"/>
              </a:rPr>
              <a:t> val &lt; data(root)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2000" dirty="0">
                <a:latin typeface="Consolas" panose="020B0609020204030204" pitchFamily="49" charset="0"/>
              </a:rPr>
              <a:t>(root) ← </a:t>
            </a:r>
            <a:r>
              <a:rPr lang="en-IN" sz="2000" dirty="0">
                <a:solidFill>
                  <a:srgbClr val="002060"/>
                </a:solidFill>
                <a:latin typeface="Consolas" panose="020B0609020204030204" pitchFamily="49" charset="0"/>
              </a:rPr>
              <a:t>insertNode</a:t>
            </a:r>
            <a:r>
              <a:rPr lang="en-IN" sz="2000" dirty="0"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2000" dirty="0">
                <a:latin typeface="Consolas" panose="020B0609020204030204" pitchFamily="49" charset="0"/>
              </a:rPr>
              <a:t>(root), val)</a:t>
            </a:r>
          </a:p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chemeClr val="tx2"/>
                </a:solidFill>
                <a:latin typeface="Consolas" panose="020B0609020204030204" pitchFamily="49" charset="0"/>
              </a:rPr>
              <a:t>[Insert into Right Subtree]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ELSE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1800" dirty="0">
                <a:latin typeface="Consolas" panose="020B0609020204030204" pitchFamily="49" charset="0"/>
              </a:rPr>
              <a:t>(root) ← </a:t>
            </a:r>
            <a:r>
              <a:rPr lang="en-IN" sz="1800" dirty="0">
                <a:solidFill>
                  <a:srgbClr val="002060"/>
                </a:solidFill>
                <a:latin typeface="Consolas" panose="020B0609020204030204" pitchFamily="49" charset="0"/>
              </a:rPr>
              <a:t>insertNode</a:t>
            </a:r>
            <a:r>
              <a:rPr lang="en-IN" sz="1800" dirty="0"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1800" dirty="0">
                <a:latin typeface="Consolas" panose="020B0609020204030204" pitchFamily="49" charset="0"/>
              </a:rPr>
              <a:t>(root), val)</a:t>
            </a:r>
          </a:p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chemeClr val="tx2"/>
                </a:solidFill>
                <a:latin typeface="Consolas" panose="020B0609020204030204" pitchFamily="49" charset="0"/>
              </a:rPr>
              <a:t>[Return Updated Tree]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sz="2000" dirty="0">
                <a:latin typeface="Consolas" panose="020B0609020204030204" pitchFamily="49" charset="0"/>
              </a:rPr>
              <a:t> root</a:t>
            </a:r>
          </a:p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662A223-A59B-E94A-609B-BAD15D79B473}"/>
              </a:ext>
            </a:extLst>
          </p:cNvPr>
          <p:cNvSpPr txBox="1">
            <a:spLocks/>
          </p:cNvSpPr>
          <p:nvPr/>
        </p:nvSpPr>
        <p:spPr>
          <a:xfrm>
            <a:off x="6096000" y="876143"/>
            <a:ext cx="5964820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    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2000" dirty="0">
                <a:latin typeface="Consolas" panose="020B0609020204030204" pitchFamily="49" charset="0"/>
              </a:rPr>
              <a:t>(val &lt; root-&gt;data){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       root-&gt;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2000" dirty="0">
                <a:latin typeface="Consolas" panose="020B0609020204030204" pitchFamily="49" charset="0"/>
              </a:rPr>
              <a:t> = 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	</a:t>
            </a:r>
            <a:r>
              <a:rPr lang="en-IN" sz="2000" dirty="0">
                <a:solidFill>
                  <a:srgbClr val="002060"/>
                </a:solidFill>
                <a:latin typeface="Consolas" panose="020B0609020204030204" pitchFamily="49" charset="0"/>
              </a:rPr>
              <a:t>insertNode</a:t>
            </a:r>
            <a:r>
              <a:rPr lang="en-IN" sz="2000" dirty="0">
                <a:latin typeface="Consolas" panose="020B0609020204030204" pitchFamily="49" charset="0"/>
              </a:rPr>
              <a:t>(root-&gt;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2000" dirty="0">
                <a:latin typeface="Consolas" panose="020B0609020204030204" pitchFamily="49" charset="0"/>
              </a:rPr>
              <a:t>, val);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else</a:t>
            </a:r>
            <a:r>
              <a:rPr lang="en-IN" sz="20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      root-&gt;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2000" dirty="0">
                <a:latin typeface="Consolas" panose="020B0609020204030204" pitchFamily="49" charset="0"/>
              </a:rPr>
              <a:t> =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	</a:t>
            </a:r>
            <a:r>
              <a:rPr lang="en-IN" sz="2000" dirty="0">
                <a:solidFill>
                  <a:srgbClr val="002060"/>
                </a:solidFill>
                <a:latin typeface="Consolas" panose="020B0609020204030204" pitchFamily="49" charset="0"/>
              </a:rPr>
              <a:t>insertNode</a:t>
            </a:r>
            <a:r>
              <a:rPr lang="en-IN" sz="2000" dirty="0">
                <a:latin typeface="Consolas" panose="020B0609020204030204" pitchFamily="49" charset="0"/>
              </a:rPr>
              <a:t>(root-&gt;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2000" dirty="0">
                <a:latin typeface="Consolas" panose="020B0609020204030204" pitchFamily="49" charset="0"/>
              </a:rPr>
              <a:t>, val);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br>
              <a:rPr lang="en-IN" sz="2000" dirty="0">
                <a:latin typeface="Consolas" panose="020B0609020204030204" pitchFamily="49" charset="0"/>
              </a:rPr>
            </a:b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sz="2000" dirty="0">
                <a:latin typeface="Consolas" panose="020B0609020204030204" pitchFamily="49" charset="0"/>
              </a:rPr>
              <a:t> root;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}</a:t>
            </a:r>
          </a:p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4BECD8-C9A5-9EED-4F72-B1B93A2F68B0}"/>
              </a:ext>
            </a:extLst>
          </p:cNvPr>
          <p:cNvSpPr/>
          <p:nvPr/>
        </p:nvSpPr>
        <p:spPr>
          <a:xfrm>
            <a:off x="206187" y="1237130"/>
            <a:ext cx="11779623" cy="1972235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D6DAEF-A98C-0828-17C2-CB8A5D3A4B32}"/>
              </a:ext>
            </a:extLst>
          </p:cNvPr>
          <p:cNvSpPr/>
          <p:nvPr/>
        </p:nvSpPr>
        <p:spPr>
          <a:xfrm>
            <a:off x="206186" y="3570351"/>
            <a:ext cx="11779623" cy="1647108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CB832E-08EB-61A6-0E9A-5BE6A3EF25EF}"/>
              </a:ext>
            </a:extLst>
          </p:cNvPr>
          <p:cNvSpPr/>
          <p:nvPr/>
        </p:nvSpPr>
        <p:spPr>
          <a:xfrm>
            <a:off x="206186" y="5452939"/>
            <a:ext cx="11779623" cy="87614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7155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20E40-968E-4674-2CFE-875FA784C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Delete Node from BST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6FF51-1330-8689-DD02-E8E65F60D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76144"/>
            <a:ext cx="5489690" cy="5590565"/>
          </a:xfrm>
        </p:spPr>
        <p:txBody>
          <a:bodyPr/>
          <a:lstStyle/>
          <a:p>
            <a:r>
              <a:rPr lang="en-IN" dirty="0"/>
              <a:t>ALGORITHM</a:t>
            </a:r>
          </a:p>
          <a:p>
            <a:pPr marL="0" indent="0">
              <a:buNone/>
            </a:pPr>
            <a:r>
              <a:rPr lang="en-IN" sz="1600" b="1" dirty="0">
                <a:solidFill>
                  <a:schemeClr val="tx2"/>
                </a:solidFill>
                <a:latin typeface="Consolas" panose="020B0609020204030204" pitchFamily="49" charset="0"/>
              </a:rPr>
              <a:t>[Check for Empty Tree]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1600" dirty="0">
                <a:latin typeface="Consolas" panose="020B0609020204030204" pitchFamily="49" charset="0"/>
              </a:rPr>
              <a:t> root = 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None/>
            </a:pPr>
            <a:r>
              <a:rPr lang="en-IN" sz="1600" dirty="0">
                <a:latin typeface="Consolas" panose="020B0609020204030204" pitchFamily="49" charset="0"/>
              </a:rPr>
              <a:t>    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Write</a:t>
            </a:r>
            <a:r>
              <a:rPr lang="en-IN" sz="1600" dirty="0">
                <a:latin typeface="Consolas" panose="020B0609020204030204" pitchFamily="49" charset="0"/>
              </a:rPr>
              <a:t>(</a:t>
            </a:r>
            <a:r>
              <a:rPr lang="en-IN" sz="1600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"Empty OR Not Found")</a:t>
            </a:r>
          </a:p>
          <a:p>
            <a:pPr marL="0" indent="0">
              <a:buNone/>
            </a:pPr>
            <a:r>
              <a:rPr lang="en-IN" sz="1600" dirty="0">
                <a:latin typeface="Consolas" panose="020B0609020204030204" pitchFamily="49" charset="0"/>
              </a:rPr>
              <a:t>    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sz="1600" dirty="0"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None/>
            </a:pPr>
            <a:endParaRPr lang="en-IN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1" dirty="0">
                <a:solidFill>
                  <a:schemeClr val="tx2"/>
                </a:solidFill>
                <a:latin typeface="Consolas" panose="020B0609020204030204" pitchFamily="49" charset="0"/>
              </a:rPr>
              <a:t>[Search Left Subtree]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1600" dirty="0">
                <a:latin typeface="Consolas" panose="020B0609020204030204" pitchFamily="49" charset="0"/>
              </a:rPr>
              <a:t> val &lt; data(root)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None/>
            </a:pPr>
            <a:r>
              <a:rPr lang="en-IN" sz="1600" dirty="0">
                <a:latin typeface="Consolas" panose="020B0609020204030204" pitchFamily="49" charset="0"/>
              </a:rPr>
              <a:t>    </a:t>
            </a:r>
            <a:r>
              <a:rPr lang="en-IN" sz="16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1600" dirty="0">
                <a:latin typeface="Consolas" panose="020B0609020204030204" pitchFamily="49" charset="0"/>
              </a:rPr>
              <a:t>(root) ← </a:t>
            </a:r>
            <a:r>
              <a:rPr lang="en-IN" sz="1600" dirty="0">
                <a:solidFill>
                  <a:srgbClr val="002060"/>
                </a:solidFill>
                <a:latin typeface="Consolas" panose="020B0609020204030204" pitchFamily="49" charset="0"/>
              </a:rPr>
              <a:t>DelNode</a:t>
            </a:r>
            <a:r>
              <a:rPr lang="en-IN" sz="1600" dirty="0">
                <a:latin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1600" dirty="0">
                <a:latin typeface="Consolas" panose="020B0609020204030204" pitchFamily="49" charset="0"/>
              </a:rPr>
              <a:t>(root), val)</a:t>
            </a:r>
          </a:p>
          <a:p>
            <a:pPr marL="0" indent="0">
              <a:buNone/>
            </a:pPr>
            <a:endParaRPr lang="en-IN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1" dirty="0">
                <a:solidFill>
                  <a:schemeClr val="tx2"/>
                </a:solidFill>
                <a:latin typeface="Consolas" panose="020B0609020204030204" pitchFamily="49" charset="0"/>
              </a:rPr>
              <a:t>[Search Right Subtree]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ELSE IF</a:t>
            </a:r>
            <a:r>
              <a:rPr lang="en-IN" sz="1600" dirty="0">
                <a:latin typeface="Consolas" panose="020B0609020204030204" pitchFamily="49" charset="0"/>
              </a:rPr>
              <a:t> val &gt; data(root)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None/>
            </a:pPr>
            <a:r>
              <a:rPr lang="en-IN" sz="1600" dirty="0">
                <a:latin typeface="Consolas" panose="020B0609020204030204" pitchFamily="49" charset="0"/>
              </a:rPr>
              <a:t>    </a:t>
            </a:r>
            <a:r>
              <a:rPr lang="en-IN" sz="16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1600" dirty="0">
                <a:latin typeface="Consolas" panose="020B0609020204030204" pitchFamily="49" charset="0"/>
              </a:rPr>
              <a:t>(root) ← </a:t>
            </a:r>
            <a:r>
              <a:rPr lang="en-IN" sz="1600" dirty="0">
                <a:solidFill>
                  <a:srgbClr val="002060"/>
                </a:solidFill>
                <a:latin typeface="Consolas" panose="020B0609020204030204" pitchFamily="49" charset="0"/>
              </a:rPr>
              <a:t>DelNode</a:t>
            </a:r>
            <a:r>
              <a:rPr lang="en-IN" sz="1600" dirty="0">
                <a:latin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1600" dirty="0">
                <a:latin typeface="Consolas" panose="020B0609020204030204" pitchFamily="49" charset="0"/>
              </a:rPr>
              <a:t>(root), val)</a:t>
            </a:r>
          </a:p>
          <a:p>
            <a:pPr marL="0" indent="0">
              <a:buNone/>
            </a:pPr>
            <a:endParaRPr lang="en-IN" sz="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12EA4E1-6841-4345-BF89-C9E56D199BE9}"/>
              </a:ext>
            </a:extLst>
          </p:cNvPr>
          <p:cNvSpPr txBox="1">
            <a:spLocks/>
          </p:cNvSpPr>
          <p:nvPr/>
        </p:nvSpPr>
        <p:spPr>
          <a:xfrm>
            <a:off x="6227180" y="876143"/>
            <a:ext cx="5964820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endParaRPr lang="en-IN" sz="8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E632EA5-9451-8B6B-5919-4DCFB6E52E06}"/>
              </a:ext>
            </a:extLst>
          </p:cNvPr>
          <p:cNvSpPr txBox="1">
            <a:spLocks/>
          </p:cNvSpPr>
          <p:nvPr/>
        </p:nvSpPr>
        <p:spPr>
          <a:xfrm>
            <a:off x="6227180" y="876142"/>
            <a:ext cx="5964820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endParaRPr lang="en-IN" sz="8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7AD2560-F04A-CCD9-7D1D-9721118CE64D}"/>
              </a:ext>
            </a:extLst>
          </p:cNvPr>
          <p:cNvSpPr txBox="1">
            <a:spLocks/>
          </p:cNvSpPr>
          <p:nvPr/>
        </p:nvSpPr>
        <p:spPr>
          <a:xfrm>
            <a:off x="5620871" y="876141"/>
            <a:ext cx="6571129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CODE</a:t>
            </a:r>
            <a:endParaRPr lang="en-IN" sz="800" dirty="0"/>
          </a:p>
          <a:p>
            <a:pPr marL="0" indent="0">
              <a:buNone/>
            </a:pP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IN" sz="1600" dirty="0"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1600" dirty="0">
                <a:latin typeface="Consolas" panose="020B0609020204030204" pitchFamily="49" charset="0"/>
              </a:rPr>
              <a:t>* </a:t>
            </a:r>
            <a:r>
              <a:rPr lang="en-IN" sz="1600" dirty="0">
                <a:solidFill>
                  <a:srgbClr val="002060"/>
                </a:solidFill>
                <a:latin typeface="Consolas" panose="020B0609020204030204" pitchFamily="49" charset="0"/>
              </a:rPr>
              <a:t>DelNode</a:t>
            </a:r>
            <a:r>
              <a:rPr lang="en-IN" sz="1600" dirty="0">
                <a:latin typeface="Consolas" panose="020B0609020204030204" pitchFamily="49" charset="0"/>
              </a:rPr>
              <a:t>(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IN" sz="1600" dirty="0"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1600" dirty="0">
                <a:latin typeface="Consolas" panose="020B0609020204030204" pitchFamily="49" charset="0"/>
              </a:rPr>
              <a:t>* root, 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int</a:t>
            </a:r>
            <a:r>
              <a:rPr lang="en-IN" sz="1600" dirty="0">
                <a:latin typeface="Consolas" panose="020B0609020204030204" pitchFamily="49" charset="0"/>
              </a:rPr>
              <a:t> val){</a:t>
            </a:r>
          </a:p>
          <a:p>
            <a:pPr marL="0" indent="0">
              <a:buNone/>
            </a:pPr>
            <a:r>
              <a:rPr lang="en-IN" sz="1600" dirty="0"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1600" dirty="0">
                <a:latin typeface="Consolas" panose="020B0609020204030204" pitchFamily="49" charset="0"/>
              </a:rPr>
              <a:t>(root == 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r>
              <a:rPr lang="en-IN" sz="1600" dirty="0"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en-IN" sz="1600" dirty="0">
                <a:latin typeface="Consolas" panose="020B0609020204030204" pitchFamily="49" charset="0"/>
              </a:rPr>
              <a:t>        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printf</a:t>
            </a:r>
            <a:r>
              <a:rPr lang="en-IN" sz="1600" dirty="0">
                <a:latin typeface="Consolas" panose="020B0609020204030204" pitchFamily="49" charset="0"/>
              </a:rPr>
              <a:t>(</a:t>
            </a:r>
            <a:r>
              <a:rPr lang="en-IN" sz="1600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“Empty OR Not Found");</a:t>
            </a:r>
          </a:p>
          <a:p>
            <a:pPr marL="0" indent="0">
              <a:buNone/>
            </a:pPr>
            <a:r>
              <a:rPr lang="en-IN" sz="1600" dirty="0">
                <a:latin typeface="Consolas" panose="020B0609020204030204" pitchFamily="49" charset="0"/>
              </a:rPr>
              <a:t>        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sz="1600" dirty="0"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r>
              <a:rPr lang="en-IN" sz="16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600" dirty="0"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endParaRPr lang="en-IN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dirty="0"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1600" dirty="0">
                <a:latin typeface="Consolas" panose="020B0609020204030204" pitchFamily="49" charset="0"/>
              </a:rPr>
              <a:t>(val &lt; root-&gt;data){</a:t>
            </a:r>
          </a:p>
          <a:p>
            <a:pPr marL="0" indent="0">
              <a:buNone/>
            </a:pPr>
            <a:r>
              <a:rPr lang="en-IN" sz="1600" dirty="0">
                <a:latin typeface="Consolas" panose="020B0609020204030204" pitchFamily="49" charset="0"/>
              </a:rPr>
              <a:t>        root-&gt;</a:t>
            </a:r>
            <a:r>
              <a:rPr lang="en-IN" sz="16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1600" dirty="0">
                <a:latin typeface="Consolas" panose="020B0609020204030204" pitchFamily="49" charset="0"/>
              </a:rPr>
              <a:t> = </a:t>
            </a:r>
            <a:r>
              <a:rPr lang="en-IN" sz="1600" dirty="0">
                <a:solidFill>
                  <a:srgbClr val="002060"/>
                </a:solidFill>
                <a:latin typeface="Consolas" panose="020B0609020204030204" pitchFamily="49" charset="0"/>
              </a:rPr>
              <a:t>DelNode</a:t>
            </a:r>
            <a:r>
              <a:rPr lang="en-IN" sz="1600" dirty="0">
                <a:latin typeface="Consolas" panose="020B0609020204030204" pitchFamily="49" charset="0"/>
              </a:rPr>
              <a:t>(root-&gt;</a:t>
            </a:r>
            <a:r>
              <a:rPr lang="en-IN" sz="16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1600" dirty="0">
                <a:latin typeface="Consolas" panose="020B0609020204030204" pitchFamily="49" charset="0"/>
              </a:rPr>
              <a:t>, val);</a:t>
            </a:r>
          </a:p>
          <a:p>
            <a:pPr marL="0" indent="0">
              <a:buNone/>
            </a:pPr>
            <a:r>
              <a:rPr lang="en-IN" sz="1600" dirty="0"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endParaRPr lang="en-IN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dirty="0">
                <a:latin typeface="Consolas" panose="020B0609020204030204" pitchFamily="49" charset="0"/>
              </a:rPr>
              <a:t>    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    else if</a:t>
            </a:r>
            <a:r>
              <a:rPr lang="en-IN" sz="1600" dirty="0">
                <a:latin typeface="Consolas" panose="020B0609020204030204" pitchFamily="49" charset="0"/>
              </a:rPr>
              <a:t>(val &gt; root-&gt;data){</a:t>
            </a:r>
          </a:p>
          <a:p>
            <a:pPr marL="0" indent="0">
              <a:buNone/>
            </a:pPr>
            <a:r>
              <a:rPr lang="en-IN" sz="1600" dirty="0">
                <a:latin typeface="Consolas" panose="020B0609020204030204" pitchFamily="49" charset="0"/>
              </a:rPr>
              <a:t>        root-&gt;</a:t>
            </a:r>
            <a:r>
              <a:rPr lang="en-IN" sz="16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1600" dirty="0">
                <a:latin typeface="Consolas" panose="020B0609020204030204" pitchFamily="49" charset="0"/>
              </a:rPr>
              <a:t> = </a:t>
            </a:r>
            <a:r>
              <a:rPr lang="en-IN" sz="1600" dirty="0">
                <a:solidFill>
                  <a:srgbClr val="002060"/>
                </a:solidFill>
                <a:latin typeface="Consolas" panose="020B0609020204030204" pitchFamily="49" charset="0"/>
              </a:rPr>
              <a:t>DelNode</a:t>
            </a:r>
            <a:r>
              <a:rPr lang="en-IN" sz="1600" dirty="0">
                <a:latin typeface="Consolas" panose="020B0609020204030204" pitchFamily="49" charset="0"/>
              </a:rPr>
              <a:t>(root-&gt;</a:t>
            </a:r>
            <a:r>
              <a:rPr lang="en-IN" sz="16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1600" dirty="0">
                <a:latin typeface="Consolas" panose="020B0609020204030204" pitchFamily="49" charset="0"/>
              </a:rPr>
              <a:t>, val);</a:t>
            </a:r>
          </a:p>
          <a:p>
            <a:pPr marL="0" indent="0">
              <a:buNone/>
            </a:pPr>
            <a:r>
              <a:rPr lang="en-IN" sz="1600" dirty="0"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IN" sz="800" dirty="0">
                <a:latin typeface="Consolas" panose="020B0609020204030204" pitchFamily="49" charset="0"/>
              </a:rPr>
              <a:t>   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IN" sz="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6A38AC-06F8-1BD7-5317-27C0B8F65C19}"/>
              </a:ext>
            </a:extLst>
          </p:cNvPr>
          <p:cNvSpPr/>
          <p:nvPr/>
        </p:nvSpPr>
        <p:spPr>
          <a:xfrm>
            <a:off x="189451" y="1685365"/>
            <a:ext cx="11779623" cy="1515035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DF32BC-C35E-9A6B-2CA4-6A4C9AFDA079}"/>
              </a:ext>
            </a:extLst>
          </p:cNvPr>
          <p:cNvSpPr/>
          <p:nvPr/>
        </p:nvSpPr>
        <p:spPr>
          <a:xfrm>
            <a:off x="189450" y="3406964"/>
            <a:ext cx="11779623" cy="1371224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4395CB-456F-5EC1-12FE-9C2F0427DCE9}"/>
              </a:ext>
            </a:extLst>
          </p:cNvPr>
          <p:cNvSpPr/>
          <p:nvPr/>
        </p:nvSpPr>
        <p:spPr>
          <a:xfrm>
            <a:off x="189450" y="5172635"/>
            <a:ext cx="11779623" cy="1294071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088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D82F3-A6A2-70BD-C72D-6259C700F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65688-72A4-453E-AB6E-A7BA339A6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Delete Node from BST(continued)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A804B-17FF-B129-304E-8C0929553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76144"/>
            <a:ext cx="5964819" cy="5590565"/>
          </a:xfrm>
        </p:spPr>
        <p:txBody>
          <a:bodyPr/>
          <a:lstStyle/>
          <a:p>
            <a:pPr marL="0" indent="0">
              <a:buNone/>
            </a:pPr>
            <a:r>
              <a:rPr lang="en-IN" sz="2000" b="1" dirty="0">
                <a:solidFill>
                  <a:schemeClr val="tx2"/>
                </a:solidFill>
                <a:latin typeface="Consolas" panose="020B0609020204030204" pitchFamily="49" charset="0"/>
              </a:rPr>
              <a:t>[Delete the Node]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ELSE</a:t>
            </a:r>
          </a:p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</a:t>
            </a:r>
            <a:r>
              <a:rPr lang="en-IN" sz="2000" b="1" dirty="0">
                <a:solidFill>
                  <a:schemeClr val="tx2"/>
                </a:solidFill>
                <a:latin typeface="Consolas" panose="020B0609020204030204" pitchFamily="49" charset="0"/>
              </a:rPr>
              <a:t>[Case 1: Node with No Children]</a:t>
            </a:r>
          </a:p>
          <a:p>
            <a:pPr marL="0" indent="0">
              <a:buNone/>
            </a:pPr>
            <a:endParaRPr lang="en-IN" sz="2000" b="1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1600" dirty="0"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1600" dirty="0">
                <a:latin typeface="Consolas" panose="020B0609020204030204" pitchFamily="49" charset="0"/>
              </a:rPr>
              <a:t>(root) = 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r>
              <a:rPr lang="en-IN" sz="1600" dirty="0">
                <a:latin typeface="Consolas" panose="020B0609020204030204" pitchFamily="49" charset="0"/>
              </a:rPr>
              <a:t> AND </a:t>
            </a:r>
            <a:r>
              <a:rPr lang="en-IN" sz="16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1600" dirty="0">
                <a:latin typeface="Consolas" panose="020B0609020204030204" pitchFamily="49" charset="0"/>
              </a:rPr>
              <a:t>(root) = 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   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Free</a:t>
            </a:r>
            <a:r>
              <a:rPr lang="en-IN" sz="2000" dirty="0">
                <a:latin typeface="Consolas" panose="020B0609020204030204" pitchFamily="49" charset="0"/>
              </a:rPr>
              <a:t>(root)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   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None/>
            </a:pPr>
            <a:endParaRPr lang="en-IN" sz="800" dirty="0"/>
          </a:p>
          <a:p>
            <a:pPr marL="0" indent="0">
              <a:buNone/>
            </a:pPr>
            <a:r>
              <a:rPr lang="en-IN" sz="800" dirty="0"/>
              <a:t>   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660007A-295E-A4B1-9A5A-8C2965D7B588}"/>
              </a:ext>
            </a:extLst>
          </p:cNvPr>
          <p:cNvSpPr txBox="1">
            <a:spLocks/>
          </p:cNvSpPr>
          <p:nvPr/>
        </p:nvSpPr>
        <p:spPr>
          <a:xfrm>
            <a:off x="6227180" y="876143"/>
            <a:ext cx="5964820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endParaRPr lang="en-IN" sz="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94F57A-3B2E-2A15-3CC9-AE4025C00355}"/>
              </a:ext>
            </a:extLst>
          </p:cNvPr>
          <p:cNvSpPr txBox="1"/>
          <p:nvPr/>
        </p:nvSpPr>
        <p:spPr>
          <a:xfrm>
            <a:off x="6096000" y="813390"/>
            <a:ext cx="596481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else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{</a:t>
            </a:r>
          </a:p>
          <a:p>
            <a:endParaRPr lang="en-IN" sz="2000" dirty="0">
              <a:latin typeface="Consolas" panose="020B0609020204030204" pitchFamily="49" charset="0"/>
            </a:endParaRPr>
          </a:p>
          <a:p>
            <a:r>
              <a:rPr lang="en-IN" sz="2000" dirty="0">
                <a:latin typeface="Consolas" panose="020B0609020204030204" pitchFamily="49" charset="0"/>
              </a:rPr>
              <a:t>       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      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2000" dirty="0">
                <a:latin typeface="Consolas" panose="020B0609020204030204" pitchFamily="49" charset="0"/>
              </a:rPr>
              <a:t>(root-&gt;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2000" dirty="0">
                <a:latin typeface="Consolas" panose="020B0609020204030204" pitchFamily="49" charset="0"/>
              </a:rPr>
              <a:t> ==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r>
              <a:rPr lang="en-IN" sz="2000" dirty="0">
                <a:latin typeface="Consolas" panose="020B0609020204030204" pitchFamily="49" charset="0"/>
              </a:rPr>
              <a:t> &amp;&amp;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		 root-&gt;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2000" dirty="0">
                <a:latin typeface="Consolas" panose="020B0609020204030204" pitchFamily="49" charset="0"/>
              </a:rPr>
              <a:t> ==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r>
              <a:rPr lang="en-IN" sz="2000" dirty="0">
                <a:latin typeface="Consolas" panose="020B0609020204030204" pitchFamily="49" charset="0"/>
              </a:rPr>
              <a:t>)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	{      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          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free</a:t>
            </a:r>
            <a:r>
              <a:rPr lang="en-IN" sz="2000" dirty="0">
                <a:latin typeface="Consolas" panose="020B0609020204030204" pitchFamily="49" charset="0"/>
              </a:rPr>
              <a:t>(root);   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          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r>
              <a:rPr lang="en-IN" sz="2000" dirty="0">
                <a:latin typeface="Consolas" panose="020B0609020204030204" pitchFamily="49" charset="0"/>
              </a:rPr>
              <a:t>;         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       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       }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      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D2CCCE-251A-4A95-C1F3-28C7B22C1C8B}"/>
              </a:ext>
            </a:extLst>
          </p:cNvPr>
          <p:cNvSpPr/>
          <p:nvPr/>
        </p:nvSpPr>
        <p:spPr>
          <a:xfrm>
            <a:off x="221282" y="2384612"/>
            <a:ext cx="11698938" cy="246568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7111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A027F-F818-7065-EE8E-4A0BF43A5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5A890-8514-405C-BB2A-5062A542F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Delete Node from BST(continued)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75569-2371-A884-DB02-6DCB436E6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76144"/>
            <a:ext cx="5125427" cy="5590565"/>
          </a:xfrm>
        </p:spPr>
        <p:txBody>
          <a:bodyPr/>
          <a:lstStyle/>
          <a:p>
            <a:pPr marL="0" indent="0">
              <a:buNone/>
            </a:pPr>
            <a:endParaRPr lang="en-IN" sz="20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20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20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rgbClr val="0070C0"/>
                </a:solidFill>
                <a:latin typeface="Consolas" panose="020B0609020204030204" pitchFamily="49" charset="0"/>
              </a:rPr>
              <a:t>[Case 2: Node with One Right Child]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ELSE IF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2000" dirty="0">
                <a:latin typeface="Consolas" panose="020B0609020204030204" pitchFamily="49" charset="0"/>
              </a:rPr>
              <a:t>(root) =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    </a:t>
            </a:r>
            <a:r>
              <a:rPr lang="en-IN" sz="2000" dirty="0">
                <a:solidFill>
                  <a:schemeClr val="accent3"/>
                </a:solidFill>
                <a:latin typeface="Consolas" panose="020B0609020204030204" pitchFamily="49" charset="0"/>
              </a:rPr>
              <a:t>temp</a:t>
            </a:r>
            <a:r>
              <a:rPr lang="en-IN" sz="2000" dirty="0">
                <a:latin typeface="Consolas" panose="020B0609020204030204" pitchFamily="49" charset="0"/>
              </a:rPr>
              <a:t> ← 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2000" dirty="0">
                <a:latin typeface="Consolas" panose="020B0609020204030204" pitchFamily="49" charset="0"/>
              </a:rPr>
              <a:t>(root)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   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Free(</a:t>
            </a:r>
            <a:r>
              <a:rPr lang="en-IN" sz="2000" dirty="0">
                <a:latin typeface="Consolas" panose="020B0609020204030204" pitchFamily="49" charset="0"/>
              </a:rPr>
              <a:t>root)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   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chemeClr val="accent3"/>
                </a:solidFill>
                <a:latin typeface="Consolas" panose="020B0609020204030204" pitchFamily="49" charset="0"/>
              </a:rPr>
              <a:t>temp</a:t>
            </a:r>
          </a:p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470D189-B0D6-FF78-C249-0C116A60C66C}"/>
              </a:ext>
            </a:extLst>
          </p:cNvPr>
          <p:cNvSpPr txBox="1">
            <a:spLocks/>
          </p:cNvSpPr>
          <p:nvPr/>
        </p:nvSpPr>
        <p:spPr>
          <a:xfrm>
            <a:off x="6227180" y="876143"/>
            <a:ext cx="5964820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endParaRPr lang="en-IN" sz="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89D652-836E-0883-5649-10CBE2C2299D}"/>
              </a:ext>
            </a:extLst>
          </p:cNvPr>
          <p:cNvSpPr txBox="1"/>
          <p:nvPr/>
        </p:nvSpPr>
        <p:spPr>
          <a:xfrm>
            <a:off x="5516584" y="813390"/>
            <a:ext cx="690520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0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endParaRPr lang="en-IN" sz="20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endParaRPr lang="en-IN" sz="20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endParaRPr lang="en-IN" sz="20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endParaRPr lang="en-IN" sz="20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else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IN" sz="2000" dirty="0">
                <a:latin typeface="Consolas" panose="020B0609020204030204" pitchFamily="49" charset="0"/>
              </a:rPr>
              <a:t>(root-&gt;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2000" dirty="0">
                <a:latin typeface="Consolas" panose="020B0609020204030204" pitchFamily="49" charset="0"/>
              </a:rPr>
              <a:t> ==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NULL</a:t>
            </a:r>
            <a:r>
              <a:rPr lang="en-IN" sz="2000" dirty="0">
                <a:latin typeface="Consolas" panose="020B0609020204030204" pitchFamily="49" charset="0"/>
              </a:rPr>
              <a:t>)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{                        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           </a:t>
            </a:r>
          </a:p>
          <a:p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	struct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2000" dirty="0">
                <a:latin typeface="Consolas" panose="020B0609020204030204" pitchFamily="49" charset="0"/>
              </a:rPr>
              <a:t>* </a:t>
            </a:r>
            <a:r>
              <a:rPr lang="en-IN" sz="2000" dirty="0">
                <a:solidFill>
                  <a:schemeClr val="accent3"/>
                </a:solidFill>
                <a:latin typeface="Consolas" panose="020B0609020204030204" pitchFamily="49" charset="0"/>
              </a:rPr>
              <a:t>temp</a:t>
            </a:r>
            <a:r>
              <a:rPr lang="en-IN" sz="2000" dirty="0">
                <a:latin typeface="Consolas" panose="020B0609020204030204" pitchFamily="49" charset="0"/>
              </a:rPr>
              <a:t> = root-&gt;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2000" dirty="0">
                <a:latin typeface="Consolas" panose="020B0609020204030204" pitchFamily="49" charset="0"/>
              </a:rPr>
              <a:t>;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     	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free</a:t>
            </a:r>
            <a:r>
              <a:rPr lang="en-IN" sz="2000" dirty="0">
                <a:latin typeface="Consolas" panose="020B0609020204030204" pitchFamily="49" charset="0"/>
              </a:rPr>
              <a:t>(root); 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     	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chemeClr val="accent3"/>
                </a:solidFill>
                <a:latin typeface="Consolas" panose="020B0609020204030204" pitchFamily="49" charset="0"/>
              </a:rPr>
              <a:t>temp</a:t>
            </a:r>
            <a:r>
              <a:rPr lang="en-IN" sz="2000" dirty="0">
                <a:latin typeface="Consolas" panose="020B0609020204030204" pitchFamily="49" charset="0"/>
              </a:rPr>
              <a:t>;</a:t>
            </a:r>
          </a:p>
          <a:p>
            <a:endParaRPr lang="en-IN" sz="2000" dirty="0">
              <a:latin typeface="Consolas" panose="020B0609020204030204" pitchFamily="49" charset="0"/>
            </a:endParaRPr>
          </a:p>
          <a:p>
            <a:r>
              <a:rPr lang="en-IN" sz="2000" dirty="0">
                <a:latin typeface="Consolas" panose="020B0609020204030204" pitchFamily="49" charset="0"/>
              </a:rPr>
              <a:t>}      </a:t>
            </a:r>
          </a:p>
          <a:p>
            <a:endParaRPr lang="en-IN" sz="2000" dirty="0"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AFEC91-7C62-D7EC-CE0F-5EC3F94C3E17}"/>
              </a:ext>
            </a:extLst>
          </p:cNvPr>
          <p:cNvSpPr/>
          <p:nvPr/>
        </p:nvSpPr>
        <p:spPr>
          <a:xfrm>
            <a:off x="221282" y="2435936"/>
            <a:ext cx="11779623" cy="2554941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546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5CEEF-D6F7-E44E-680C-0B6AA6D51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F77EF-DE2F-4C9F-4823-97B598A49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Delete Node from BST(continued)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F19A8-4BD9-E72B-7BD0-8049579A0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76144"/>
            <a:ext cx="5964820" cy="5590565"/>
          </a:xfrm>
        </p:spPr>
        <p:txBody>
          <a:bodyPr/>
          <a:lstStyle/>
          <a:p>
            <a:pPr marL="0" indent="0">
              <a:buNone/>
            </a:pPr>
            <a:endParaRPr lang="en-IN" sz="20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20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rgbClr val="0070C0"/>
                </a:solidFill>
                <a:latin typeface="Consolas" panose="020B0609020204030204" pitchFamily="49" charset="0"/>
              </a:rPr>
              <a:t>[Case 3: Node with One Left Child]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ELSE IF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2000" dirty="0">
                <a:latin typeface="Consolas" panose="020B0609020204030204" pitchFamily="49" charset="0"/>
              </a:rPr>
              <a:t>(root) =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    </a:t>
            </a:r>
            <a:r>
              <a:rPr lang="en-IN" sz="2000" dirty="0">
                <a:solidFill>
                  <a:srgbClr val="92D050"/>
                </a:solidFill>
                <a:latin typeface="Consolas" panose="020B0609020204030204" pitchFamily="49" charset="0"/>
              </a:rPr>
              <a:t>temp</a:t>
            </a:r>
            <a:r>
              <a:rPr lang="en-IN" sz="2000" dirty="0">
                <a:latin typeface="Consolas" panose="020B0609020204030204" pitchFamily="49" charset="0"/>
              </a:rPr>
              <a:t> ← 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2000" dirty="0">
                <a:latin typeface="Consolas" panose="020B0609020204030204" pitchFamily="49" charset="0"/>
              </a:rPr>
              <a:t>(root)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   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Free</a:t>
            </a:r>
            <a:r>
              <a:rPr lang="en-IN" sz="2000" dirty="0">
                <a:latin typeface="Consolas" panose="020B0609020204030204" pitchFamily="49" charset="0"/>
              </a:rPr>
              <a:t>(root)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   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92D050"/>
                </a:solidFill>
                <a:latin typeface="Consolas" panose="020B0609020204030204" pitchFamily="49" charset="0"/>
              </a:rPr>
              <a:t>temp</a:t>
            </a:r>
          </a:p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1BF496D-6F62-9FB3-EB94-C2CA1E717494}"/>
              </a:ext>
            </a:extLst>
          </p:cNvPr>
          <p:cNvSpPr txBox="1">
            <a:spLocks/>
          </p:cNvSpPr>
          <p:nvPr/>
        </p:nvSpPr>
        <p:spPr>
          <a:xfrm>
            <a:off x="6227180" y="876143"/>
            <a:ext cx="5964820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endParaRPr lang="en-IN" sz="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3C8B66-A82F-BC59-6306-CB8896EE30B2}"/>
              </a:ext>
            </a:extLst>
          </p:cNvPr>
          <p:cNvSpPr txBox="1"/>
          <p:nvPr/>
        </p:nvSpPr>
        <p:spPr>
          <a:xfrm>
            <a:off x="6227180" y="813390"/>
            <a:ext cx="619461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0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endParaRPr lang="en-IN" sz="20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endParaRPr lang="en-IN" sz="20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endParaRPr lang="en-IN" sz="20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else if</a:t>
            </a:r>
            <a:r>
              <a:rPr lang="en-IN" sz="2000" dirty="0">
                <a:latin typeface="Consolas" panose="020B0609020204030204" pitchFamily="49" charset="0"/>
              </a:rPr>
              <a:t>(root-&gt;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2000" dirty="0">
                <a:latin typeface="Consolas" panose="020B0609020204030204" pitchFamily="49" charset="0"/>
              </a:rPr>
              <a:t> ==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NULL</a:t>
            </a:r>
            <a:r>
              <a:rPr lang="en-IN" sz="2000" dirty="0">
                <a:latin typeface="Consolas" panose="020B0609020204030204" pitchFamily="49" charset="0"/>
              </a:rPr>
              <a:t>)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{  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                     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    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struct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00B050"/>
                </a:solidFill>
                <a:latin typeface="Consolas" panose="020B0609020204030204" pitchFamily="49" charset="0"/>
              </a:rPr>
              <a:t>TreeNode</a:t>
            </a:r>
            <a:r>
              <a:rPr lang="en-IN" sz="2000" dirty="0">
                <a:latin typeface="Consolas" panose="020B0609020204030204" pitchFamily="49" charset="0"/>
              </a:rPr>
              <a:t>* </a:t>
            </a:r>
            <a:r>
              <a:rPr lang="en-IN" sz="2000" dirty="0">
                <a:solidFill>
                  <a:srgbClr val="92D050"/>
                </a:solidFill>
                <a:latin typeface="Consolas" panose="020B0609020204030204" pitchFamily="49" charset="0"/>
              </a:rPr>
              <a:t>temp</a:t>
            </a:r>
            <a:r>
              <a:rPr lang="en-IN" sz="2000" dirty="0">
                <a:latin typeface="Consolas" panose="020B0609020204030204" pitchFamily="49" charset="0"/>
              </a:rPr>
              <a:t> = root-&gt;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2000" dirty="0">
                <a:latin typeface="Consolas" panose="020B0609020204030204" pitchFamily="49" charset="0"/>
              </a:rPr>
              <a:t>;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    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free</a:t>
            </a:r>
            <a:r>
              <a:rPr lang="en-IN" sz="2000" dirty="0">
                <a:latin typeface="Consolas" panose="020B0609020204030204" pitchFamily="49" charset="0"/>
              </a:rPr>
              <a:t>(root); 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    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92D050"/>
                </a:solidFill>
                <a:latin typeface="Consolas" panose="020B0609020204030204" pitchFamily="49" charset="0"/>
              </a:rPr>
              <a:t>temp</a:t>
            </a:r>
            <a:r>
              <a:rPr lang="en-IN" sz="2000" dirty="0">
                <a:latin typeface="Consolas" panose="020B0609020204030204" pitchFamily="49" charset="0"/>
              </a:rPr>
              <a:t>;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}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      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9F1379-2431-2610-FD3A-BECC980AD46B}"/>
              </a:ext>
            </a:extLst>
          </p:cNvPr>
          <p:cNvSpPr/>
          <p:nvPr/>
        </p:nvSpPr>
        <p:spPr>
          <a:xfrm>
            <a:off x="221282" y="2026025"/>
            <a:ext cx="11779623" cy="2725270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091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1BE1F-53A7-2B6A-E12F-E0D4FB9EA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C91EF-042C-4EEA-E6BE-75C8C376D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Delete Node from BST(continued)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01575-D198-388B-2C48-A31657063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76144"/>
            <a:ext cx="5964820" cy="5590565"/>
          </a:xfrm>
        </p:spPr>
        <p:txBody>
          <a:bodyPr/>
          <a:lstStyle/>
          <a:p>
            <a:pPr marL="0" indent="0">
              <a:buNone/>
            </a:pP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IN" sz="2000" b="1" dirty="0">
                <a:solidFill>
                  <a:srgbClr val="0070C0"/>
                </a:solidFill>
                <a:latin typeface="Consolas" panose="020B0609020204030204" pitchFamily="49" charset="0"/>
              </a:rPr>
              <a:t>[Case 4: Node with Two Children]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ELSE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92D050"/>
                </a:solidFill>
                <a:latin typeface="Consolas" panose="020B0609020204030204" pitchFamily="49" charset="0"/>
              </a:rPr>
              <a:t> in</a:t>
            </a:r>
            <a:r>
              <a:rPr lang="en-IN" sz="2000" dirty="0">
                <a:latin typeface="Consolas" panose="020B0609020204030204" pitchFamily="49" charset="0"/>
              </a:rPr>
              <a:t> ← 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getInOrderSuccessor</a:t>
            </a:r>
            <a:r>
              <a:rPr lang="en-IN" sz="2000" dirty="0"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2000" dirty="0">
                <a:latin typeface="Consolas" panose="020B0609020204030204" pitchFamily="49" charset="0"/>
              </a:rPr>
              <a:t>(root))</a:t>
            </a:r>
          </a:p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data(root) ← data(in)</a:t>
            </a:r>
          </a:p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8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C00000"/>
                </a:solidFill>
                <a:latin typeface="Consolas" panose="020B0609020204030204" pitchFamily="49" charset="0"/>
              </a:rPr>
              <a:t> right</a:t>
            </a:r>
            <a:r>
              <a:rPr lang="en-IN" sz="1800" dirty="0">
                <a:latin typeface="Consolas" panose="020B0609020204030204" pitchFamily="49" charset="0"/>
              </a:rPr>
              <a:t>(root) ← </a:t>
            </a:r>
            <a:r>
              <a:rPr lang="en-IN" sz="1800" dirty="0">
                <a:solidFill>
                  <a:srgbClr val="002060"/>
                </a:solidFill>
                <a:latin typeface="Consolas" panose="020B0609020204030204" pitchFamily="49" charset="0"/>
              </a:rPr>
              <a:t>DelNode</a:t>
            </a:r>
            <a:r>
              <a:rPr lang="en-IN" sz="1800" dirty="0"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1800" dirty="0">
                <a:latin typeface="Consolas" panose="020B0609020204030204" pitchFamily="49" charset="0"/>
              </a:rPr>
              <a:t>(root), data(in))</a:t>
            </a:r>
          </a:p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rgbClr val="0070C0"/>
                </a:solidFill>
                <a:latin typeface="Consolas" panose="020B0609020204030204" pitchFamily="49" charset="0"/>
              </a:rPr>
              <a:t> [Return Updated Tree]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 Return</a:t>
            </a:r>
            <a:r>
              <a:rPr lang="en-IN" sz="2000" dirty="0">
                <a:latin typeface="Consolas" panose="020B0609020204030204" pitchFamily="49" charset="0"/>
              </a:rPr>
              <a:t> root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6B393-2A60-E4AF-64BB-1FC8EAAEAAFB}"/>
              </a:ext>
            </a:extLst>
          </p:cNvPr>
          <p:cNvSpPr txBox="1">
            <a:spLocks/>
          </p:cNvSpPr>
          <p:nvPr/>
        </p:nvSpPr>
        <p:spPr>
          <a:xfrm>
            <a:off x="6227180" y="876143"/>
            <a:ext cx="5964820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endParaRPr lang="en-IN" sz="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B86D00-F928-4340-A974-346A37CDF440}"/>
              </a:ext>
            </a:extLst>
          </p:cNvPr>
          <p:cNvSpPr txBox="1"/>
          <p:nvPr/>
        </p:nvSpPr>
        <p:spPr>
          <a:xfrm>
            <a:off x="6214924" y="813390"/>
            <a:ext cx="6206868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else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{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           </a:t>
            </a:r>
          </a:p>
          <a:p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struct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2000" dirty="0">
                <a:latin typeface="Consolas" panose="020B0609020204030204" pitchFamily="49" charset="0"/>
              </a:rPr>
              <a:t>* </a:t>
            </a:r>
            <a:r>
              <a:rPr lang="en-IN" sz="2000" dirty="0">
                <a:solidFill>
                  <a:schemeClr val="accent3"/>
                </a:solidFill>
                <a:latin typeface="Consolas" panose="020B0609020204030204" pitchFamily="49" charset="0"/>
              </a:rPr>
              <a:t>in</a:t>
            </a:r>
            <a:r>
              <a:rPr lang="en-IN" sz="2000" dirty="0">
                <a:latin typeface="Consolas" panose="020B0609020204030204" pitchFamily="49" charset="0"/>
              </a:rPr>
              <a:t> = 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getInOrderSuccessor</a:t>
            </a:r>
            <a:r>
              <a:rPr lang="en-IN" sz="2000" dirty="0">
                <a:latin typeface="Consolas" panose="020B0609020204030204" pitchFamily="49" charset="0"/>
              </a:rPr>
              <a:t>(root-&gt;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2000" dirty="0">
                <a:latin typeface="Consolas" panose="020B0609020204030204" pitchFamily="49" charset="0"/>
              </a:rPr>
              <a:t>);</a:t>
            </a:r>
          </a:p>
          <a:p>
            <a:endParaRPr lang="en-IN" sz="2000" dirty="0">
              <a:latin typeface="Consolas" panose="020B0609020204030204" pitchFamily="49" charset="0"/>
            </a:endParaRPr>
          </a:p>
          <a:p>
            <a:r>
              <a:rPr lang="en-IN" sz="2000" dirty="0">
                <a:latin typeface="Consolas" panose="020B0609020204030204" pitchFamily="49" charset="0"/>
              </a:rPr>
              <a:t>root-&gt;data = in-&gt;data;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           </a:t>
            </a:r>
          </a:p>
          <a:p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root-&gt;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dirty="0">
                <a:latin typeface="Consolas" panose="020B0609020204030204" pitchFamily="49" charset="0"/>
              </a:rPr>
              <a:t> = </a:t>
            </a:r>
            <a:r>
              <a:rPr lang="en-IN" dirty="0">
                <a:solidFill>
                  <a:srgbClr val="002060"/>
                </a:solidFill>
                <a:latin typeface="Consolas" panose="020B0609020204030204" pitchFamily="49" charset="0"/>
              </a:rPr>
              <a:t>DelNode</a:t>
            </a:r>
            <a:r>
              <a:rPr lang="en-IN" dirty="0">
                <a:latin typeface="Consolas" panose="020B0609020204030204" pitchFamily="49" charset="0"/>
              </a:rPr>
              <a:t>(root-&gt;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dirty="0">
                <a:latin typeface="Consolas" panose="020B0609020204030204" pitchFamily="49" charset="0"/>
              </a:rPr>
              <a:t>, in-&gt;data);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       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}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       </a:t>
            </a:r>
          </a:p>
          <a:p>
            <a:endParaRPr lang="en-IN" sz="2000" dirty="0">
              <a:latin typeface="Consolas" panose="020B0609020204030204" pitchFamily="49" charset="0"/>
            </a:endParaRPr>
          </a:p>
          <a:p>
            <a:endParaRPr lang="en-IN" sz="2000" dirty="0">
              <a:latin typeface="Consolas" panose="020B0609020204030204" pitchFamily="49" charset="0"/>
            </a:endParaRPr>
          </a:p>
          <a:p>
            <a:r>
              <a:rPr lang="en-IN" sz="2000" dirty="0">
                <a:latin typeface="Consolas" panose="020B0609020204030204" pitchFamily="49" charset="0"/>
              </a:rPr>
              <a:t>       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IN" sz="2000" dirty="0">
                <a:latin typeface="Consolas" panose="020B0609020204030204" pitchFamily="49" charset="0"/>
              </a:rPr>
              <a:t> root; 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}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68AF23-ED99-B8AA-1990-023645CC8992}"/>
              </a:ext>
            </a:extLst>
          </p:cNvPr>
          <p:cNvSpPr/>
          <p:nvPr/>
        </p:nvSpPr>
        <p:spPr>
          <a:xfrm>
            <a:off x="221282" y="1622614"/>
            <a:ext cx="11779623" cy="806822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D3AF04-F3F2-A190-87FB-0BE3BB594DB9}"/>
              </a:ext>
            </a:extLst>
          </p:cNvPr>
          <p:cNvSpPr/>
          <p:nvPr/>
        </p:nvSpPr>
        <p:spPr>
          <a:xfrm>
            <a:off x="216345" y="2489791"/>
            <a:ext cx="11779623" cy="622047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7E78A8-EDC8-FD0F-9DD3-D4CCFEBB7E9A}"/>
              </a:ext>
            </a:extLst>
          </p:cNvPr>
          <p:cNvSpPr/>
          <p:nvPr/>
        </p:nvSpPr>
        <p:spPr>
          <a:xfrm>
            <a:off x="236374" y="4830073"/>
            <a:ext cx="11779623" cy="1584850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EE626E-7BCF-10D8-033D-672D11B35979}"/>
              </a:ext>
            </a:extLst>
          </p:cNvPr>
          <p:cNvSpPr/>
          <p:nvPr/>
        </p:nvSpPr>
        <p:spPr>
          <a:xfrm>
            <a:off x="216345" y="3164541"/>
            <a:ext cx="11779623" cy="1317024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9724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C5ED3-8FC4-4ED3-D936-884E84E80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Get Inorder Successor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8C15C-E924-4C3B-45A9-EA644EAF8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76144"/>
            <a:ext cx="5803454" cy="5590565"/>
          </a:xfrm>
        </p:spPr>
        <p:txBody>
          <a:bodyPr/>
          <a:lstStyle/>
          <a:p>
            <a:r>
              <a:rPr lang="en-IN" dirty="0"/>
              <a:t>ALGORITHM</a:t>
            </a:r>
          </a:p>
          <a:p>
            <a:pPr marL="0" indent="0">
              <a:buNone/>
            </a:pPr>
            <a:r>
              <a:rPr lang="en-GB" sz="2000" b="1" dirty="0">
                <a:solidFill>
                  <a:srgbClr val="0070C0"/>
                </a:solidFill>
                <a:latin typeface="Consolas" panose="020B0609020204030204" pitchFamily="49" charset="0"/>
              </a:rPr>
              <a:t>[Check for Empty Tree]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GB" sz="2000" dirty="0">
                <a:latin typeface="Consolas" panose="020B0609020204030204" pitchFamily="49" charset="0"/>
              </a:rPr>
              <a:t> root = </a:t>
            </a:r>
            <a:r>
              <a:rPr lang="en-GB" sz="2000" dirty="0">
                <a:solidFill>
                  <a:srgbClr val="0070C0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0070C0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</a:rPr>
              <a:t>    </a:t>
            </a:r>
            <a:r>
              <a:rPr lang="en-GB" sz="2000" dirty="0">
                <a:solidFill>
                  <a:srgbClr val="0070C0"/>
                </a:solidFill>
                <a:latin typeface="Consolas" panose="020B0609020204030204" pitchFamily="49" charset="0"/>
              </a:rPr>
              <a:t>Return NULL</a:t>
            </a:r>
          </a:p>
          <a:p>
            <a:pPr marL="0" indent="0">
              <a:buNone/>
            </a:pPr>
            <a:endParaRPr lang="en-GB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2000" b="1" dirty="0">
                <a:solidFill>
                  <a:srgbClr val="0070C0"/>
                </a:solidFill>
                <a:latin typeface="Consolas" panose="020B0609020204030204" pitchFamily="49" charset="0"/>
              </a:rPr>
              <a:t>[Traverse to the Leftmost Node]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0070C0"/>
                </a:solidFill>
                <a:latin typeface="Consolas" panose="020B0609020204030204" pitchFamily="49" charset="0"/>
              </a:rPr>
              <a:t>WHILE</a:t>
            </a:r>
            <a:r>
              <a:rPr lang="en-GB" sz="2000" dirty="0">
                <a:latin typeface="Consolas" panose="020B0609020204030204" pitchFamily="49" charset="0"/>
              </a:rPr>
              <a:t> root ≠ </a:t>
            </a:r>
            <a:r>
              <a:rPr lang="en-GB" sz="2000" dirty="0">
                <a:solidFill>
                  <a:srgbClr val="0070C0"/>
                </a:solidFill>
                <a:latin typeface="Consolas" panose="020B0609020204030204" pitchFamily="49" charset="0"/>
              </a:rPr>
              <a:t>NULL</a:t>
            </a:r>
            <a:r>
              <a:rPr lang="en-GB" sz="2000" dirty="0">
                <a:latin typeface="Consolas" panose="020B0609020204030204" pitchFamily="49" charset="0"/>
              </a:rPr>
              <a:t> AND </a:t>
            </a:r>
            <a:r>
              <a:rPr lang="en-GB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GB" sz="2000" dirty="0">
                <a:latin typeface="Consolas" panose="020B0609020204030204" pitchFamily="49" charset="0"/>
              </a:rPr>
              <a:t>(root) ≠ </a:t>
            </a:r>
            <a:r>
              <a:rPr lang="en-GB" sz="2000" dirty="0">
                <a:solidFill>
                  <a:srgbClr val="0070C0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0070C0"/>
                </a:solidFill>
                <a:latin typeface="Consolas" panose="020B0609020204030204" pitchFamily="49" charset="0"/>
              </a:rPr>
              <a:t>DO</a:t>
            </a: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</a:rPr>
              <a:t>    root ← </a:t>
            </a:r>
            <a:r>
              <a:rPr lang="en-GB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GB" sz="2000" dirty="0">
                <a:latin typeface="Consolas" panose="020B0609020204030204" pitchFamily="49" charset="0"/>
              </a:rPr>
              <a:t>(root)</a:t>
            </a:r>
          </a:p>
          <a:p>
            <a:pPr marL="0" indent="0">
              <a:buNone/>
            </a:pPr>
            <a:endParaRPr lang="en-GB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2000" b="1" dirty="0">
                <a:solidFill>
                  <a:srgbClr val="0070C0"/>
                </a:solidFill>
                <a:latin typeface="Consolas" panose="020B0609020204030204" pitchFamily="49" charset="0"/>
              </a:rPr>
              <a:t>[Return</a:t>
            </a:r>
            <a:r>
              <a:rPr lang="en-GB" sz="2000" b="1" dirty="0"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0070C0"/>
                </a:solidFill>
                <a:latin typeface="Consolas" panose="020B0609020204030204" pitchFamily="49" charset="0"/>
              </a:rPr>
              <a:t>Inorder Successor]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GB" sz="2000" dirty="0">
                <a:latin typeface="Consolas" panose="020B0609020204030204" pitchFamily="49" charset="0"/>
              </a:rPr>
              <a:t> root</a:t>
            </a:r>
            <a:endParaRPr lang="en-IN" sz="2000" dirty="0">
              <a:latin typeface="Consolas" panose="020B060902020403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0A0FBC8-8B4D-636F-F753-46C168969363}"/>
              </a:ext>
            </a:extLst>
          </p:cNvPr>
          <p:cNvSpPr txBox="1">
            <a:spLocks/>
          </p:cNvSpPr>
          <p:nvPr/>
        </p:nvSpPr>
        <p:spPr>
          <a:xfrm>
            <a:off x="5934635" y="876144"/>
            <a:ext cx="6027573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CODE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struct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2000" dirty="0">
                <a:latin typeface="Consolas" panose="020B0609020204030204" pitchFamily="49" charset="0"/>
              </a:rPr>
              <a:t>* 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getInOrderSuccessor</a:t>
            </a:r>
            <a:r>
              <a:rPr lang="en-IN" sz="2000" dirty="0"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struct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2000" dirty="0">
                <a:latin typeface="Consolas" panose="020B0609020204030204" pitchFamily="49" charset="0"/>
              </a:rPr>
              <a:t>* root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{      </a:t>
            </a:r>
            <a:br>
              <a:rPr lang="en-IN" sz="2000" dirty="0">
                <a:latin typeface="Consolas" panose="020B0609020204030204" pitchFamily="49" charset="0"/>
              </a:rPr>
            </a:b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while</a:t>
            </a:r>
            <a:r>
              <a:rPr lang="en-IN" sz="2000" dirty="0">
                <a:latin typeface="Consolas" panose="020B0609020204030204" pitchFamily="49" charset="0"/>
              </a:rPr>
              <a:t>(root !=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NULL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&amp;&amp;</a:t>
            </a:r>
            <a:r>
              <a:rPr lang="en-IN" sz="2000" dirty="0">
                <a:latin typeface="Consolas" panose="020B0609020204030204" pitchFamily="49" charset="0"/>
              </a:rPr>
              <a:t> root-&gt;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2000" dirty="0">
                <a:latin typeface="Consolas" panose="020B0609020204030204" pitchFamily="49" charset="0"/>
              </a:rPr>
              <a:t> !=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NULL</a:t>
            </a:r>
            <a:r>
              <a:rPr lang="en-IN" sz="20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	{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        root = root-&gt;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20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    	}</a:t>
            </a:r>
          </a:p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   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IN" sz="2000" dirty="0">
                <a:latin typeface="Consolas" panose="020B0609020204030204" pitchFamily="49" charset="0"/>
              </a:rPr>
              <a:t> root;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7194D3-43B0-831E-CBEF-49FEF947CF12}"/>
              </a:ext>
            </a:extLst>
          </p:cNvPr>
          <p:cNvSpPr/>
          <p:nvPr/>
        </p:nvSpPr>
        <p:spPr>
          <a:xfrm>
            <a:off x="161366" y="3074894"/>
            <a:ext cx="11839540" cy="200809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EFF085-ABA2-DB96-4B31-F5879EC5E661}"/>
              </a:ext>
            </a:extLst>
          </p:cNvPr>
          <p:cNvSpPr/>
          <p:nvPr/>
        </p:nvSpPr>
        <p:spPr>
          <a:xfrm>
            <a:off x="161364" y="5247929"/>
            <a:ext cx="11779623" cy="1218779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167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5A210-754F-82FB-B14A-221D6297D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997"/>
            <a:ext cx="12192000" cy="711200"/>
          </a:xfrm>
        </p:spPr>
        <p:txBody>
          <a:bodyPr/>
          <a:lstStyle/>
          <a:p>
            <a:r>
              <a:rPr lang="en-US" dirty="0"/>
              <a:t>SEARCH Node in BST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CDB6527-5110-BA7A-A463-8B210064729D}"/>
              </a:ext>
            </a:extLst>
          </p:cNvPr>
          <p:cNvSpPr txBox="1">
            <a:spLocks/>
          </p:cNvSpPr>
          <p:nvPr/>
        </p:nvSpPr>
        <p:spPr>
          <a:xfrm>
            <a:off x="6750424" y="876143"/>
            <a:ext cx="5310395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9BBDE46-E5D3-49EB-B4AE-A2AF5EB4B5DD}"/>
              </a:ext>
            </a:extLst>
          </p:cNvPr>
          <p:cNvSpPr txBox="1">
            <a:spLocks/>
          </p:cNvSpPr>
          <p:nvPr/>
        </p:nvSpPr>
        <p:spPr>
          <a:xfrm>
            <a:off x="283580" y="1028544"/>
            <a:ext cx="5839314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/>
              <a:t>ALGORITHM</a:t>
            </a: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[Check for Empty Tree]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2000" dirty="0">
                <a:latin typeface="Consolas" panose="020B0609020204030204" pitchFamily="49" charset="0"/>
              </a:rPr>
              <a:t> root = NULL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latin typeface="Consolas" panose="020B0609020204030204" pitchFamily="49" charset="0"/>
              </a:rPr>
              <a:t>   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Font typeface="Wingdings 3" panose="05040102010807070707" pitchFamily="18" charset="2"/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Font typeface="Wingdings 3" panose="05040102010807070707" pitchFamily="18" charset="2"/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Font typeface="Wingdings 3" panose="05040102010807070707" pitchFamily="18" charset="2"/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[Check Current Node]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IF </a:t>
            </a:r>
            <a:r>
              <a:rPr lang="en-IN" sz="2000" dirty="0">
                <a:solidFill>
                  <a:schemeClr val="accent6"/>
                </a:solidFill>
                <a:latin typeface="Consolas" panose="020B0609020204030204" pitchFamily="49" charset="0"/>
              </a:rPr>
              <a:t>data</a:t>
            </a:r>
            <a:r>
              <a:rPr lang="en-IN" sz="2000" dirty="0">
                <a:latin typeface="Consolas" panose="020B0609020204030204" pitchFamily="49" charset="0"/>
              </a:rPr>
              <a:t>(root) = </a:t>
            </a:r>
            <a:r>
              <a:rPr lang="en-IN" sz="2000" dirty="0" err="1">
                <a:latin typeface="Consolas" panose="020B0609020204030204" pitchFamily="49" charset="0"/>
              </a:rPr>
              <a:t>val</a:t>
            </a: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    Return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A872EC-3A4B-AA7E-CB90-ED2CB5BF34CB}"/>
              </a:ext>
            </a:extLst>
          </p:cNvPr>
          <p:cNvSpPr txBox="1">
            <a:spLocks/>
          </p:cNvSpPr>
          <p:nvPr/>
        </p:nvSpPr>
        <p:spPr>
          <a:xfrm>
            <a:off x="6750424" y="530331"/>
            <a:ext cx="5310395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  </a:t>
            </a:r>
          </a:p>
          <a:p>
            <a:pPr>
              <a:lnSpc>
                <a:spcPts val="2100"/>
              </a:lnSpc>
            </a:pPr>
            <a:r>
              <a:rPr lang="en-IN" sz="2000" dirty="0"/>
              <a:t>Code </a:t>
            </a:r>
          </a:p>
          <a:p>
            <a:pPr marL="0" indent="0">
              <a:lnSpc>
                <a:spcPts val="2100"/>
              </a:lnSpc>
              <a:buNone/>
            </a:pPr>
            <a:r>
              <a:rPr lang="en-IN" sz="1400" b="0" dirty="0">
                <a:solidFill>
                  <a:srgbClr val="CF222E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IN" sz="1400" b="0" dirty="0">
                <a:solidFill>
                  <a:srgbClr val="20202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400" b="0" dirty="0" err="1">
                <a:solidFill>
                  <a:srgbClr val="8250DF"/>
                </a:solidFill>
                <a:effectLst/>
                <a:latin typeface="Menlo" panose="020B0609030804020204" pitchFamily="49" charset="0"/>
              </a:rPr>
              <a:t>searchNode</a:t>
            </a:r>
            <a:r>
              <a:rPr lang="en-IN" sz="1400" b="0" dirty="0">
                <a:solidFill>
                  <a:srgbClr val="20202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400" b="0" dirty="0">
                <a:solidFill>
                  <a:srgbClr val="CF222E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IN" sz="1400" b="0" dirty="0">
                <a:solidFill>
                  <a:srgbClr val="20202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node</a:t>
            </a:r>
            <a:r>
              <a:rPr lang="en-IN" sz="1400" b="0" dirty="0">
                <a:solidFill>
                  <a:srgbClr val="20202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IN" sz="1400" b="0" dirty="0">
                <a:solidFill>
                  <a:srgbClr val="953800"/>
                </a:solidFill>
                <a:effectLst/>
                <a:latin typeface="Menlo" panose="020B0609030804020204" pitchFamily="49" charset="0"/>
              </a:rPr>
              <a:t>root</a:t>
            </a:r>
            <a:r>
              <a:rPr lang="en-IN" sz="1400" b="0" dirty="0">
                <a:solidFill>
                  <a:srgbClr val="20202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N" sz="1400" b="0" dirty="0">
                <a:solidFill>
                  <a:srgbClr val="CF222E"/>
                </a:solidFill>
                <a:effectLst/>
                <a:latin typeface="Menlo" panose="020B0609030804020204" pitchFamily="49" charset="0"/>
              </a:rPr>
              <a:t>int </a:t>
            </a:r>
            <a:r>
              <a:rPr lang="en-IN" sz="1400" b="0" dirty="0">
                <a:solidFill>
                  <a:srgbClr val="953800"/>
                </a:solidFill>
                <a:effectLst/>
                <a:latin typeface="Menlo" panose="020B0609030804020204" pitchFamily="49" charset="0"/>
              </a:rPr>
              <a:t>value</a:t>
            </a:r>
            <a:r>
              <a:rPr lang="en-IN" sz="1400" b="0" dirty="0">
                <a:solidFill>
                  <a:srgbClr val="202020"/>
                </a:solidFill>
                <a:effectLst/>
                <a:latin typeface="Menlo" panose="020B0609030804020204" pitchFamily="49" charset="0"/>
              </a:rPr>
              <a:t>)</a:t>
            </a:r>
            <a:endParaRPr lang="en-IN" sz="1800" b="0" dirty="0">
              <a:solidFill>
                <a:srgbClr val="AF00D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en-IN" sz="18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N" sz="1800" b="0" dirty="0">
                <a:solidFill>
                  <a:srgbClr val="953800"/>
                </a:solidFill>
                <a:effectLst/>
                <a:latin typeface="Menlo" panose="020B0609030804020204" pitchFamily="49" charset="0"/>
              </a:rPr>
              <a:t>root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==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){</a:t>
            </a:r>
            <a:endParaRPr lang="en-IN" sz="1800" b="0" dirty="0">
              <a:solidFill>
                <a:srgbClr val="20202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en-IN" sz="1800" b="0" dirty="0" err="1">
                <a:solidFill>
                  <a:srgbClr val="8250DF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b="0" dirty="0">
                <a:solidFill>
                  <a:srgbClr val="0A3069"/>
                </a:solidFill>
                <a:effectLst/>
                <a:latin typeface="Menlo" panose="020B0609030804020204" pitchFamily="49" charset="0"/>
              </a:rPr>
              <a:t>"Not Found </a:t>
            </a:r>
            <a:r>
              <a:rPr lang="en-IN" sz="1800" b="0" dirty="0">
                <a:solidFill>
                  <a:srgbClr val="CF222E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IN" sz="1800" b="0" dirty="0">
                <a:solidFill>
                  <a:srgbClr val="0A306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N" sz="1800" b="0" dirty="0">
                <a:solidFill>
                  <a:srgbClr val="953800"/>
                </a:solidFill>
                <a:effectLst/>
                <a:latin typeface="Menlo" panose="020B0609030804020204" pitchFamily="49" charset="0"/>
              </a:rPr>
              <a:t>value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);</a:t>
            </a:r>
            <a:endParaRPr lang="en-IN" sz="1800" b="0" dirty="0">
              <a:solidFill>
                <a:srgbClr val="20202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en-IN" sz="1800" dirty="0">
                <a:solidFill>
                  <a:srgbClr val="AF00DB"/>
                </a:solidFill>
                <a:latin typeface="Menlo" panose="020B0609030804020204" pitchFamily="49" charset="0"/>
              </a:rPr>
              <a:t>r</a:t>
            </a:r>
            <a:r>
              <a:rPr lang="en-IN" sz="18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eturn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;</a:t>
            </a:r>
            <a:endParaRPr lang="en-IN" sz="1800" b="0" dirty="0">
              <a:solidFill>
                <a:srgbClr val="20202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}</a:t>
            </a:r>
            <a:endParaRPr lang="en-IN" sz="1800" b="0" dirty="0">
              <a:solidFill>
                <a:srgbClr val="20202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N" sz="1800" b="0" dirty="0">
                <a:solidFill>
                  <a:srgbClr val="953800"/>
                </a:solidFill>
                <a:effectLst/>
                <a:latin typeface="Menlo" panose="020B0609030804020204" pitchFamily="49" charset="0"/>
              </a:rPr>
              <a:t>root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-&gt;data </a:t>
            </a:r>
            <a:r>
              <a:rPr lang="en-IN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==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0" dirty="0">
                <a:solidFill>
                  <a:srgbClr val="953800"/>
                </a:solidFill>
                <a:effectLst/>
                <a:latin typeface="Menlo" panose="020B0609030804020204" pitchFamily="49" charset="0"/>
              </a:rPr>
              <a:t>value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)</a:t>
            </a:r>
            <a:endParaRPr lang="en-IN" sz="1800" b="0" dirty="0">
              <a:solidFill>
                <a:srgbClr val="20202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{</a:t>
            </a:r>
            <a:endParaRPr lang="en-IN" sz="1800" b="0" dirty="0">
              <a:solidFill>
                <a:srgbClr val="20202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 err="1">
                <a:solidFill>
                  <a:srgbClr val="8250DF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b="0" dirty="0">
                <a:solidFill>
                  <a:srgbClr val="0A3069"/>
                </a:solidFill>
                <a:effectLst/>
                <a:latin typeface="Menlo" panose="020B0609030804020204" pitchFamily="49" charset="0"/>
              </a:rPr>
              <a:t>"Found </a:t>
            </a:r>
            <a:r>
              <a:rPr lang="en-IN" sz="1800" b="0" dirty="0">
                <a:solidFill>
                  <a:srgbClr val="CF222E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IN" sz="1800" b="0" dirty="0">
                <a:solidFill>
                  <a:srgbClr val="0A306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N" sz="1800" b="0" dirty="0">
                <a:solidFill>
                  <a:srgbClr val="953800"/>
                </a:solidFill>
                <a:effectLst/>
                <a:latin typeface="Menlo" panose="020B0609030804020204" pitchFamily="49" charset="0"/>
              </a:rPr>
              <a:t>value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);</a:t>
            </a:r>
            <a:endParaRPr lang="en-IN" sz="1800" b="0" dirty="0">
              <a:solidFill>
                <a:srgbClr val="20202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;</a:t>
            </a:r>
            <a:endParaRPr lang="en-IN" sz="1800" b="0" dirty="0">
              <a:solidFill>
                <a:srgbClr val="20202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}</a:t>
            </a:r>
            <a:endParaRPr lang="en-IN" sz="1800" b="0" dirty="0">
              <a:solidFill>
                <a:srgbClr val="20202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DE160D-5296-DDCD-2026-11CAC92B3D59}"/>
              </a:ext>
            </a:extLst>
          </p:cNvPr>
          <p:cNvSpPr/>
          <p:nvPr/>
        </p:nvSpPr>
        <p:spPr>
          <a:xfrm>
            <a:off x="152398" y="876143"/>
            <a:ext cx="11756022" cy="23789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38CE0D-7019-89EB-3413-E143BD7EFD16}"/>
              </a:ext>
            </a:extLst>
          </p:cNvPr>
          <p:cNvSpPr/>
          <p:nvPr/>
        </p:nvSpPr>
        <p:spPr>
          <a:xfrm>
            <a:off x="152398" y="3739896"/>
            <a:ext cx="11756022" cy="22419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541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050F7-EB31-AC3C-2566-C31B5E1B3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Node in BST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944D4E7-546E-E320-643C-1D60F00D1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76144"/>
            <a:ext cx="5839314" cy="5590565"/>
          </a:xfrm>
        </p:spPr>
        <p:txBody>
          <a:bodyPr/>
          <a:lstStyle/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[Search Left Subtree] 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 err="1">
                <a:latin typeface="Consolas" panose="020B0609020204030204" pitchFamily="49" charset="0"/>
              </a:rPr>
              <a:t>val</a:t>
            </a:r>
            <a:r>
              <a:rPr lang="en-IN" sz="2000" dirty="0">
                <a:latin typeface="Consolas" panose="020B0609020204030204" pitchFamily="49" charset="0"/>
              </a:rPr>
              <a:t> &lt; data(root)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latin typeface="Consolas" panose="020B0609020204030204" pitchFamily="49" charset="0"/>
              </a:rPr>
              <a:t>    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002060"/>
                </a:solidFill>
                <a:latin typeface="Consolas" panose="020B0609020204030204" pitchFamily="49" charset="0"/>
              </a:rPr>
              <a:t>Search</a:t>
            </a:r>
            <a:r>
              <a:rPr lang="en-IN" sz="2000" dirty="0"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2000" dirty="0">
                <a:latin typeface="Consolas" panose="020B0609020204030204" pitchFamily="49" charset="0"/>
              </a:rPr>
              <a:t>(root), </a:t>
            </a:r>
            <a:r>
              <a:rPr lang="en-IN" sz="2000" dirty="0" err="1">
                <a:latin typeface="Consolas" panose="020B0609020204030204" pitchFamily="49" charset="0"/>
              </a:rPr>
              <a:t>val</a:t>
            </a:r>
            <a:r>
              <a:rPr lang="en-IN" sz="2000" dirty="0">
                <a:latin typeface="Consolas" panose="020B0609020204030204" pitchFamily="49" charset="0"/>
              </a:rPr>
              <a:t>)</a:t>
            </a:r>
          </a:p>
          <a:p>
            <a:endParaRPr lang="en-IN" sz="2000" dirty="0"/>
          </a:p>
          <a:p>
            <a:pPr marL="0" indent="0"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[Search Right Subtree] </a:t>
            </a:r>
            <a:endParaRPr lang="en-IN" sz="2000" dirty="0"/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ELSE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     Return </a:t>
            </a:r>
            <a:r>
              <a:rPr lang="en-IN" sz="2000" dirty="0">
                <a:solidFill>
                  <a:srgbClr val="002060"/>
                </a:solidFill>
                <a:latin typeface="Consolas" panose="020B0609020204030204" pitchFamily="49" charset="0"/>
              </a:rPr>
              <a:t>Search</a:t>
            </a:r>
            <a:r>
              <a:rPr lang="en-IN" sz="2000" dirty="0"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2000" dirty="0">
                <a:latin typeface="Consolas" panose="020B0609020204030204" pitchFamily="49" charset="0"/>
              </a:rPr>
              <a:t>(root), </a:t>
            </a:r>
            <a:r>
              <a:rPr lang="en-IN" sz="2000" dirty="0" err="1">
                <a:latin typeface="Consolas" panose="020B0609020204030204" pitchFamily="49" charset="0"/>
              </a:rPr>
              <a:t>val</a:t>
            </a:r>
            <a:r>
              <a:rPr lang="en-IN" sz="2000" dirty="0">
                <a:latin typeface="Consolas" panose="020B0609020204030204" pitchFamily="49" charset="0"/>
              </a:rPr>
              <a:t>)</a:t>
            </a:r>
            <a:endParaRPr lang="en-IN" sz="20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0895DA1-81C3-81B7-46D7-82CF5E8565FD}"/>
              </a:ext>
            </a:extLst>
          </p:cNvPr>
          <p:cNvSpPr txBox="1">
            <a:spLocks/>
          </p:cNvSpPr>
          <p:nvPr/>
        </p:nvSpPr>
        <p:spPr>
          <a:xfrm>
            <a:off x="6750424" y="876143"/>
            <a:ext cx="5310395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388D7DE-EAD6-BF51-EB57-DDAA5DDFEB4E}"/>
              </a:ext>
            </a:extLst>
          </p:cNvPr>
          <p:cNvSpPr txBox="1">
            <a:spLocks/>
          </p:cNvSpPr>
          <p:nvPr/>
        </p:nvSpPr>
        <p:spPr>
          <a:xfrm>
            <a:off x="5870463" y="876143"/>
            <a:ext cx="5839314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100"/>
              </a:lnSpc>
              <a:buNone/>
            </a:pPr>
            <a:r>
              <a:rPr lang="en-IN" sz="18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N" sz="1800" b="0" dirty="0">
                <a:solidFill>
                  <a:srgbClr val="953800"/>
                </a:solidFill>
                <a:effectLst/>
                <a:latin typeface="Menlo" panose="020B0609030804020204" pitchFamily="49" charset="0"/>
              </a:rPr>
              <a:t>value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0" dirty="0">
                <a:solidFill>
                  <a:srgbClr val="953800"/>
                </a:solidFill>
                <a:effectLst/>
                <a:latin typeface="Menlo" panose="020B0609030804020204" pitchFamily="49" charset="0"/>
              </a:rPr>
              <a:t>root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-&gt;data)</a:t>
            </a: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{</a:t>
            </a:r>
            <a:endParaRPr lang="en-IN" sz="1800" b="0" dirty="0">
              <a:solidFill>
                <a:srgbClr val="20202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0" dirty="0" err="1">
                <a:solidFill>
                  <a:srgbClr val="8250DF"/>
                </a:solidFill>
                <a:effectLst/>
                <a:latin typeface="Menlo" panose="020B0609030804020204" pitchFamily="49" charset="0"/>
              </a:rPr>
              <a:t>searchNode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((</a:t>
            </a:r>
            <a:r>
              <a:rPr lang="en-IN" sz="1800" b="0" dirty="0">
                <a:solidFill>
                  <a:srgbClr val="953800"/>
                </a:solidFill>
                <a:effectLst/>
                <a:latin typeface="Menlo" panose="020B0609030804020204" pitchFamily="49" charset="0"/>
              </a:rPr>
              <a:t>root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-&gt;left), </a:t>
            </a:r>
            <a:r>
              <a:rPr lang="en-IN" sz="1800" b="0" dirty="0">
                <a:solidFill>
                  <a:srgbClr val="953800"/>
                </a:solidFill>
                <a:effectLst/>
                <a:latin typeface="Menlo" panose="020B0609030804020204" pitchFamily="49" charset="0"/>
              </a:rPr>
              <a:t>value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);</a:t>
            </a:r>
            <a:endParaRPr lang="en-IN" sz="1800" b="0" dirty="0">
              <a:solidFill>
                <a:srgbClr val="20202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}</a:t>
            </a:r>
            <a:endParaRPr lang="en-IN" sz="1800" b="0" dirty="0">
              <a:solidFill>
                <a:srgbClr val="20202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Font typeface="Wingdings 3" panose="05040102010807070707" pitchFamily="18" charset="2"/>
              <a:buNone/>
            </a:pPr>
            <a:endParaRPr lang="en-IN" sz="2000" dirty="0"/>
          </a:p>
          <a:p>
            <a:pPr marL="0" indent="0">
              <a:buFont typeface="Wingdings 3" panose="05040102010807070707" pitchFamily="18" charset="2"/>
              <a:buNone/>
            </a:pPr>
            <a:endParaRPr lang="en-IN" sz="2000" dirty="0"/>
          </a:p>
          <a:p>
            <a:pPr marL="0" indent="0">
              <a:buFont typeface="Wingdings 3" panose="05040102010807070707" pitchFamily="18" charset="2"/>
              <a:buNone/>
            </a:pPr>
            <a:endParaRPr lang="en-IN" sz="2000" dirty="0"/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0" dirty="0" err="1">
                <a:solidFill>
                  <a:srgbClr val="8250DF"/>
                </a:solidFill>
                <a:effectLst/>
                <a:latin typeface="Menlo" panose="020B0609030804020204" pitchFamily="49" charset="0"/>
              </a:rPr>
              <a:t>searchNode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((</a:t>
            </a:r>
            <a:r>
              <a:rPr lang="en-IN" sz="1800" b="0" dirty="0">
                <a:solidFill>
                  <a:srgbClr val="953800"/>
                </a:solidFill>
                <a:effectLst/>
                <a:latin typeface="Menlo" panose="020B0609030804020204" pitchFamily="49" charset="0"/>
              </a:rPr>
              <a:t>root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-&gt;right), </a:t>
            </a:r>
            <a:r>
              <a:rPr lang="en-IN" sz="1800" b="0" dirty="0">
                <a:solidFill>
                  <a:srgbClr val="953800"/>
                </a:solidFill>
                <a:effectLst/>
                <a:latin typeface="Menlo" panose="020B0609030804020204" pitchFamily="49" charset="0"/>
              </a:rPr>
              <a:t>value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);</a:t>
            </a:r>
            <a:endParaRPr lang="en-IN" sz="1800" b="0" dirty="0">
              <a:solidFill>
                <a:srgbClr val="20202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}</a:t>
            </a:r>
            <a:endParaRPr lang="en-IN" sz="1800" b="0" dirty="0">
              <a:solidFill>
                <a:srgbClr val="20202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Font typeface="Wingdings 3" panose="05040102010807070707" pitchFamily="18" charset="2"/>
              <a:buNone/>
            </a:pPr>
            <a:endParaRPr lang="en-IN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49C54C-7F0F-1398-5BDA-A060E585ADB4}"/>
              </a:ext>
            </a:extLst>
          </p:cNvPr>
          <p:cNvSpPr/>
          <p:nvPr/>
        </p:nvSpPr>
        <p:spPr>
          <a:xfrm>
            <a:off x="131180" y="812135"/>
            <a:ext cx="11756022" cy="19950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5404D7-92B7-DED0-4055-3A120B3F2637}"/>
              </a:ext>
            </a:extLst>
          </p:cNvPr>
          <p:cNvSpPr/>
          <p:nvPr/>
        </p:nvSpPr>
        <p:spPr>
          <a:xfrm>
            <a:off x="131180" y="3425953"/>
            <a:ext cx="11756022" cy="19950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914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059CA-E88D-D79C-7716-C2157AD5B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INORDER Traversal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7D8FBD-61C0-BB88-87BA-7D5D0161D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76144"/>
            <a:ext cx="5839314" cy="5590565"/>
          </a:xfrm>
        </p:spPr>
        <p:txBody>
          <a:bodyPr/>
          <a:lstStyle/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[Check for Empty Tree]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2000" dirty="0">
                <a:latin typeface="Consolas" panose="020B0609020204030204" pitchFamily="49" charset="0"/>
              </a:rPr>
              <a:t> root = </a:t>
            </a:r>
            <a:r>
              <a:rPr lang="en-IN" sz="2000" dirty="0">
                <a:solidFill>
                  <a:srgbClr val="002060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latin typeface="Consolas" panose="020B0609020204030204" pitchFamily="49" charset="0"/>
              </a:rPr>
              <a:t>   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[Process Left Subtree]</a:t>
            </a:r>
          </a:p>
          <a:p>
            <a:pPr marL="0" indent="0">
              <a:buNone/>
            </a:pPr>
            <a:r>
              <a:rPr lang="en-IN" sz="2000" dirty="0" err="1">
                <a:solidFill>
                  <a:srgbClr val="002060"/>
                </a:solidFill>
                <a:latin typeface="Consolas" panose="020B0609020204030204" pitchFamily="49" charset="0"/>
              </a:rPr>
              <a:t>inOrder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latin typeface="Consolas" panose="020B0609020204030204" pitchFamily="49" charset="0"/>
              </a:rPr>
              <a:t>root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)) </a:t>
            </a:r>
          </a:p>
          <a:p>
            <a:pPr marL="0" indent="0"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[Visit the Root]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002060"/>
                </a:solidFill>
                <a:latin typeface="Consolas" panose="020B0609020204030204" pitchFamily="49" charset="0"/>
              </a:rPr>
              <a:t>Write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data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latin typeface="Consolas" panose="020B0609020204030204" pitchFamily="49" charset="0"/>
              </a:rPr>
              <a:t>root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[Process Right Subtree]</a:t>
            </a:r>
          </a:p>
          <a:p>
            <a:pPr marL="0" indent="0">
              <a:buNone/>
            </a:pPr>
            <a:r>
              <a:rPr lang="en-IN" sz="2000" dirty="0" err="1">
                <a:solidFill>
                  <a:srgbClr val="002060"/>
                </a:solidFill>
                <a:latin typeface="Consolas" panose="020B0609020204030204" pitchFamily="49" charset="0"/>
              </a:rPr>
              <a:t>inOrder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latin typeface="Consolas" panose="020B0609020204030204" pitchFamily="49" charset="0"/>
              </a:rPr>
              <a:t>root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)) </a:t>
            </a:r>
          </a:p>
          <a:p>
            <a:pPr marL="0" indent="0"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FFDE240-95C0-BDF8-B9C4-E7F6C8751F9B}"/>
              </a:ext>
            </a:extLst>
          </p:cNvPr>
          <p:cNvSpPr txBox="1">
            <a:spLocks/>
          </p:cNvSpPr>
          <p:nvPr/>
        </p:nvSpPr>
        <p:spPr>
          <a:xfrm>
            <a:off x="6096000" y="876143"/>
            <a:ext cx="5839314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100"/>
              </a:lnSpc>
              <a:buNone/>
            </a:pPr>
            <a:endParaRPr lang="en-IN" sz="1800" b="0" dirty="0">
              <a:solidFill>
                <a:srgbClr val="AF00DB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N" sz="1800" b="0" dirty="0">
                <a:solidFill>
                  <a:srgbClr val="953800"/>
                </a:solidFill>
                <a:effectLst/>
                <a:latin typeface="Menlo" panose="020B0609030804020204" pitchFamily="49" charset="0"/>
              </a:rPr>
              <a:t>root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==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)</a:t>
            </a:r>
            <a:endParaRPr lang="en-IN" sz="1800" b="0" dirty="0">
              <a:solidFill>
                <a:srgbClr val="20202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 marL="0" indent="0">
              <a:lnSpc>
                <a:spcPts val="2100"/>
              </a:lnSpc>
              <a:buNone/>
            </a:pPr>
            <a:endParaRPr lang="en-IN" sz="1800" dirty="0">
              <a:solidFill>
                <a:srgbClr val="1F2328"/>
              </a:solidFill>
              <a:latin typeface="Menlo" panose="020B060903080402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endParaRPr lang="en-IN" sz="18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 err="1">
                <a:solidFill>
                  <a:srgbClr val="8250DF"/>
                </a:solidFill>
                <a:effectLst/>
                <a:latin typeface="Menlo" panose="020B0609030804020204" pitchFamily="49" charset="0"/>
              </a:rPr>
              <a:t>inOrder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b="0" dirty="0">
                <a:solidFill>
                  <a:srgbClr val="953800"/>
                </a:solidFill>
                <a:effectLst/>
                <a:latin typeface="Menlo" panose="020B0609030804020204" pitchFamily="49" charset="0"/>
              </a:rPr>
              <a:t>root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-&gt;left);</a:t>
            </a:r>
          </a:p>
          <a:p>
            <a:pPr marL="0" indent="0">
              <a:lnSpc>
                <a:spcPts val="2100"/>
              </a:lnSpc>
              <a:buNone/>
            </a:pPr>
            <a:endParaRPr lang="en-IN" sz="1800" dirty="0">
              <a:solidFill>
                <a:srgbClr val="1F2328"/>
              </a:solidFill>
              <a:latin typeface="Menlo" panose="020B060903080402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endParaRPr lang="en-IN" sz="1800" b="0" dirty="0">
              <a:solidFill>
                <a:srgbClr val="20202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 err="1">
                <a:solidFill>
                  <a:srgbClr val="8250DF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b="0" dirty="0">
                <a:solidFill>
                  <a:srgbClr val="0A306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IN" sz="1800" b="0" dirty="0">
                <a:solidFill>
                  <a:srgbClr val="CF222E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IN" sz="1800" b="0" dirty="0">
                <a:solidFill>
                  <a:srgbClr val="0A3069"/>
                </a:solidFill>
                <a:effectLst/>
                <a:latin typeface="Menlo" panose="020B0609030804020204" pitchFamily="49" charset="0"/>
              </a:rPr>
              <a:t> "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N" sz="1800" b="0" dirty="0">
                <a:solidFill>
                  <a:srgbClr val="953800"/>
                </a:solidFill>
                <a:effectLst/>
                <a:latin typeface="Menlo" panose="020B0609030804020204" pitchFamily="49" charset="0"/>
              </a:rPr>
              <a:t>root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-&gt;data);</a:t>
            </a:r>
          </a:p>
          <a:p>
            <a:pPr marL="0" indent="0">
              <a:lnSpc>
                <a:spcPts val="2100"/>
              </a:lnSpc>
              <a:buNone/>
            </a:pPr>
            <a:endParaRPr lang="en-IN" sz="1800" dirty="0">
              <a:solidFill>
                <a:srgbClr val="1F2328"/>
              </a:solidFill>
              <a:latin typeface="Menlo" panose="020B060903080402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endParaRPr lang="en-IN" sz="1800" b="0" dirty="0">
              <a:solidFill>
                <a:srgbClr val="1F2328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endParaRPr lang="en-IN" sz="1800" b="0" dirty="0">
              <a:solidFill>
                <a:srgbClr val="20202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 err="1">
                <a:solidFill>
                  <a:srgbClr val="8250DF"/>
                </a:solidFill>
                <a:effectLst/>
                <a:latin typeface="Menlo" panose="020B0609030804020204" pitchFamily="49" charset="0"/>
              </a:rPr>
              <a:t>inOrder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b="0" dirty="0">
                <a:solidFill>
                  <a:srgbClr val="953800"/>
                </a:solidFill>
                <a:effectLst/>
                <a:latin typeface="Menlo" panose="020B0609030804020204" pitchFamily="49" charset="0"/>
              </a:rPr>
              <a:t>root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-&gt;right);</a:t>
            </a:r>
            <a:endParaRPr lang="en-IN" sz="1800" b="0" dirty="0">
              <a:solidFill>
                <a:srgbClr val="20202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B1285B-57FC-5D90-7DCC-9F406BDD89F0}"/>
              </a:ext>
            </a:extLst>
          </p:cNvPr>
          <p:cNvSpPr/>
          <p:nvPr/>
        </p:nvSpPr>
        <p:spPr>
          <a:xfrm>
            <a:off x="92483" y="876143"/>
            <a:ext cx="11756022" cy="17255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C8C8E2-53F7-D138-4F2E-1EA17E17B87B}"/>
              </a:ext>
            </a:extLst>
          </p:cNvPr>
          <p:cNvSpPr/>
          <p:nvPr/>
        </p:nvSpPr>
        <p:spPr>
          <a:xfrm>
            <a:off x="92483" y="2766629"/>
            <a:ext cx="11756022" cy="11086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AD932A-CD31-F5DF-2B35-C096ACBC7064}"/>
              </a:ext>
            </a:extLst>
          </p:cNvPr>
          <p:cNvSpPr/>
          <p:nvPr/>
        </p:nvSpPr>
        <p:spPr>
          <a:xfrm>
            <a:off x="92483" y="3951515"/>
            <a:ext cx="11756022" cy="11086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53A55B-57E4-B5A0-6E07-AAD64D5655A9}"/>
              </a:ext>
            </a:extLst>
          </p:cNvPr>
          <p:cNvSpPr/>
          <p:nvPr/>
        </p:nvSpPr>
        <p:spPr>
          <a:xfrm>
            <a:off x="92483" y="5143797"/>
            <a:ext cx="11756022" cy="11086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136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D5C9F-F126-B219-F7B3-F4C2131AB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FA253-A471-032C-2727-C9124BAF5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PREORDER Traversal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7D3433D-0800-E468-36C6-DEFB40642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76144"/>
            <a:ext cx="5839314" cy="5590565"/>
          </a:xfrm>
        </p:spPr>
        <p:txBody>
          <a:bodyPr/>
          <a:lstStyle/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[Check for Empty Tree]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2000" dirty="0">
                <a:latin typeface="Consolas" panose="020B0609020204030204" pitchFamily="49" charset="0"/>
              </a:rPr>
              <a:t> root = </a:t>
            </a:r>
            <a:r>
              <a:rPr lang="en-IN" sz="2000" dirty="0">
                <a:solidFill>
                  <a:srgbClr val="002060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latin typeface="Consolas" panose="020B0609020204030204" pitchFamily="49" charset="0"/>
              </a:rPr>
              <a:t>   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[Visit the Root]</a:t>
            </a:r>
          </a:p>
          <a:p>
            <a:pPr marL="0" indent="0">
              <a:buNone/>
            </a:pPr>
            <a:r>
              <a:rPr lang="en-IN" sz="2000" dirty="0" err="1">
                <a:solidFill>
                  <a:srgbClr val="002060"/>
                </a:solidFill>
                <a:latin typeface="Consolas" panose="020B0609020204030204" pitchFamily="49" charset="0"/>
              </a:rPr>
              <a:t>preOrder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data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latin typeface="Consolas" panose="020B0609020204030204" pitchFamily="49" charset="0"/>
              </a:rPr>
              <a:t>root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[Process Left Subtree]</a:t>
            </a:r>
          </a:p>
          <a:p>
            <a:pPr marL="0" indent="0">
              <a:buNone/>
            </a:pPr>
            <a:r>
              <a:rPr lang="en-IN" sz="2000" dirty="0" err="1">
                <a:solidFill>
                  <a:srgbClr val="002060"/>
                </a:solidFill>
                <a:latin typeface="Consolas" panose="020B0609020204030204" pitchFamily="49" charset="0"/>
              </a:rPr>
              <a:t>preOrder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latin typeface="Consolas" panose="020B0609020204030204" pitchFamily="49" charset="0"/>
              </a:rPr>
              <a:t>root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)) </a:t>
            </a:r>
          </a:p>
          <a:p>
            <a:pPr marL="0" indent="0"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[Process Right Subtree]</a:t>
            </a:r>
          </a:p>
          <a:p>
            <a:pPr marL="0" indent="0">
              <a:buNone/>
            </a:pPr>
            <a:r>
              <a:rPr lang="en-IN" sz="2000" dirty="0" err="1">
                <a:solidFill>
                  <a:srgbClr val="002060"/>
                </a:solidFill>
                <a:latin typeface="Consolas" panose="020B0609020204030204" pitchFamily="49" charset="0"/>
              </a:rPr>
              <a:t>preOrder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latin typeface="Consolas" panose="020B0609020204030204" pitchFamily="49" charset="0"/>
              </a:rPr>
              <a:t>root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)) </a:t>
            </a:r>
          </a:p>
          <a:p>
            <a:pPr marL="0" indent="0"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A564C7A-0624-2C7D-CAE4-2A5EB9C01D5E}"/>
              </a:ext>
            </a:extLst>
          </p:cNvPr>
          <p:cNvSpPr txBox="1">
            <a:spLocks/>
          </p:cNvSpPr>
          <p:nvPr/>
        </p:nvSpPr>
        <p:spPr>
          <a:xfrm>
            <a:off x="6096000" y="876143"/>
            <a:ext cx="5839314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100"/>
              </a:lnSpc>
              <a:buNone/>
            </a:pPr>
            <a:endParaRPr lang="en-IN" sz="1800" b="0" dirty="0">
              <a:solidFill>
                <a:srgbClr val="AF00DB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N" sz="1800" b="0" dirty="0">
                <a:solidFill>
                  <a:srgbClr val="953800"/>
                </a:solidFill>
                <a:effectLst/>
                <a:latin typeface="Menlo" panose="020B0609030804020204" pitchFamily="49" charset="0"/>
              </a:rPr>
              <a:t>root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==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)</a:t>
            </a:r>
            <a:endParaRPr lang="en-IN" sz="1800" b="0" dirty="0">
              <a:solidFill>
                <a:srgbClr val="20202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 marL="0" indent="0">
              <a:lnSpc>
                <a:spcPts val="2100"/>
              </a:lnSpc>
              <a:buNone/>
            </a:pPr>
            <a:endParaRPr lang="en-IN" sz="1800" dirty="0">
              <a:solidFill>
                <a:srgbClr val="1F2328"/>
              </a:solidFill>
              <a:latin typeface="Menlo" panose="020B060903080402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endParaRPr lang="en-IN" sz="18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 err="1">
                <a:solidFill>
                  <a:srgbClr val="8250DF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b="0" dirty="0">
                <a:solidFill>
                  <a:srgbClr val="0A306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IN" sz="1800" b="0" dirty="0">
                <a:solidFill>
                  <a:srgbClr val="CF222E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IN" sz="1800" b="0" dirty="0">
                <a:solidFill>
                  <a:srgbClr val="0A3069"/>
                </a:solidFill>
                <a:effectLst/>
                <a:latin typeface="Menlo" panose="020B0609030804020204" pitchFamily="49" charset="0"/>
              </a:rPr>
              <a:t> "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N" sz="1800" b="0" dirty="0">
                <a:solidFill>
                  <a:srgbClr val="953800"/>
                </a:solidFill>
                <a:effectLst/>
                <a:latin typeface="Menlo" panose="020B0609030804020204" pitchFamily="49" charset="0"/>
              </a:rPr>
              <a:t>root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-&gt;data);</a:t>
            </a:r>
          </a:p>
          <a:p>
            <a:pPr marL="0" indent="0">
              <a:lnSpc>
                <a:spcPts val="2100"/>
              </a:lnSpc>
              <a:buNone/>
            </a:pPr>
            <a:endParaRPr lang="en-IN" sz="1800" b="0" dirty="0">
              <a:solidFill>
                <a:srgbClr val="20202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endParaRPr lang="en-IN" sz="1800" dirty="0">
              <a:solidFill>
                <a:srgbClr val="8250DF"/>
              </a:solidFill>
              <a:latin typeface="Menlo" panose="020B060903080402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800" dirty="0" err="1">
                <a:solidFill>
                  <a:srgbClr val="8250DF"/>
                </a:solidFill>
                <a:latin typeface="Menlo" panose="020B0609030804020204" pitchFamily="49" charset="0"/>
              </a:rPr>
              <a:t>pre</a:t>
            </a:r>
            <a:r>
              <a:rPr lang="en-IN" sz="1800" b="0" dirty="0" err="1">
                <a:solidFill>
                  <a:srgbClr val="8250DF"/>
                </a:solidFill>
                <a:effectLst/>
                <a:latin typeface="Menlo" panose="020B0609030804020204" pitchFamily="49" charset="0"/>
              </a:rPr>
              <a:t>Order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b="0" dirty="0">
                <a:solidFill>
                  <a:srgbClr val="953800"/>
                </a:solidFill>
                <a:effectLst/>
                <a:latin typeface="Menlo" panose="020B0609030804020204" pitchFamily="49" charset="0"/>
              </a:rPr>
              <a:t>root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-&gt;left);</a:t>
            </a:r>
          </a:p>
          <a:p>
            <a:pPr marL="0" indent="0">
              <a:lnSpc>
                <a:spcPts val="2100"/>
              </a:lnSpc>
              <a:buNone/>
            </a:pPr>
            <a:endParaRPr lang="en-IN" sz="1800" dirty="0">
              <a:solidFill>
                <a:srgbClr val="1F2328"/>
              </a:solidFill>
              <a:latin typeface="Menlo" panose="020B060903080402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endParaRPr lang="en-IN" sz="1800" b="0" dirty="0">
              <a:solidFill>
                <a:srgbClr val="20202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800" dirty="0" err="1">
                <a:solidFill>
                  <a:srgbClr val="8250DF"/>
                </a:solidFill>
                <a:latin typeface="Menlo" panose="020B0609030804020204" pitchFamily="49" charset="0"/>
              </a:rPr>
              <a:t>pre</a:t>
            </a:r>
            <a:r>
              <a:rPr lang="en-IN" sz="1800" b="0" dirty="0" err="1">
                <a:solidFill>
                  <a:srgbClr val="8250DF"/>
                </a:solidFill>
                <a:effectLst/>
                <a:latin typeface="Menlo" panose="020B0609030804020204" pitchFamily="49" charset="0"/>
              </a:rPr>
              <a:t>Order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b="0" dirty="0">
                <a:solidFill>
                  <a:srgbClr val="953800"/>
                </a:solidFill>
                <a:effectLst/>
                <a:latin typeface="Menlo" panose="020B0609030804020204" pitchFamily="49" charset="0"/>
              </a:rPr>
              <a:t>root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-&gt;right);</a:t>
            </a:r>
            <a:endParaRPr lang="en-IN" sz="1800" b="0" dirty="0">
              <a:solidFill>
                <a:srgbClr val="20202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B898C0-5CF1-7C70-900E-7D05EF0F38EC}"/>
              </a:ext>
            </a:extLst>
          </p:cNvPr>
          <p:cNvSpPr/>
          <p:nvPr/>
        </p:nvSpPr>
        <p:spPr>
          <a:xfrm>
            <a:off x="92483" y="876143"/>
            <a:ext cx="11756022" cy="17255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2B304-A13C-CAA4-93D2-658D7A6C0679}"/>
              </a:ext>
            </a:extLst>
          </p:cNvPr>
          <p:cNvSpPr/>
          <p:nvPr/>
        </p:nvSpPr>
        <p:spPr>
          <a:xfrm>
            <a:off x="92483" y="2766629"/>
            <a:ext cx="11756022" cy="11086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79050-4ACD-96AC-ADE8-B869BF8609E0}"/>
              </a:ext>
            </a:extLst>
          </p:cNvPr>
          <p:cNvSpPr/>
          <p:nvPr/>
        </p:nvSpPr>
        <p:spPr>
          <a:xfrm>
            <a:off x="92483" y="3951515"/>
            <a:ext cx="11756022" cy="11086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07470D-28F0-D1C2-E820-C0ED5D80A68E}"/>
              </a:ext>
            </a:extLst>
          </p:cNvPr>
          <p:cNvSpPr/>
          <p:nvPr/>
        </p:nvSpPr>
        <p:spPr>
          <a:xfrm>
            <a:off x="92483" y="5143797"/>
            <a:ext cx="11756022" cy="11086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02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5B928-C7F3-BAE4-85F0-31E0962E7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FE8AD-4DCC-D1F9-8057-CA1193514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POSTORDER Traversal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E9B5C8E-8E7D-41AD-F071-AC384FF18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76144"/>
            <a:ext cx="5839314" cy="5590565"/>
          </a:xfrm>
        </p:spPr>
        <p:txBody>
          <a:bodyPr/>
          <a:lstStyle/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[Check for Empty Tree]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2000" dirty="0">
                <a:latin typeface="Consolas" panose="020B0609020204030204" pitchFamily="49" charset="0"/>
              </a:rPr>
              <a:t> root = </a:t>
            </a:r>
            <a:r>
              <a:rPr lang="en-IN" sz="2000" dirty="0">
                <a:solidFill>
                  <a:srgbClr val="002060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latin typeface="Consolas" panose="020B0609020204030204" pitchFamily="49" charset="0"/>
              </a:rPr>
              <a:t>   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[Process Left Subtree]</a:t>
            </a:r>
          </a:p>
          <a:p>
            <a:pPr marL="0" indent="0">
              <a:buNone/>
            </a:pPr>
            <a:r>
              <a:rPr lang="en-IN" sz="2000" dirty="0" err="1">
                <a:solidFill>
                  <a:srgbClr val="002060"/>
                </a:solidFill>
                <a:latin typeface="Consolas" panose="020B0609020204030204" pitchFamily="49" charset="0"/>
              </a:rPr>
              <a:t>PostOrder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latin typeface="Consolas" panose="020B0609020204030204" pitchFamily="49" charset="0"/>
              </a:rPr>
              <a:t>root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)) </a:t>
            </a:r>
          </a:p>
          <a:p>
            <a:pPr marL="0" indent="0"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[Process Right Subtree]</a:t>
            </a:r>
          </a:p>
          <a:p>
            <a:pPr marL="0" indent="0">
              <a:buNone/>
            </a:pPr>
            <a:r>
              <a:rPr lang="en-IN" sz="2000" dirty="0" err="1">
                <a:solidFill>
                  <a:srgbClr val="002060"/>
                </a:solidFill>
                <a:latin typeface="Consolas" panose="020B0609020204030204" pitchFamily="49" charset="0"/>
              </a:rPr>
              <a:t>PostOrder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latin typeface="Consolas" panose="020B0609020204030204" pitchFamily="49" charset="0"/>
              </a:rPr>
              <a:t>root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)) </a:t>
            </a:r>
          </a:p>
          <a:p>
            <a:pPr marL="0" indent="0"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[Visit the Root]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002060"/>
                </a:solidFill>
                <a:latin typeface="Consolas" panose="020B0609020204030204" pitchFamily="49" charset="0"/>
              </a:rPr>
              <a:t>Write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data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latin typeface="Consolas" panose="020B0609020204030204" pitchFamily="49" charset="0"/>
              </a:rPr>
              <a:t>root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E258A9B-BAA0-1313-D8C6-E5DE824192A2}"/>
              </a:ext>
            </a:extLst>
          </p:cNvPr>
          <p:cNvSpPr txBox="1">
            <a:spLocks/>
          </p:cNvSpPr>
          <p:nvPr/>
        </p:nvSpPr>
        <p:spPr>
          <a:xfrm>
            <a:off x="6096000" y="876143"/>
            <a:ext cx="5839314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100"/>
              </a:lnSpc>
              <a:buNone/>
            </a:pPr>
            <a:endParaRPr lang="en-IN" sz="1800" b="0" dirty="0">
              <a:solidFill>
                <a:srgbClr val="AF00DB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N" sz="1800" b="0" dirty="0">
                <a:solidFill>
                  <a:srgbClr val="953800"/>
                </a:solidFill>
                <a:effectLst/>
                <a:latin typeface="Menlo" panose="020B0609030804020204" pitchFamily="49" charset="0"/>
              </a:rPr>
              <a:t>root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==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)</a:t>
            </a:r>
            <a:endParaRPr lang="en-IN" sz="1800" b="0" dirty="0">
              <a:solidFill>
                <a:srgbClr val="20202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 marL="0" indent="0">
              <a:lnSpc>
                <a:spcPts val="2100"/>
              </a:lnSpc>
              <a:buNone/>
            </a:pPr>
            <a:endParaRPr lang="en-IN" sz="1800" dirty="0">
              <a:solidFill>
                <a:srgbClr val="1F2328"/>
              </a:solidFill>
              <a:latin typeface="Menlo" panose="020B060903080402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endParaRPr lang="en-IN" sz="18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 err="1">
                <a:solidFill>
                  <a:srgbClr val="8250DF"/>
                </a:solidFill>
                <a:effectLst/>
                <a:latin typeface="Menlo" panose="020B0609030804020204" pitchFamily="49" charset="0"/>
              </a:rPr>
              <a:t>postOrder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b="0" dirty="0">
                <a:solidFill>
                  <a:srgbClr val="953800"/>
                </a:solidFill>
                <a:effectLst/>
                <a:latin typeface="Menlo" panose="020B0609030804020204" pitchFamily="49" charset="0"/>
              </a:rPr>
              <a:t>root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-&gt;left);</a:t>
            </a:r>
          </a:p>
          <a:p>
            <a:pPr marL="0" indent="0">
              <a:lnSpc>
                <a:spcPts val="2100"/>
              </a:lnSpc>
              <a:buNone/>
            </a:pPr>
            <a:endParaRPr lang="en-IN" sz="1800" dirty="0">
              <a:solidFill>
                <a:srgbClr val="1F2328"/>
              </a:solidFill>
              <a:latin typeface="Menlo" panose="020B060903080402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endParaRPr lang="en-IN" sz="1800" b="0" dirty="0">
              <a:solidFill>
                <a:srgbClr val="20202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 err="1">
                <a:solidFill>
                  <a:srgbClr val="8250DF"/>
                </a:solidFill>
                <a:effectLst/>
                <a:latin typeface="Menlo" panose="020B0609030804020204" pitchFamily="49" charset="0"/>
              </a:rPr>
              <a:t>postOrder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b="0" dirty="0">
                <a:solidFill>
                  <a:srgbClr val="953800"/>
                </a:solidFill>
                <a:effectLst/>
                <a:latin typeface="Menlo" panose="020B0609030804020204" pitchFamily="49" charset="0"/>
              </a:rPr>
              <a:t>root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-&gt;right);</a:t>
            </a:r>
            <a:endParaRPr lang="en-IN" sz="1800" b="0" dirty="0">
              <a:solidFill>
                <a:srgbClr val="20202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endParaRPr lang="en-IN" sz="1800" dirty="0">
              <a:solidFill>
                <a:srgbClr val="1F2328"/>
              </a:solidFill>
              <a:latin typeface="Menlo" panose="020B060903080402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endParaRPr lang="en-IN" sz="1800" b="0" dirty="0">
              <a:solidFill>
                <a:srgbClr val="1F2328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 err="1">
                <a:solidFill>
                  <a:srgbClr val="8250DF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b="0" dirty="0">
                <a:solidFill>
                  <a:srgbClr val="0A306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IN" sz="1800" b="0" dirty="0">
                <a:solidFill>
                  <a:srgbClr val="CF222E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IN" sz="1800" b="0" dirty="0">
                <a:solidFill>
                  <a:srgbClr val="0A3069"/>
                </a:solidFill>
                <a:effectLst/>
                <a:latin typeface="Menlo" panose="020B0609030804020204" pitchFamily="49" charset="0"/>
              </a:rPr>
              <a:t> "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N" sz="1800" b="0" dirty="0">
                <a:solidFill>
                  <a:srgbClr val="953800"/>
                </a:solidFill>
                <a:effectLst/>
                <a:latin typeface="Menlo" panose="020B0609030804020204" pitchFamily="49" charset="0"/>
              </a:rPr>
              <a:t>root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-&gt;data);</a:t>
            </a:r>
          </a:p>
          <a:p>
            <a:pPr marL="0" indent="0">
              <a:lnSpc>
                <a:spcPts val="2100"/>
              </a:lnSpc>
              <a:buNone/>
            </a:pPr>
            <a:endParaRPr lang="en-IN" sz="1800" b="0" dirty="0">
              <a:solidFill>
                <a:srgbClr val="20202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8CDBD8-A6DF-5C84-5F82-0C2D87AFB76F}"/>
              </a:ext>
            </a:extLst>
          </p:cNvPr>
          <p:cNvSpPr/>
          <p:nvPr/>
        </p:nvSpPr>
        <p:spPr>
          <a:xfrm>
            <a:off x="92483" y="876143"/>
            <a:ext cx="11756022" cy="17255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C77A04-41C4-D875-7670-985E0D898ECB}"/>
              </a:ext>
            </a:extLst>
          </p:cNvPr>
          <p:cNvSpPr/>
          <p:nvPr/>
        </p:nvSpPr>
        <p:spPr>
          <a:xfrm>
            <a:off x="92483" y="2766629"/>
            <a:ext cx="11756022" cy="11086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B713AC-45A9-9233-DD42-05DA8259FBE0}"/>
              </a:ext>
            </a:extLst>
          </p:cNvPr>
          <p:cNvSpPr/>
          <p:nvPr/>
        </p:nvSpPr>
        <p:spPr>
          <a:xfrm>
            <a:off x="92483" y="3951515"/>
            <a:ext cx="11756022" cy="11086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787980-BDD6-5DB2-EF72-4A1D1320F1FC}"/>
              </a:ext>
            </a:extLst>
          </p:cNvPr>
          <p:cNvSpPr/>
          <p:nvPr/>
        </p:nvSpPr>
        <p:spPr>
          <a:xfrm>
            <a:off x="92483" y="5143797"/>
            <a:ext cx="11756022" cy="11086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0997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9E396-DD80-6D38-6746-431F5633C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 Check whether the given two trees are same or not.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D61E2C5-AA08-7ECD-D22B-F0B8BB601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76144"/>
            <a:ext cx="5839314" cy="5590565"/>
          </a:xfrm>
        </p:spPr>
        <p:txBody>
          <a:bodyPr/>
          <a:lstStyle/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[Check Both Trees Empty]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301B92"/>
                </a:solidFill>
                <a:latin typeface="Consolas" panose="020B0609020204030204" pitchFamily="49" charset="0"/>
              </a:rPr>
              <a:t>P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latin typeface="Consolas" panose="020B0609020204030204" pitchFamily="49" charset="0"/>
              </a:rPr>
              <a:t>=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latin typeface="Consolas" panose="020B0609020204030204" pitchFamily="49" charset="0"/>
              </a:rPr>
              <a:t>NULL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 AND </a:t>
            </a:r>
            <a:r>
              <a:rPr lang="en-IN" sz="2000" dirty="0">
                <a:solidFill>
                  <a:srgbClr val="301B92"/>
                </a:solidFill>
                <a:latin typeface="Consolas" panose="020B0609020204030204" pitchFamily="49" charset="0"/>
              </a:rPr>
              <a:t>Q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latin typeface="Consolas" panose="020B0609020204030204" pitchFamily="49" charset="0"/>
              </a:rPr>
              <a:t>=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latin typeface="Consolas" panose="020B0609020204030204" pitchFamily="49" charset="0"/>
              </a:rPr>
              <a:t>NULL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latin typeface="Consolas" panose="020B0609020204030204" pitchFamily="49" charset="0"/>
              </a:rPr>
              <a:t>   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Return 1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[Check One Tree Empty]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301B92"/>
                </a:solidFill>
                <a:latin typeface="Consolas" panose="020B0609020204030204" pitchFamily="49" charset="0"/>
              </a:rPr>
              <a:t>P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latin typeface="Consolas" panose="020B0609020204030204" pitchFamily="49" charset="0"/>
              </a:rPr>
              <a:t>=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latin typeface="Consolas" panose="020B0609020204030204" pitchFamily="49" charset="0"/>
              </a:rPr>
              <a:t>NULL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 OR </a:t>
            </a:r>
            <a:r>
              <a:rPr lang="en-IN" sz="2000" dirty="0">
                <a:solidFill>
                  <a:srgbClr val="301B92"/>
                </a:solidFill>
                <a:latin typeface="Consolas" panose="020B0609020204030204" pitchFamily="49" charset="0"/>
              </a:rPr>
              <a:t>Q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latin typeface="Consolas" panose="020B0609020204030204" pitchFamily="49" charset="0"/>
              </a:rPr>
              <a:t>=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latin typeface="Consolas" panose="020B0609020204030204" pitchFamily="49" charset="0"/>
              </a:rPr>
              <a:t>NULL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latin typeface="Consolas" panose="020B0609020204030204" pitchFamily="49" charset="0"/>
              </a:rPr>
              <a:t>   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Return 0</a:t>
            </a:r>
          </a:p>
          <a:p>
            <a:pPr marL="0" indent="0"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Return (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data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301B92"/>
                </a:solidFill>
                <a:latin typeface="Consolas" panose="020B0609020204030204" pitchFamily="49" charset="0"/>
              </a:rPr>
              <a:t>P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) = 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data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301B92"/>
                </a:solidFill>
                <a:latin typeface="Consolas" panose="020B0609020204030204" pitchFamily="49" charset="0"/>
              </a:rPr>
              <a:t>Q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))        </a:t>
            </a:r>
            <a:r>
              <a:rPr lang="en-IN" sz="2000" dirty="0">
                <a:latin typeface="Consolas" panose="020B0609020204030204" pitchFamily="49" charset="0"/>
              </a:rPr>
              <a:t>AND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IN" sz="2000" dirty="0" err="1">
                <a:solidFill>
                  <a:srgbClr val="3366FF"/>
                </a:solidFill>
                <a:latin typeface="Consolas" panose="020B0609020204030204" pitchFamily="49" charset="0"/>
              </a:rPr>
              <a:t>areSame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301B92"/>
                </a:solidFill>
                <a:latin typeface="Consolas" panose="020B0609020204030204" pitchFamily="49" charset="0"/>
              </a:rPr>
              <a:t>P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),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301B92"/>
                </a:solidFill>
                <a:latin typeface="Consolas" panose="020B0609020204030204" pitchFamily="49" charset="0"/>
              </a:rPr>
              <a:t>Q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))   </a:t>
            </a:r>
            <a:r>
              <a:rPr lang="en-IN" sz="2000" dirty="0">
                <a:latin typeface="Consolas" panose="020B0609020204030204" pitchFamily="49" charset="0"/>
              </a:rPr>
              <a:t>AND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IN" sz="2000" dirty="0" err="1">
                <a:solidFill>
                  <a:srgbClr val="3366FF"/>
                </a:solidFill>
                <a:latin typeface="Consolas" panose="020B0609020204030204" pitchFamily="49" charset="0"/>
              </a:rPr>
              <a:t>areSame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002060"/>
                </a:solidFill>
                <a:latin typeface="Consolas" panose="020B0609020204030204" pitchFamily="49" charset="0"/>
              </a:rPr>
              <a:t>P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), 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002060"/>
                </a:solidFill>
                <a:latin typeface="Consolas" panose="020B0609020204030204" pitchFamily="49" charset="0"/>
              </a:rPr>
              <a:t>Q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04BE0AD-455F-D341-03F3-BDF610596C24}"/>
              </a:ext>
            </a:extLst>
          </p:cNvPr>
          <p:cNvSpPr txBox="1">
            <a:spLocks/>
          </p:cNvSpPr>
          <p:nvPr/>
        </p:nvSpPr>
        <p:spPr>
          <a:xfrm>
            <a:off x="5677319" y="717119"/>
            <a:ext cx="6514681" cy="58625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100"/>
              </a:lnSpc>
              <a:buNone/>
            </a:pPr>
            <a:r>
              <a:rPr lang="en-IN" sz="1800" b="0" dirty="0">
                <a:solidFill>
                  <a:srgbClr val="CF222E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IN" sz="1800" b="0" dirty="0">
                <a:solidFill>
                  <a:srgbClr val="20202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0" dirty="0" err="1">
                <a:solidFill>
                  <a:srgbClr val="8250DF"/>
                </a:solidFill>
                <a:effectLst/>
                <a:latin typeface="Menlo" panose="020B0609030804020204" pitchFamily="49" charset="0"/>
              </a:rPr>
              <a:t>areSame</a:t>
            </a:r>
            <a:r>
              <a:rPr lang="en-IN" sz="1800" b="0" dirty="0">
                <a:solidFill>
                  <a:srgbClr val="20202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b="0" dirty="0">
                <a:solidFill>
                  <a:srgbClr val="CF222E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IN" sz="1800" b="0" dirty="0">
                <a:solidFill>
                  <a:srgbClr val="20202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node</a:t>
            </a:r>
            <a:r>
              <a:rPr lang="en-IN" sz="1800" b="0" dirty="0">
                <a:solidFill>
                  <a:srgbClr val="20202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IN" sz="1800" b="0" dirty="0">
                <a:solidFill>
                  <a:srgbClr val="953800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IN" sz="1800" b="0" dirty="0">
                <a:solidFill>
                  <a:srgbClr val="202020"/>
                </a:solidFill>
                <a:effectLst/>
                <a:latin typeface="Menlo" panose="020B0609030804020204" pitchFamily="49" charset="0"/>
              </a:rPr>
              <a:t> , </a:t>
            </a:r>
            <a:r>
              <a:rPr lang="en-IN" sz="1800" b="0" dirty="0">
                <a:solidFill>
                  <a:srgbClr val="CF222E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IN" sz="1800" b="0" dirty="0">
                <a:solidFill>
                  <a:srgbClr val="20202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node</a:t>
            </a:r>
            <a:r>
              <a:rPr lang="en-IN" sz="1800" b="0" dirty="0">
                <a:solidFill>
                  <a:srgbClr val="20202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IN" sz="1800" b="0" dirty="0">
                <a:solidFill>
                  <a:srgbClr val="953800"/>
                </a:solidFill>
                <a:effectLst/>
                <a:latin typeface="Menlo" panose="020B0609030804020204" pitchFamily="49" charset="0"/>
              </a:rPr>
              <a:t>Q</a:t>
            </a:r>
            <a:r>
              <a:rPr lang="en-IN" sz="1800" b="0" dirty="0">
                <a:solidFill>
                  <a:srgbClr val="202020"/>
                </a:solidFill>
                <a:effectLst/>
                <a:latin typeface="Menlo" panose="020B0609030804020204" pitchFamily="49" charset="0"/>
              </a:rPr>
              <a:t>){</a:t>
            </a:r>
            <a:endParaRPr lang="en-IN" sz="1800" b="0" dirty="0">
              <a:solidFill>
                <a:srgbClr val="AF00DB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b="0" dirty="0">
                <a:solidFill>
                  <a:srgbClr val="953800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==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&amp;&amp;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0" dirty="0">
                <a:solidFill>
                  <a:srgbClr val="953800"/>
                </a:solidFill>
                <a:effectLst/>
                <a:latin typeface="Menlo" panose="020B0609030804020204" pitchFamily="49" charset="0"/>
              </a:rPr>
              <a:t>Q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==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;</a:t>
            </a:r>
            <a:endParaRPr lang="en-IN" sz="1800" b="0" dirty="0">
              <a:solidFill>
                <a:srgbClr val="20202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marL="0" indent="0">
              <a:lnSpc>
                <a:spcPts val="2100"/>
              </a:lnSpc>
              <a:buNone/>
            </a:pPr>
            <a:endParaRPr lang="en-IN" sz="1800" b="0" dirty="0">
              <a:solidFill>
                <a:srgbClr val="20202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b="0" dirty="0">
                <a:solidFill>
                  <a:srgbClr val="953800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==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||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0" dirty="0">
                <a:solidFill>
                  <a:srgbClr val="953800"/>
                </a:solidFill>
                <a:effectLst/>
                <a:latin typeface="Menlo" panose="020B0609030804020204" pitchFamily="49" charset="0"/>
              </a:rPr>
              <a:t>Q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==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){</a:t>
            </a:r>
            <a:endParaRPr lang="en-IN" sz="1800" b="0" dirty="0">
              <a:solidFill>
                <a:srgbClr val="20202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;</a:t>
            </a:r>
            <a:endParaRPr lang="en-IN" sz="1800" b="0" dirty="0">
              <a:solidFill>
                <a:srgbClr val="20202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marL="0" indent="0">
              <a:lnSpc>
                <a:spcPts val="2100"/>
              </a:lnSpc>
              <a:buNone/>
            </a:pPr>
            <a:endParaRPr lang="en-IN" sz="1800" b="0" dirty="0">
              <a:solidFill>
                <a:srgbClr val="20202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b="0" dirty="0">
                <a:solidFill>
                  <a:srgbClr val="953800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-&gt;data </a:t>
            </a:r>
            <a:r>
              <a:rPr lang="en-IN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==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0" dirty="0">
                <a:solidFill>
                  <a:srgbClr val="953800"/>
                </a:solidFill>
                <a:effectLst/>
                <a:latin typeface="Menlo" panose="020B0609030804020204" pitchFamily="49" charset="0"/>
              </a:rPr>
              <a:t>Q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-&gt;data) </a:t>
            </a:r>
            <a:r>
              <a:rPr lang="en-IN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&amp;&amp;</a:t>
            </a:r>
            <a:endParaRPr lang="en-IN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4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0" dirty="0" err="1">
                <a:solidFill>
                  <a:srgbClr val="8250DF"/>
                </a:solidFill>
                <a:effectLst/>
                <a:latin typeface="Menlo" panose="020B0609030804020204" pitchFamily="49" charset="0"/>
              </a:rPr>
              <a:t>areSame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b="0" dirty="0">
                <a:solidFill>
                  <a:srgbClr val="953800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-&gt;left, </a:t>
            </a:r>
            <a:r>
              <a:rPr lang="en-IN" sz="1800" b="0" dirty="0">
                <a:solidFill>
                  <a:srgbClr val="953800"/>
                </a:solidFill>
                <a:effectLst/>
                <a:latin typeface="Menlo" panose="020B0609030804020204" pitchFamily="49" charset="0"/>
              </a:rPr>
              <a:t>Q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-&gt;left)</a:t>
            </a:r>
            <a:r>
              <a:rPr lang="en-IN" sz="16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&amp;&amp;</a:t>
            </a:r>
            <a:r>
              <a:rPr lang="en-IN" sz="14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 marL="0" indent="0">
              <a:lnSpc>
                <a:spcPts val="2100"/>
              </a:lnSpc>
              <a:buNone/>
            </a:pPr>
            <a:r>
              <a:rPr lang="en-IN" sz="1400" dirty="0">
                <a:solidFill>
                  <a:srgbClr val="1F2328"/>
                </a:solidFill>
                <a:latin typeface="Menlo" panose="020B0609030804020204" pitchFamily="49" charset="0"/>
              </a:rPr>
              <a:t> </a:t>
            </a:r>
            <a:r>
              <a:rPr lang="en-IN" sz="1800" b="0" dirty="0" err="1">
                <a:solidFill>
                  <a:srgbClr val="8250DF"/>
                </a:solidFill>
                <a:effectLst/>
                <a:latin typeface="Menlo" panose="020B0609030804020204" pitchFamily="49" charset="0"/>
              </a:rPr>
              <a:t>areSame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800" b="0" dirty="0">
                <a:solidFill>
                  <a:srgbClr val="953800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-&gt;right, </a:t>
            </a:r>
            <a:r>
              <a:rPr lang="en-IN" sz="1800" b="0" dirty="0">
                <a:solidFill>
                  <a:srgbClr val="953800"/>
                </a:solidFill>
                <a:effectLst/>
                <a:latin typeface="Menlo" panose="020B0609030804020204" pitchFamily="49" charset="0"/>
              </a:rPr>
              <a:t>Q</a:t>
            </a:r>
            <a:r>
              <a:rPr lang="en-IN" sz="1800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-&gt;right);</a:t>
            </a:r>
            <a:endParaRPr lang="en-IN" sz="1400" b="0" dirty="0">
              <a:solidFill>
                <a:srgbClr val="20202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>
                <a:solidFill>
                  <a:srgbClr val="20202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79DE14-A9FD-4321-2DDE-3962E04874F6}"/>
              </a:ext>
            </a:extLst>
          </p:cNvPr>
          <p:cNvSpPr/>
          <p:nvPr/>
        </p:nvSpPr>
        <p:spPr>
          <a:xfrm>
            <a:off x="92482" y="707179"/>
            <a:ext cx="11968337" cy="17255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344761-8948-4F88-4757-B792C446D715}"/>
              </a:ext>
            </a:extLst>
          </p:cNvPr>
          <p:cNvSpPr/>
          <p:nvPr/>
        </p:nvSpPr>
        <p:spPr>
          <a:xfrm>
            <a:off x="92483" y="2502296"/>
            <a:ext cx="11968336" cy="15727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A27906-C621-AC75-0787-6A028FD0D814}"/>
              </a:ext>
            </a:extLst>
          </p:cNvPr>
          <p:cNvSpPr/>
          <p:nvPr/>
        </p:nvSpPr>
        <p:spPr>
          <a:xfrm>
            <a:off x="92481" y="4256313"/>
            <a:ext cx="11968335" cy="2210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339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4CBD1-C880-8A85-1729-AF4C9084A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0F4E7-A307-70FA-F860-E5D8B0A4F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1:-</a:t>
            </a:r>
          </a:p>
          <a:p>
            <a:r>
              <a:rPr lang="en-US" dirty="0"/>
              <a:t>Input = [5,4,3,2,8,6,9,7]</a:t>
            </a:r>
          </a:p>
          <a:p>
            <a:r>
              <a:rPr lang="en-US" dirty="0"/>
              <a:t>INORDER  = {2,3,4,5,6,7,8,9}</a:t>
            </a:r>
          </a:p>
          <a:p>
            <a:endParaRPr lang="en-US" dirty="0"/>
          </a:p>
          <a:p>
            <a:r>
              <a:rPr lang="en-US" dirty="0"/>
              <a:t>Example 2:-</a:t>
            </a:r>
          </a:p>
          <a:p>
            <a:r>
              <a:rPr lang="en-US" dirty="0"/>
              <a:t>Input = [10,5,15,3,7,12,18]</a:t>
            </a:r>
          </a:p>
          <a:p>
            <a:r>
              <a:rPr lang="en-US" dirty="0"/>
              <a:t>INORDER = {3,5,7,10,12,15,18}</a:t>
            </a:r>
          </a:p>
          <a:p>
            <a:endParaRPr lang="en-US" dirty="0"/>
          </a:p>
          <a:p>
            <a:r>
              <a:rPr lang="en-US" dirty="0"/>
              <a:t>Example 3:-</a:t>
            </a:r>
          </a:p>
          <a:p>
            <a:r>
              <a:rPr lang="en-US" dirty="0"/>
              <a:t>Input = [8,4,12,2,6,10,14]</a:t>
            </a:r>
          </a:p>
          <a:p>
            <a:r>
              <a:rPr lang="en-US" dirty="0"/>
              <a:t>INORDER = {2,4,6,8,10,12,14}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7617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pradyuman.jadeja@darshan.ac.in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+91 9879461848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/>
              <a:t>Pradyumansinh</a:t>
            </a:r>
            <a:r>
              <a:rPr lang="en-IN" dirty="0"/>
              <a:t> </a:t>
            </a:r>
            <a:r>
              <a:rPr lang="en-IN" dirty="0" err="1"/>
              <a:t>Jadeja</a:t>
            </a:r>
            <a:endParaRPr lang="en-IN" dirty="0"/>
          </a:p>
        </p:txBody>
      </p:sp>
      <p:sp>
        <p:nvSpPr>
          <p:cNvPr id="9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Data Structures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(DS)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#2301CS301</a:t>
            </a:r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41964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eptPPT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6463</TotalTime>
  <Words>1686</Words>
  <Application>Microsoft Macintosh PowerPoint</Application>
  <PresentationFormat>Widescreen</PresentationFormat>
  <Paragraphs>447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Menlo</vt:lpstr>
      <vt:lpstr>Consolas</vt:lpstr>
      <vt:lpstr>Arial</vt:lpstr>
      <vt:lpstr>Roboto Condensed Light</vt:lpstr>
      <vt:lpstr>Wingdings 3</vt:lpstr>
      <vt:lpstr>Calibri</vt:lpstr>
      <vt:lpstr>Roboto Condensed</vt:lpstr>
      <vt:lpstr>Wingdings</vt:lpstr>
      <vt:lpstr>Office Theme</vt:lpstr>
      <vt:lpstr>Tree Lab 19 Data Structure</vt:lpstr>
      <vt:lpstr>Basic knowledge of BST</vt:lpstr>
      <vt:lpstr>TreeNode Structure</vt:lpstr>
      <vt:lpstr>Insert Node in BST</vt:lpstr>
      <vt:lpstr>Create Node in BST</vt:lpstr>
      <vt:lpstr>Insert Node in BST(continued)</vt:lpstr>
      <vt:lpstr>Delete Node from BST</vt:lpstr>
      <vt:lpstr>Delete Node from BST(continued)</vt:lpstr>
      <vt:lpstr>Delete Node from BST(continued)</vt:lpstr>
      <vt:lpstr>Delete Node from BST(continued)</vt:lpstr>
      <vt:lpstr>Delete Node from BST(continued)</vt:lpstr>
      <vt:lpstr>Get Inorder Successor</vt:lpstr>
      <vt:lpstr>SEARCH Node in BST</vt:lpstr>
      <vt:lpstr>SEARCH Node in BST</vt:lpstr>
      <vt:lpstr>INORDER Traversal</vt:lpstr>
      <vt:lpstr>PREORDER Traversal</vt:lpstr>
      <vt:lpstr>POSTORDER Traversal</vt:lpstr>
      <vt:lpstr> Check whether the given two trees are same or not.</vt:lpstr>
      <vt:lpstr>EXAMPLES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 List - Linear Data Structure</dc:title>
  <dc:creator>ADMIN</dc:creator>
  <cp:keywords>Linked List, Data Structure, Darshan Institute of Engineering &amp; Technology, DIET</cp:keywords>
  <cp:lastModifiedBy>Rohan</cp:lastModifiedBy>
  <cp:revision>1079</cp:revision>
  <dcterms:created xsi:type="dcterms:W3CDTF">2020-05-01T05:09:15Z</dcterms:created>
  <dcterms:modified xsi:type="dcterms:W3CDTF">2026-08-11T16:41:33Z</dcterms:modified>
</cp:coreProperties>
</file>