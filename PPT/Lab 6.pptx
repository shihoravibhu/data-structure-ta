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415" r:id="rId2"/>
    <p:sldId id="416" r:id="rId3"/>
    <p:sldId id="422" r:id="rId4"/>
    <p:sldId id="500" r:id="rId5"/>
    <p:sldId id="501" r:id="rId6"/>
    <p:sldId id="502" r:id="rId7"/>
    <p:sldId id="503" r:id="rId8"/>
    <p:sldId id="504" r:id="rId9"/>
    <p:sldId id="505" r:id="rId10"/>
    <p:sldId id="506" r:id="rId11"/>
    <p:sldId id="507" r:id="rId12"/>
    <p:sldId id="508" r:id="rId13"/>
    <p:sldId id="509" r:id="rId14"/>
    <p:sldId id="510" r:id="rId15"/>
    <p:sldId id="511" r:id="rId16"/>
    <p:sldId id="512" r:id="rId17"/>
    <p:sldId id="513" r:id="rId18"/>
    <p:sldId id="514" r:id="rId19"/>
    <p:sldId id="515" r:id="rId20"/>
    <p:sldId id="516" r:id="rId21"/>
    <p:sldId id="517" r:id="rId22"/>
    <p:sldId id="518" r:id="rId23"/>
    <p:sldId id="519" r:id="rId24"/>
    <p:sldId id="520" r:id="rId25"/>
    <p:sldId id="344" r:id="rId26"/>
  </p:sldIdLst>
  <p:sldSz cx="12192000" cy="6858000"/>
  <p:notesSz cx="6858000" cy="9144000"/>
  <p:embeddedFontLst>
    <p:embeddedFont>
      <p:font typeface="Consolas" panose="020B0609020204030204" pitchFamily="49" charset="0"/>
      <p:regular r:id="rId29"/>
      <p:bold r:id="rId30"/>
      <p:italic r:id="rId31"/>
      <p:boldItalic r:id="rId32"/>
    </p:embeddedFont>
    <p:embeddedFont>
      <p:font typeface="Roboto Condensed" panose="02000000000000000000" pitchFamily="2" charset="0"/>
      <p:regular r:id="rId33"/>
      <p:bold r:id="rId34"/>
      <p:italic r:id="rId35"/>
      <p:boldItalic r:id="rId36"/>
    </p:embeddedFont>
    <p:embeddedFont>
      <p:font typeface="Roboto Condensed Light" panose="02000000000000000000" pitchFamily="2" charset="0"/>
      <p:regular r:id="rId37"/>
      <p:italic r:id="rId38"/>
    </p:embeddedFont>
    <p:embeddedFont>
      <p:font typeface="Wingdings 3" panose="05040102010807070707" pitchFamily="18" charset="2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>
    <p:extLst>
      <p:ext uri="{19B8F6BF-5375-455C-9EA6-DF929625EA0E}">
        <p15:presenceInfo xmlns:p15="http://schemas.microsoft.com/office/powerpoint/2012/main" userId="LENOV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B71B1C"/>
    <a:srgbClr val="FFFFFF"/>
    <a:srgbClr val="9A3A3A"/>
    <a:srgbClr val="1D3064"/>
    <a:srgbClr val="F54337"/>
    <a:srgbClr val="ED524F"/>
    <a:srgbClr val="3366FF"/>
    <a:srgbClr val="301B92"/>
    <a:srgbClr val="673B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21" autoAdjust="0"/>
    <p:restoredTop sz="94660"/>
  </p:normalViewPr>
  <p:slideViewPr>
    <p:cSldViewPr snapToGrid="0">
      <p:cViewPr>
        <p:scale>
          <a:sx n="90" d="100"/>
          <a:sy n="90" d="100"/>
        </p:scale>
        <p:origin x="300" y="-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4" d="100"/>
          <a:sy n="54" d="100"/>
        </p:scale>
        <p:origin x="1944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87FD0-6366-498E-B5AA-8D5EAADA1318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D5F676-4FC3-4D3C-BE37-3352AFB19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425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microsoft.com/office/2007/relationships/hdphoto" Target="../media/hdphoto2.wdp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11" Type="http://schemas.openxmlformats.org/officeDocument/2006/relationships/image" Target="../media/image8.jpeg"/><Relationship Id="rId5" Type="http://schemas.openxmlformats.org/officeDocument/2006/relationships/image" Target="../media/image3.png"/><Relationship Id="rId10" Type="http://schemas.openxmlformats.org/officeDocument/2006/relationships/image" Target="../media/image13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baseline="0" dirty="0"/>
              <a:t> University</a:t>
            </a:r>
            <a:r>
              <a:rPr lang="en-US" sz="1600" dirty="0"/>
              <a:t>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0762" y="307556"/>
            <a:ext cx="270404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0762" y="307556"/>
            <a:ext cx="270404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30" name="Hexagon 29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1D3064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34" name="Rectangle 33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701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9678496" y="861192"/>
            <a:ext cx="2554142" cy="587454"/>
            <a:chOff x="9424496" y="861192"/>
            <a:chExt cx="2554142" cy="587454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75018" y="861192"/>
              <a:ext cx="1932495" cy="587453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24496" y="8611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131180" y="8761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Pradyuman U. Jadeja</a:t>
            </a:r>
          </a:p>
        </p:txBody>
      </p:sp>
      <p:sp>
        <p:nvSpPr>
          <p:cNvPr id="21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3815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</a:p>
        </p:txBody>
      </p:sp>
      <p:sp>
        <p:nvSpPr>
          <p:cNvPr id="25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9780096" y="5890392"/>
            <a:ext cx="2554142" cy="587454"/>
            <a:chOff x="9475296" y="5890392"/>
            <a:chExt cx="2554142" cy="587454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3815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131180" y="8761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18B55886-6939-173D-0399-543AE006182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Pradyuman U. Jadeja</a:t>
            </a: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-49704" y="5915792"/>
            <a:ext cx="2554142" cy="587454"/>
            <a:chOff x="242396" y="5890392"/>
            <a:chExt cx="2554142" cy="587454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8918" y="5890392"/>
              <a:ext cx="1932495" cy="587453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2423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131180" y="8888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3815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</a:p>
        </p:txBody>
      </p:sp>
      <p:sp>
        <p:nvSpPr>
          <p:cNvPr id="25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1D3C3F07-EDD3-52AF-0EE4-F04B600338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Pradyuman U. Jadeja</a:t>
            </a: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" name="Group 3"/>
          <p:cNvGrpSpPr/>
          <p:nvPr userDrawn="1"/>
        </p:nvGrpSpPr>
        <p:grpSpPr>
          <a:xfrm>
            <a:off x="9437224" y="6087939"/>
            <a:ext cx="2554142" cy="650953"/>
            <a:chOff x="9437224" y="6087939"/>
            <a:chExt cx="2554142" cy="650953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DD61FEC-075B-4EDD-97CA-36E6F72630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8046" y="6151439"/>
              <a:ext cx="1932495" cy="587453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B550E12-AA95-4B1B-A8D2-ED01E515FC43}"/>
                </a:ext>
              </a:extLst>
            </p:cNvPr>
            <p:cNvSpPr/>
            <p:nvPr userDrawn="1"/>
          </p:nvSpPr>
          <p:spPr>
            <a:xfrm>
              <a:off x="9437224" y="6087939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9752158" y="149992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3815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</a:p>
        </p:txBody>
      </p:sp>
      <p:sp>
        <p:nvSpPr>
          <p:cNvPr id="20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099E7C37-A171-578A-F143-E583B37C897A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Pradyuman U. Jadeja</a:t>
            </a: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 userDrawn="1"/>
        </p:nvGrpSpPr>
        <p:grpSpPr>
          <a:xfrm>
            <a:off x="9726758" y="6003345"/>
            <a:ext cx="2554142" cy="587454"/>
            <a:chOff x="9475296" y="5890392"/>
            <a:chExt cx="2554142" cy="587454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3815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0CB66480-67B1-DCA9-5D6A-97B79F7DF396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Pradyuman U. Jadeja</a:t>
            </a: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-249812" y="5990021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3815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</a:p>
        </p:txBody>
      </p:sp>
      <p:sp>
        <p:nvSpPr>
          <p:cNvPr id="20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2266AAA7-4025-ADFA-6591-6CD7896DDA6B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Pradyuman U. Jadeja</a:t>
            </a:r>
          </a:p>
        </p:txBody>
      </p: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106364"/>
            <a:ext cx="11684000" cy="808037"/>
          </a:xfrm>
        </p:spPr>
        <p:txBody>
          <a:bodyPr>
            <a:normAutofit/>
          </a:bodyPr>
          <a:lstStyle>
            <a:lvl1pPr algn="l">
              <a:defRPr lang="en-US" sz="4400" b="0" kern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990600"/>
            <a:ext cx="11684000" cy="5334000"/>
          </a:xfrm>
        </p:spPr>
        <p:txBody>
          <a:bodyPr>
            <a:normAutofit/>
          </a:bodyPr>
          <a:lstStyle>
            <a:lvl1pPr marL="342900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lang="en-US" sz="24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04850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23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68375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22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239837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20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454150" indent="-28575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1600" kern="1200" dirty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marL="342900" lvl="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§"/>
            </a:pPr>
            <a:r>
              <a:rPr lang="en-US" dirty="0"/>
              <a:t>Click to edit Master text styles</a:t>
            </a:r>
          </a:p>
          <a:p>
            <a:pPr marL="625475" lvl="1" indent="-263525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896938" lvl="2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dirty="0"/>
              <a:t>Third level</a:t>
            </a:r>
          </a:p>
          <a:p>
            <a:pPr marL="1168400" lvl="3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–"/>
            </a:pPr>
            <a:r>
              <a:rPr lang="en-US" dirty="0"/>
              <a:t>Fourth level</a:t>
            </a:r>
          </a:p>
          <a:p>
            <a:pPr marL="1439863" lvl="4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»"/>
            </a:pPr>
            <a:r>
              <a:rPr lang="en-US" dirty="0"/>
              <a:t>Fifth level</a:t>
            </a:r>
          </a:p>
        </p:txBody>
      </p:sp>
      <p:sp>
        <p:nvSpPr>
          <p:cNvPr id="5" name="Rektangel 11"/>
          <p:cNvSpPr/>
          <p:nvPr userDrawn="1"/>
        </p:nvSpPr>
        <p:spPr>
          <a:xfrm>
            <a:off x="0" y="6477000"/>
            <a:ext cx="53848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da-DK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Unit</a:t>
            </a:r>
            <a:r>
              <a:rPr lang="da-DK" sz="1800" baseline="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– 1: </a:t>
            </a:r>
            <a:r>
              <a:rPr lang="en-US" sz="1800" dirty="0"/>
              <a:t>Introduction to Data Structure</a:t>
            </a:r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4000" y="914400"/>
            <a:ext cx="1168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ktangel 11"/>
          <p:cNvSpPr/>
          <p:nvPr userDrawn="1"/>
        </p:nvSpPr>
        <p:spPr>
          <a:xfrm>
            <a:off x="6197600" y="6480727"/>
            <a:ext cx="59944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en-US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Darshan</a:t>
            </a:r>
            <a:r>
              <a:rPr lang="en-US" sz="1800" baseline="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Institute of Engineering &amp; Technology</a:t>
            </a:r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Rektangel 11"/>
          <p:cNvSpPr/>
          <p:nvPr userDrawn="1"/>
        </p:nvSpPr>
        <p:spPr>
          <a:xfrm>
            <a:off x="5384800" y="6477000"/>
            <a:ext cx="8128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 algn="ctr">
              <a:defRPr/>
            </a:pPr>
            <a:fld id="{4CCBBDC9-ADEB-48F3-A42C-1AD0249F062A}" type="slidenum">
              <a:rPr lang="da-DK" sz="1800" noProof="1" smtClean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pPr indent="-342900" algn="ctr">
                <a:defRPr/>
              </a:pPr>
              <a:t>‹#›</a:t>
            </a:fld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648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93" r:id="rId2"/>
    <p:sldLayoutId id="2147483670" r:id="rId3"/>
    <p:sldLayoutId id="2147483687" r:id="rId4"/>
    <p:sldLayoutId id="2147483688" r:id="rId5"/>
    <p:sldLayoutId id="2147483671" r:id="rId6"/>
    <p:sldLayoutId id="2147483672" r:id="rId7"/>
    <p:sldLayoutId id="2147483689" r:id="rId8"/>
    <p:sldLayoutId id="2147483690" r:id="rId9"/>
    <p:sldLayoutId id="2147483673" r:id="rId10"/>
    <p:sldLayoutId id="2147483691" r:id="rId11"/>
    <p:sldLayoutId id="2147483674" r:id="rId12"/>
    <p:sldLayoutId id="2147483676" r:id="rId13"/>
    <p:sldLayoutId id="2147483677" r:id="rId14"/>
    <p:sldLayoutId id="2147483678" r:id="rId15"/>
    <p:sldLayoutId id="2147483679" r:id="rId16"/>
    <p:sldLayoutId id="2147483681" r:id="rId17"/>
    <p:sldLayoutId id="2147483683" r:id="rId18"/>
    <p:sldLayoutId id="2147483682" r:id="rId19"/>
    <p:sldLayoutId id="2147483684" r:id="rId20"/>
    <p:sldLayoutId id="2147483685" r:id="rId21"/>
    <p:sldLayoutId id="2147483686" r:id="rId22"/>
    <p:sldLayoutId id="2147483692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5180" y="2136766"/>
            <a:ext cx="7225834" cy="824148"/>
          </a:xfrm>
        </p:spPr>
        <p:txBody>
          <a:bodyPr/>
          <a:lstStyle/>
          <a:p>
            <a:r>
              <a:rPr lang="en-US" sz="4800" dirty="0"/>
              <a:t>Lab 6 : Pointers &amp; Structures</a:t>
            </a:r>
            <a:br>
              <a:rPr lang="en-US" sz="4800" dirty="0"/>
            </a:br>
            <a:endParaRPr lang="en-US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4005A-4647-4086-9144-7BCC7DFEFB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pradyuman.jadeja@darshan.ac.in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17D43-889A-4049-ACFD-9B3B648B6A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+91 9879461848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86D614-6447-4787-8025-9C902A1B73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7AB9BC-FE08-46B2-A19C-803CB5DF0C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Dr. </a:t>
            </a:r>
            <a:r>
              <a:rPr lang="en-US" dirty="0" err="1"/>
              <a:t>Pradyuman</a:t>
            </a:r>
            <a:r>
              <a:rPr lang="en-US" dirty="0"/>
              <a:t> U. </a:t>
            </a:r>
            <a:r>
              <a:rPr lang="en-US" dirty="0" err="1"/>
              <a:t>Jadeja</a:t>
            </a:r>
            <a:endParaRPr lang="en-US" dirty="0"/>
          </a:p>
        </p:txBody>
      </p:sp>
      <p:sp>
        <p:nvSpPr>
          <p:cNvPr id="1027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Pointers &amp; Structures</a:t>
            </a:r>
            <a:endParaRPr lang="en-US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3D1B70E7-2396-452E-A00A-D1D4AA1E56D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73676" y="-3055324"/>
            <a:ext cx="7721600" cy="145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Placeholder 7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5180" y="5218798"/>
            <a:ext cx="1353599" cy="1353599"/>
          </a:xfrm>
        </p:spPr>
      </p:pic>
    </p:spTree>
    <p:extLst>
      <p:ext uri="{BB962C8B-B14F-4D97-AF65-F5344CB8AC3E}">
        <p14:creationId xmlns:p14="http://schemas.microsoft.com/office/powerpoint/2010/main" val="1457381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Concept of Pointers</a:t>
            </a:r>
            <a:endParaRPr lang="en-IN" dirty="0"/>
          </a:p>
        </p:txBody>
      </p:sp>
      <p:sp>
        <p:nvSpPr>
          <p:cNvPr id="2" name="Rectangle 1"/>
          <p:cNvSpPr/>
          <p:nvPr/>
        </p:nvSpPr>
        <p:spPr>
          <a:xfrm>
            <a:off x="7315199" y="711202"/>
            <a:ext cx="4733365" cy="5884604"/>
          </a:xfrm>
          <a:prstGeom prst="rect">
            <a:avLst/>
          </a:prstGeom>
          <a:solidFill>
            <a:srgbClr val="1E1E1E"/>
          </a:solidFill>
          <a:effectLst>
            <a:outerShdw blurRad="127000" dist="38100" dir="2700000" rotWithShape="0">
              <a:srgbClr val="000000">
                <a:alpha val="35000"/>
              </a:srgbClr>
            </a:outerShdw>
          </a:effectLst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43435" y="878542"/>
            <a:ext cx="7049845" cy="5717264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800" b="1" dirty="0"/>
              <a:t>What is a Pointer?</a:t>
            </a:r>
          </a:p>
          <a:p>
            <a:pPr>
              <a:spcBef>
                <a:spcPts val="100"/>
              </a:spcBef>
            </a:pPr>
            <a:r>
              <a:rPr lang="en-US" sz="1800" dirty="0"/>
              <a:t>A pointer is a variable that stores the memory address of another variable, instead of storing a value directly.</a:t>
            </a:r>
          </a:p>
          <a:p>
            <a:pPr>
              <a:spcBef>
                <a:spcPts val="100"/>
              </a:spcBef>
            </a:pPr>
            <a:r>
              <a:rPr lang="en-US" sz="1800" dirty="0"/>
              <a:t>Declared using the * (asterisk) symbol along with a data type, e.g. int *p declares a pointer to an integer.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spcBef>
                <a:spcPts val="200"/>
              </a:spcBef>
              <a:buNone/>
            </a:pPr>
            <a:r>
              <a:rPr lang="en-US" b="1" dirty="0"/>
              <a:t>Address-of Operator ( &amp; )</a:t>
            </a:r>
          </a:p>
          <a:p>
            <a:pPr>
              <a:spcBef>
                <a:spcPts val="100"/>
              </a:spcBef>
            </a:pPr>
            <a:r>
              <a:rPr lang="en-US" sz="1800" dirty="0"/>
              <a:t>The &amp; operator returns the memory address of a variable.</a:t>
            </a:r>
          </a:p>
          <a:p>
            <a:pPr>
              <a:spcBef>
                <a:spcPts val="100"/>
              </a:spcBef>
            </a:pPr>
            <a:r>
              <a:rPr lang="en-US" sz="1800" dirty="0"/>
              <a:t>Example: p = &amp;a; stores the address of variable a into pointer p.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spcBef>
                <a:spcPts val="200"/>
              </a:spcBef>
              <a:buNone/>
            </a:pPr>
            <a:r>
              <a:rPr lang="en-US" b="1" dirty="0"/>
              <a:t>Dereferencing ( * )</a:t>
            </a:r>
          </a:p>
          <a:p>
            <a:pPr>
              <a:spcBef>
                <a:spcPts val="100"/>
              </a:spcBef>
            </a:pPr>
            <a:r>
              <a:rPr lang="en-US" sz="1800" dirty="0"/>
              <a:t>The * operator (dereference) accesses the value stored at the address a pointer is pointing to.</a:t>
            </a:r>
          </a:p>
          <a:p>
            <a:pPr>
              <a:spcBef>
                <a:spcPts val="100"/>
              </a:spcBef>
            </a:pPr>
            <a:r>
              <a:rPr lang="en-US" sz="1800" dirty="0"/>
              <a:t>Example: *p = 10; sets the value at the address stored in p to 10.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00000" y="711201"/>
            <a:ext cx="4250000" cy="5848799"/>
          </a:xfrm>
          <a:prstGeom prst="rect">
            <a:avLst/>
          </a:prstGeom>
          <a:noFill/>
        </p:spPr>
        <p:txBody>
          <a:bodyPr wrap="square" lIns="91440" tIns="73152" rIns="91440" bIns="73152" rtlCol="0">
            <a:normAutofit/>
          </a:bodyPr>
          <a:lstStyle/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6A9955"/>
                </a:solidFill>
                <a:latin typeface="Consolas"/>
              </a:rPr>
              <a:t>// Pointers in C - Quick Reference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1400" dirty="0">
              <a:latin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4EC9B0"/>
                </a:solidFill>
                <a:latin typeface="Consolas"/>
              </a:rPr>
              <a:t>int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a = </a:t>
            </a:r>
            <a:r>
              <a:rPr lang="en-US" sz="1400" dirty="0">
                <a:solidFill>
                  <a:srgbClr val="B5CEA8"/>
                </a:solidFill>
                <a:latin typeface="Consolas"/>
              </a:rPr>
              <a:t>10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4EC9B0"/>
                </a:solidFill>
                <a:latin typeface="Consolas"/>
              </a:rPr>
              <a:t>int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*p;       </a:t>
            </a:r>
            <a:r>
              <a:rPr lang="en-US" sz="1400" dirty="0">
                <a:solidFill>
                  <a:srgbClr val="6A9955"/>
                </a:solidFill>
                <a:latin typeface="Consolas"/>
              </a:rPr>
              <a:t>// pointer declaration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1400" dirty="0">
              <a:latin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p = &amp;a;       </a:t>
            </a:r>
            <a:r>
              <a:rPr lang="en-US" sz="1400" dirty="0">
                <a:solidFill>
                  <a:srgbClr val="6A9955"/>
                </a:solidFill>
                <a:latin typeface="Consolas"/>
              </a:rPr>
              <a:t>// address-of operator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          </a:t>
            </a:r>
            <a:r>
              <a:rPr lang="en-US" sz="1400" dirty="0">
                <a:solidFill>
                  <a:srgbClr val="6A9955"/>
                </a:solidFill>
                <a:latin typeface="Consolas"/>
              </a:rPr>
              <a:t>// p holds the address of a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1400" dirty="0">
              <a:latin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DCDCAA"/>
                </a:solidFill>
                <a:latin typeface="Consolas"/>
              </a:rPr>
              <a:t>printf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"%d"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, *p);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6A9955"/>
                </a:solidFill>
                <a:latin typeface="Consolas"/>
              </a:rPr>
              <a:t>// dereference: prints value of a (10)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1400" dirty="0">
              <a:latin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*p = </a:t>
            </a:r>
            <a:r>
              <a:rPr lang="en-US" sz="1400" dirty="0">
                <a:solidFill>
                  <a:srgbClr val="B5CEA8"/>
                </a:solidFill>
                <a:latin typeface="Consolas"/>
              </a:rPr>
              <a:t>20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6A9955"/>
                </a:solidFill>
                <a:latin typeface="Consolas"/>
              </a:rPr>
              <a:t>// modifies 'a' through the pointer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6A9955"/>
                </a:solidFill>
                <a:latin typeface="Consolas"/>
              </a:rPr>
              <a:t>// a is now 20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1400" dirty="0">
              <a:latin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DCDCAA"/>
                </a:solidFill>
                <a:latin typeface="Consolas"/>
              </a:rPr>
              <a:t>printf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"Address: %p"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, p);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DCDCAA"/>
                </a:solidFill>
                <a:latin typeface="Consolas"/>
              </a:rPr>
              <a:t>printf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"Value:   %d"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, *p);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Concept of Structures</a:t>
            </a:r>
            <a:endParaRPr lang="en-IN" dirty="0"/>
          </a:p>
        </p:txBody>
      </p:sp>
      <p:sp>
        <p:nvSpPr>
          <p:cNvPr id="2" name="Rectangle 1"/>
          <p:cNvSpPr/>
          <p:nvPr/>
        </p:nvSpPr>
        <p:spPr>
          <a:xfrm>
            <a:off x="7315199" y="711202"/>
            <a:ext cx="4691529" cy="5884604"/>
          </a:xfrm>
          <a:prstGeom prst="rect">
            <a:avLst/>
          </a:prstGeom>
          <a:solidFill>
            <a:srgbClr val="1E1E1E"/>
          </a:solidFill>
          <a:effectLst>
            <a:outerShdw blurRad="127000" dist="38100" dir="2700000" rotWithShape="0">
              <a:srgbClr val="000000">
                <a:alpha val="35000"/>
              </a:srgbClr>
            </a:outerShdw>
          </a:effectLst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9647" y="902448"/>
            <a:ext cx="7140753" cy="5693358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800" b="1" dirty="0"/>
              <a:t>What is a Structure?</a:t>
            </a:r>
          </a:p>
          <a:p>
            <a:pPr>
              <a:spcBef>
                <a:spcPts val="100"/>
              </a:spcBef>
            </a:pPr>
            <a:r>
              <a:rPr lang="en-US" sz="1800" dirty="0"/>
              <a:t>A struct is a user-defined data type that groups related variables (of different data types) under a single name.</a:t>
            </a:r>
          </a:p>
          <a:p>
            <a:pPr>
              <a:spcBef>
                <a:spcPts val="100"/>
              </a:spcBef>
            </a:pPr>
            <a:r>
              <a:rPr lang="en-US" sz="1800" dirty="0"/>
              <a:t>Declared using the struct keyword, followed by a tag name and a list of member variables.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spcBef>
                <a:spcPts val="200"/>
              </a:spcBef>
              <a:buNone/>
            </a:pPr>
            <a:r>
              <a:rPr lang="en-US" b="1" dirty="0"/>
              <a:t>Grouping Data</a:t>
            </a:r>
          </a:p>
          <a:p>
            <a:pPr>
              <a:spcBef>
                <a:spcPts val="100"/>
              </a:spcBef>
            </a:pPr>
            <a:r>
              <a:rPr lang="en-US" sz="1800" dirty="0"/>
              <a:t>Members of a struct can be of different types (int, char, float, arrays, etc.) and are accessed using the dot ( . ) operator on a struct variable.</a:t>
            </a:r>
          </a:p>
          <a:p>
            <a:pPr>
              <a:spcBef>
                <a:spcPts val="100"/>
              </a:spcBef>
            </a:pPr>
            <a:r>
              <a:rPr lang="en-US" sz="1800" dirty="0"/>
              <a:t>Example: s1.roll_no accesses the roll_no member of struct variable s1.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spcBef>
                <a:spcPts val="200"/>
              </a:spcBef>
              <a:buNone/>
            </a:pPr>
            <a:r>
              <a:rPr lang="en-US" b="1" dirty="0"/>
              <a:t>Arrow Operator ( -&gt; )</a:t>
            </a:r>
          </a:p>
          <a:p>
            <a:pPr>
              <a:spcBef>
                <a:spcPts val="100"/>
              </a:spcBef>
            </a:pPr>
            <a:r>
              <a:rPr lang="en-US" sz="1800" dirty="0"/>
              <a:t>When accessing struct members through a pointer, the arrow operator (-&gt;) is used instead of the dot operator.</a:t>
            </a:r>
          </a:p>
          <a:p>
            <a:pPr>
              <a:spcBef>
                <a:spcPts val="100"/>
              </a:spcBef>
            </a:pPr>
            <a:r>
              <a:rPr lang="en-US" sz="1800" dirty="0"/>
              <a:t>Example: ptr-&gt;roll_no is equivalent to (*ptr).roll_no, where ptr is a pointer to a struct.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00000" y="711201"/>
            <a:ext cx="4250000" cy="5848799"/>
          </a:xfrm>
          <a:prstGeom prst="rect">
            <a:avLst/>
          </a:prstGeom>
          <a:noFill/>
        </p:spPr>
        <p:txBody>
          <a:bodyPr wrap="square" lIns="91440" tIns="73152" rIns="91440" bIns="73152" rtlCol="0">
            <a:normAutofit/>
          </a:bodyPr>
          <a:lstStyle/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6A9955"/>
                </a:solidFill>
                <a:latin typeface="Consolas"/>
              </a:rPr>
              <a:t>// Structures in C - Quick Reference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1400" dirty="0">
              <a:latin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569CD6"/>
                </a:solidFill>
                <a:latin typeface="Consolas"/>
              </a:rPr>
              <a:t>struct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Student {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int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roll_no;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char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name[</a:t>
            </a:r>
            <a:r>
              <a:rPr lang="en-US" sz="1400" dirty="0">
                <a:solidFill>
                  <a:srgbClr val="B5CEA8"/>
                </a:solidFill>
                <a:latin typeface="Consolas"/>
              </a:rPr>
              <a:t>50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];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char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branch[</a:t>
            </a:r>
            <a:r>
              <a:rPr lang="en-US" sz="1400" dirty="0">
                <a:solidFill>
                  <a:srgbClr val="B5CEA8"/>
                </a:solidFill>
                <a:latin typeface="Consolas"/>
              </a:rPr>
              <a:t>50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];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400" dirty="0">
                <a:solidFill>
                  <a:srgbClr val="4EC9B0"/>
                </a:solidFill>
                <a:latin typeface="Consolas"/>
              </a:rPr>
              <a:t>int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batch_no;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};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1400" dirty="0">
              <a:latin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569CD6"/>
                </a:solidFill>
                <a:latin typeface="Consolas"/>
              </a:rPr>
              <a:t>struct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Student s1;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569CD6"/>
                </a:solidFill>
                <a:latin typeface="Consolas"/>
              </a:rPr>
              <a:t>struct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 Student *ptr = &amp;s1;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1400" dirty="0">
              <a:latin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6A9955"/>
                </a:solidFill>
                <a:latin typeface="Consolas"/>
              </a:rPr>
              <a:t>// Access via dot operator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s1.roll_no = </a:t>
            </a:r>
            <a:r>
              <a:rPr lang="en-US" sz="1400" dirty="0">
                <a:solidFill>
                  <a:srgbClr val="B5CEA8"/>
                </a:solidFill>
                <a:latin typeface="Consolas"/>
              </a:rPr>
              <a:t>101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1400" dirty="0">
              <a:latin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6A9955"/>
                </a:solidFill>
                <a:latin typeface="Consolas"/>
              </a:rPr>
              <a:t>// Access via arrow operator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ptr-&gt;roll_no = </a:t>
            </a:r>
            <a:r>
              <a:rPr lang="en-US" sz="1400" dirty="0">
                <a:solidFill>
                  <a:srgbClr val="B5CEA8"/>
                </a:solidFill>
                <a:latin typeface="Consolas"/>
              </a:rPr>
              <a:t>101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6A9955"/>
                </a:solidFill>
                <a:latin typeface="Consolas"/>
              </a:rPr>
              <a:t>// same as (*ptr).roll_no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1400" dirty="0">
              <a:latin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DCDCAA"/>
                </a:solidFill>
                <a:latin typeface="Consolas"/>
              </a:rPr>
              <a:t>printf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"Roll No: %d"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, ptr-&gt;roll_no);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DCDCAA"/>
                </a:solidFill>
                <a:latin typeface="Consolas"/>
              </a:rPr>
              <a:t>printf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"Name: %s"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, ptr-&gt;name);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#34</a:t>
            </a:r>
            <a:endParaRPr lang="en-IN" dirty="0"/>
          </a:p>
        </p:txBody>
      </p:sp>
      <p:sp>
        <p:nvSpPr>
          <p:cNvPr id="20" name="Rectangle 19"/>
          <p:cNvSpPr/>
          <p:nvPr/>
        </p:nvSpPr>
        <p:spPr>
          <a:xfrm>
            <a:off x="7213044" y="1450000"/>
            <a:ext cx="4709019" cy="5100000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8" name="Content Placeholder 8"/>
          <p:cNvSpPr>
            <a:spLocks noGrp="1"/>
          </p:cNvSpPr>
          <p:nvPr>
            <p:ph idx="1"/>
          </p:nvPr>
        </p:nvSpPr>
        <p:spPr>
          <a:xfrm>
            <a:off x="131180" y="710000"/>
            <a:ext cx="11929641" cy="810000"/>
          </a:xfrm>
        </p:spPr>
        <p:txBody>
          <a:bodyPr/>
          <a:lstStyle/>
          <a:p>
            <a:r>
              <a:rPr lang="en-IN" sz="2200" dirty="0"/>
              <a:t>Write a program to </a:t>
            </a:r>
            <a:r>
              <a:rPr lang="en-IN" sz="2200" dirty="0">
                <a:solidFill>
                  <a:srgbClr val="FF0000"/>
                </a:solidFill>
              </a:rPr>
              <a:t>allocate and de-allocate memory</a:t>
            </a:r>
            <a:r>
              <a:rPr lang="en-IN" sz="2200" dirty="0"/>
              <a:t> for </a:t>
            </a:r>
            <a:r>
              <a:rPr lang="en-IN" sz="2200" dirty="0">
                <a:solidFill>
                  <a:srgbClr val="FF0000"/>
                </a:solidFill>
              </a:rPr>
              <a:t>int, char and float</a:t>
            </a:r>
            <a:r>
              <a:rPr lang="en-IN" sz="2200" dirty="0"/>
              <a:t> variables at runtime.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08911" y="2000000"/>
            <a:ext cx="4337107" cy="445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300" dirty="0"/>
              <a:t>Declare pointers of type </a:t>
            </a:r>
            <a:r>
              <a:rPr lang="en-IN" sz="2300" dirty="0">
                <a:solidFill>
                  <a:srgbClr val="FF0000"/>
                </a:solidFill>
              </a:rPr>
              <a:t>int*, char*, float*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300" dirty="0"/>
              <a:t>Use </a:t>
            </a:r>
            <a:r>
              <a:rPr lang="en-IN" sz="2300" dirty="0">
                <a:solidFill>
                  <a:srgbClr val="FF0000"/>
                </a:solidFill>
              </a:rPr>
              <a:t>malloc()</a:t>
            </a:r>
            <a:r>
              <a:rPr lang="en-IN" sz="2300" dirty="0"/>
              <a:t> to allocate memory for each variable at runtime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300" dirty="0"/>
              <a:t>Check if allocation succeeded </a:t>
            </a:r>
            <a:r>
              <a:rPr lang="en-IN" sz="2300" dirty="0">
                <a:solidFill>
                  <a:srgbClr val="FF0000"/>
                </a:solidFill>
              </a:rPr>
              <a:t>(pointer is not NULL)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300" dirty="0"/>
              <a:t>Assign values using </a:t>
            </a:r>
            <a:r>
              <a:rPr lang="en-IN" sz="2300" dirty="0">
                <a:solidFill>
                  <a:srgbClr val="FF0000"/>
                </a:solidFill>
              </a:rPr>
              <a:t>dereference operator (*)</a:t>
            </a:r>
            <a:r>
              <a:rPr lang="en-IN" sz="2300" dirty="0"/>
              <a:t> and print them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300" dirty="0"/>
              <a:t>Release memory using </a:t>
            </a:r>
            <a:r>
              <a:rPr lang="en-IN" sz="2300" dirty="0">
                <a:solidFill>
                  <a:srgbClr val="FF0000"/>
                </a:solidFill>
              </a:rPr>
              <a:t>free()</a:t>
            </a:r>
            <a:r>
              <a:rPr lang="en-IN" sz="2300" dirty="0"/>
              <a:t> for each pointer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1180" y="1620000"/>
            <a:ext cx="6932350" cy="170032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lvl="0"/>
            <a:r>
              <a:rPr lang="en-IN" sz="2400" b="1" u="sng" dirty="0"/>
              <a:t>INPUT: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Declare pointers </a:t>
            </a:r>
            <a:r>
              <a:rPr lang="en-IN" sz="2400" dirty="0">
                <a:solidFill>
                  <a:srgbClr val="FF0000"/>
                </a:solidFill>
              </a:rPr>
              <a:t>a (int*), b (char*), c (float*)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No external input needed; values are </a:t>
            </a:r>
            <a:r>
              <a:rPr lang="en-IN" sz="2400" dirty="0">
                <a:solidFill>
                  <a:srgbClr val="FF0000"/>
                </a:solidFill>
              </a:rPr>
              <a:t>assigned in code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1180" y="3550000"/>
            <a:ext cx="6932350" cy="830997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lvl="0"/>
            <a:r>
              <a:rPr lang="en-IN" sz="2400" b="1" u="sng" dirty="0"/>
              <a:t>OUTPUT:</a:t>
            </a:r>
          </a:p>
          <a:p>
            <a:pPr lvl="0"/>
            <a:r>
              <a:rPr lang="en-IN" sz="2400" dirty="0"/>
              <a:t>Display the </a:t>
            </a:r>
            <a:r>
              <a:rPr lang="en-IN" sz="2400" dirty="0">
                <a:solidFill>
                  <a:srgbClr val="FF0000"/>
                </a:solidFill>
              </a:rPr>
              <a:t>allocated int, char and float values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08911" y="1530000"/>
            <a:ext cx="37321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solidFill>
                  <a:srgbClr val="C00000"/>
                </a:solidFill>
              </a:rPr>
              <a:t>METHODOLOGY  INVOLVED: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#34</a:t>
            </a:r>
            <a:endParaRPr lang="en-IN" dirty="0"/>
          </a:p>
        </p:txBody>
      </p:sp>
      <p:sp>
        <p:nvSpPr>
          <p:cNvPr id="16" name="Content Placeholder 8"/>
          <p:cNvSpPr>
            <a:spLocks noGrp="1"/>
          </p:cNvSpPr>
          <p:nvPr>
            <p:ph idx="1"/>
          </p:nvPr>
        </p:nvSpPr>
        <p:spPr>
          <a:xfrm>
            <a:off x="131180" y="876144"/>
            <a:ext cx="11929641" cy="5590565"/>
          </a:xfrm>
        </p:spPr>
        <p:txBody>
          <a:bodyPr/>
          <a:lstStyle/>
          <a:p>
            <a:r>
              <a:rPr lang="en-IN" dirty="0"/>
              <a:t>Write a program to allocate and de-allocate memory for int, char and float variables at runtime.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2658" y="1736920"/>
            <a:ext cx="5486393" cy="41375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normAutofit/>
          </a:bodyPr>
          <a:lstStyle/>
          <a:p>
            <a:pPr>
              <a:lnSpc>
                <a:spcPct val="105000"/>
              </a:lnSpc>
              <a:spcBef>
                <a:spcPts val="200"/>
              </a:spcBef>
            </a:pPr>
            <a:r>
              <a:rPr lang="en-US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1. [Allocate memory for each variable]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A &lt;- ADDRESS OF malloc(SIZE OF int)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B &lt;- ADDRESS OF malloc(SIZE OF char)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C &lt;- ADDRESS OF malloc(SIZE OF float)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lang="en-US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2. [Validate allocation]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IF A = NULL OR B = NULL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   OR C = NULL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THEN PRINT "ALLOC FAILED"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     Return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23265" y="1312175"/>
            <a:ext cx="2452028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sz="2400" b="1" dirty="0"/>
              <a:t>Algorithm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13546" y="1700000"/>
            <a:ext cx="5292808" cy="41375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normAutofit/>
          </a:bodyPr>
          <a:lstStyle/>
          <a:p>
            <a:pPr>
              <a:lnSpc>
                <a:spcPct val="105000"/>
              </a:lnSpc>
              <a:spcBef>
                <a:spcPts val="200"/>
              </a:spcBef>
            </a:pPr>
            <a:r>
              <a:rPr lang="en-US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3. [Assign values via dereference]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*A &lt;- 77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*B &lt;- 'v'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*C &lt;- 1.77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lang="en-US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4. [Print and release memory]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PRINT *A, *B, *C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free(A)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free(B)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free(C)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0" y="21857"/>
            <a:ext cx="12192000" cy="711200"/>
          </a:xfrm>
        </p:spPr>
        <p:txBody>
          <a:bodyPr/>
          <a:lstStyle/>
          <a:p>
            <a:r>
              <a:rPr lang="en-US" dirty="0"/>
              <a:t>Program #34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4699589" y="652698"/>
            <a:ext cx="1655463" cy="42530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400" b="1" dirty="0"/>
              <a:t>C Function</a:t>
            </a:r>
          </a:p>
        </p:txBody>
      </p:sp>
      <p:sp>
        <p:nvSpPr>
          <p:cNvPr id="6" name="Rectangle Code BG"/>
          <p:cNvSpPr/>
          <p:nvPr/>
        </p:nvSpPr>
        <p:spPr>
          <a:xfrm>
            <a:off x="1217428" y="1078000"/>
            <a:ext cx="9579935" cy="4702000"/>
          </a:xfrm>
          <a:prstGeom prst="rect">
            <a:avLst/>
          </a:prstGeom>
          <a:solidFill>
            <a:srgbClr val="1E1E1E"/>
          </a:solidFill>
          <a:effectLst>
            <a:outerShdw blurRad="127000" dist="38100" dir="2700000" rotWithShape="0">
              <a:srgbClr val="000000">
                <a:alpha val="35000"/>
              </a:srgbClr>
            </a:outerShdw>
          </a:effectLst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Code"/>
          <p:cNvSpPr txBox="1"/>
          <p:nvPr/>
        </p:nvSpPr>
        <p:spPr>
          <a:xfrm>
            <a:off x="1254641" y="1078000"/>
            <a:ext cx="9500191" cy="4662000"/>
          </a:xfrm>
          <a:prstGeom prst="rect">
            <a:avLst/>
          </a:prstGeom>
          <a:noFill/>
        </p:spPr>
        <p:txBody>
          <a:bodyPr wrap="square" lIns="91440" tIns="73152" rIns="91440" bIns="73152" rtlCol="0">
            <a:normAutofit fontScale="92500" lnSpcReduction="20000"/>
          </a:bodyPr>
          <a:lstStyle/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C586C0"/>
                </a:solidFill>
                <a:latin typeface="Consolas"/>
              </a:rPr>
              <a:t>#include &lt;stdio.h&gt;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C586C0"/>
                </a:solidFill>
                <a:latin typeface="Consolas"/>
              </a:rPr>
              <a:t>#include &lt;stdlib.h&gt;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1300" dirty="0">
              <a:latin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569CD6"/>
                </a:solidFill>
                <a:latin typeface="Consolas"/>
              </a:rPr>
              <a:t>void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main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() {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4EC9B0"/>
                </a:solidFill>
                <a:latin typeface="Consolas"/>
              </a:rPr>
              <a:t>int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*a = (</a:t>
            </a:r>
            <a:r>
              <a:rPr lang="en-US" sz="1300" dirty="0">
                <a:solidFill>
                  <a:srgbClr val="4EC9B0"/>
                </a:solidFill>
                <a:latin typeface="Consolas"/>
              </a:rPr>
              <a:t>int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*)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malloc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569CD6"/>
                </a:solidFill>
                <a:latin typeface="Consolas"/>
              </a:rPr>
              <a:t>sizeof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4EC9B0"/>
                </a:solidFill>
                <a:latin typeface="Consolas"/>
              </a:rPr>
              <a:t>int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));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4EC9B0"/>
                </a:solidFill>
                <a:latin typeface="Consolas"/>
              </a:rPr>
              <a:t>char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*b = (</a:t>
            </a:r>
            <a:r>
              <a:rPr lang="en-US" sz="1300" dirty="0">
                <a:solidFill>
                  <a:srgbClr val="4EC9B0"/>
                </a:solidFill>
                <a:latin typeface="Consolas"/>
              </a:rPr>
              <a:t>char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*)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malloc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569CD6"/>
                </a:solidFill>
                <a:latin typeface="Consolas"/>
              </a:rPr>
              <a:t>sizeof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4EC9B0"/>
                </a:solidFill>
                <a:latin typeface="Consolas"/>
              </a:rPr>
              <a:t>char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));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4EC9B0"/>
                </a:solidFill>
                <a:latin typeface="Consolas"/>
              </a:rPr>
              <a:t>float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*c = (</a:t>
            </a:r>
            <a:r>
              <a:rPr lang="en-US" sz="1300" dirty="0">
                <a:solidFill>
                  <a:srgbClr val="4EC9B0"/>
                </a:solidFill>
                <a:latin typeface="Consolas"/>
              </a:rPr>
              <a:t>float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*)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malloc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569CD6"/>
                </a:solidFill>
                <a:latin typeface="Consolas"/>
              </a:rPr>
              <a:t>sizeof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4EC9B0"/>
                </a:solidFill>
                <a:latin typeface="Consolas"/>
              </a:rPr>
              <a:t>float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));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1300" dirty="0">
              <a:latin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569CD6"/>
                </a:solidFill>
                <a:latin typeface="Consolas"/>
              </a:rPr>
              <a:t>if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(a &amp;&amp; b &amp;&amp; c) {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*a = </a:t>
            </a:r>
            <a:r>
              <a:rPr lang="en-US" sz="1300" dirty="0">
                <a:solidFill>
                  <a:srgbClr val="B5CEA8"/>
                </a:solidFill>
                <a:latin typeface="Consolas"/>
              </a:rPr>
              <a:t>77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*b = </a:t>
            </a:r>
            <a:r>
              <a:rPr lang="en-US" sz="1300" dirty="0">
                <a:solidFill>
                  <a:srgbClr val="CE9178"/>
                </a:solidFill>
                <a:latin typeface="Consolas"/>
              </a:rPr>
              <a:t>'v'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*c = </a:t>
            </a:r>
            <a:r>
              <a:rPr lang="en-US" sz="1300" dirty="0">
                <a:solidFill>
                  <a:srgbClr val="B5CEA8"/>
                </a:solidFill>
                <a:latin typeface="Consolas"/>
              </a:rPr>
              <a:t>1.77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1300" dirty="0">
              <a:latin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printf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CE9178"/>
                </a:solidFill>
                <a:latin typeface="Consolas"/>
              </a:rPr>
              <a:t>"%d\n"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, *a);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printf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CE9178"/>
                </a:solidFill>
                <a:latin typeface="Consolas"/>
              </a:rPr>
              <a:t>"%c\n"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, *b);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printf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CE9178"/>
                </a:solidFill>
                <a:latin typeface="Consolas"/>
              </a:rPr>
              <a:t>"%.2f\n"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, *c);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1300" dirty="0">
              <a:latin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free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(a);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free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(b);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free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(c);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} 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300" dirty="0">
                <a:solidFill>
                  <a:srgbClr val="569CD6"/>
                </a:solidFill>
                <a:latin typeface="Consolas"/>
              </a:rPr>
              <a:t>else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{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printf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CE9178"/>
                </a:solidFill>
                <a:latin typeface="Consolas"/>
              </a:rPr>
              <a:t>"Memory Allocation Failed\n"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}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#35</a:t>
            </a:r>
            <a:endParaRPr lang="en-IN" dirty="0"/>
          </a:p>
        </p:txBody>
      </p:sp>
      <p:sp>
        <p:nvSpPr>
          <p:cNvPr id="20" name="Rectangle 19"/>
          <p:cNvSpPr/>
          <p:nvPr/>
        </p:nvSpPr>
        <p:spPr>
          <a:xfrm>
            <a:off x="7213044" y="1450000"/>
            <a:ext cx="4709019" cy="5100000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8" name="Content Placeholder 8"/>
          <p:cNvSpPr>
            <a:spLocks noGrp="1"/>
          </p:cNvSpPr>
          <p:nvPr>
            <p:ph idx="1"/>
          </p:nvPr>
        </p:nvSpPr>
        <p:spPr>
          <a:xfrm>
            <a:off x="131180" y="710000"/>
            <a:ext cx="11929641" cy="810000"/>
          </a:xfrm>
        </p:spPr>
        <p:txBody>
          <a:bodyPr/>
          <a:lstStyle/>
          <a:p>
            <a:r>
              <a:rPr lang="en-IN" sz="2200" dirty="0"/>
              <a:t>Write a program to </a:t>
            </a:r>
            <a:r>
              <a:rPr lang="en-IN" sz="2200" dirty="0">
                <a:solidFill>
                  <a:srgbClr val="FF0000"/>
                </a:solidFill>
              </a:rPr>
              <a:t>get and print array elements</a:t>
            </a:r>
            <a:r>
              <a:rPr lang="en-IN" sz="2200" dirty="0"/>
              <a:t> using a </a:t>
            </a:r>
            <a:r>
              <a:rPr lang="en-IN" sz="2200" dirty="0">
                <a:solidFill>
                  <a:srgbClr val="FF0000"/>
                </a:solidFill>
              </a:rPr>
              <a:t>Pointer</a:t>
            </a:r>
            <a:r>
              <a:rPr lang="en-IN" sz="2200" dirty="0"/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08911" y="2000000"/>
            <a:ext cx="4337107" cy="44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Read size </a:t>
            </a:r>
            <a:r>
              <a:rPr lang="en-IN" sz="2400" dirty="0">
                <a:solidFill>
                  <a:srgbClr val="FF0000"/>
                </a:solidFill>
              </a:rPr>
              <a:t>n</a:t>
            </a:r>
            <a:r>
              <a:rPr lang="en-IN" sz="2400" dirty="0"/>
              <a:t> and dynamically allocate array using </a:t>
            </a:r>
            <a:r>
              <a:rPr lang="en-IN" sz="2400" dirty="0">
                <a:solidFill>
                  <a:srgbClr val="FF0000"/>
                </a:solidFill>
              </a:rPr>
              <a:t>malloc()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Check for </a:t>
            </a:r>
            <a:r>
              <a:rPr lang="en-IN" sz="2400" dirty="0">
                <a:solidFill>
                  <a:srgbClr val="FF0000"/>
                </a:solidFill>
              </a:rPr>
              <a:t>allocation failure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Read </a:t>
            </a:r>
            <a:r>
              <a:rPr lang="en-IN" sz="2400" dirty="0">
                <a:solidFill>
                  <a:srgbClr val="FF0000"/>
                </a:solidFill>
              </a:rPr>
              <a:t>n elements</a:t>
            </a:r>
            <a:r>
              <a:rPr lang="en-IN" sz="2400" dirty="0"/>
              <a:t> into the array via scanf()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Traverse array using </a:t>
            </a:r>
            <a:r>
              <a:rPr lang="en-IN" sz="2400" dirty="0">
                <a:solidFill>
                  <a:srgbClr val="FF0000"/>
                </a:solidFill>
              </a:rPr>
              <a:t>pointer-based indexing</a:t>
            </a:r>
            <a:r>
              <a:rPr lang="en-IN" sz="2400" dirty="0"/>
              <a:t> to print each element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Free the allocated memory using </a:t>
            </a:r>
            <a:r>
              <a:rPr lang="en-IN" sz="2400" dirty="0">
                <a:solidFill>
                  <a:srgbClr val="FF0000"/>
                </a:solidFill>
              </a:rPr>
              <a:t>free()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1180" y="1620000"/>
            <a:ext cx="6932350" cy="170032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lvl="0"/>
            <a:r>
              <a:rPr lang="en-IN" sz="2400" b="1" u="sng" dirty="0"/>
              <a:t>INPUT: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Take </a:t>
            </a:r>
            <a:r>
              <a:rPr lang="en-IN" sz="2400" dirty="0">
                <a:solidFill>
                  <a:srgbClr val="FF0000"/>
                </a:solidFill>
              </a:rPr>
              <a:t>total elements ('size'/'n')</a:t>
            </a:r>
            <a:r>
              <a:rPr lang="en-IN" sz="2400" dirty="0"/>
              <a:t> from user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Take </a:t>
            </a:r>
            <a:r>
              <a:rPr lang="en-IN" sz="2400" dirty="0">
                <a:solidFill>
                  <a:srgbClr val="FF0000"/>
                </a:solidFill>
              </a:rPr>
              <a:t>array elements</a:t>
            </a:r>
            <a:r>
              <a:rPr lang="en-IN" sz="2400" dirty="0"/>
              <a:t> one by one from user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1180" y="3550000"/>
            <a:ext cx="6932350" cy="830997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lvl="0"/>
            <a:r>
              <a:rPr lang="en-IN" sz="2400" b="1" u="sng" dirty="0"/>
              <a:t>OUTPUT:</a:t>
            </a:r>
          </a:p>
          <a:p>
            <a:pPr lvl="0"/>
            <a:r>
              <a:rPr lang="en-IN" sz="2400" dirty="0"/>
              <a:t>Display the </a:t>
            </a:r>
            <a:r>
              <a:rPr lang="en-IN" sz="2400" dirty="0">
                <a:solidFill>
                  <a:srgbClr val="FF0000"/>
                </a:solidFill>
              </a:rPr>
              <a:t>array elements</a:t>
            </a:r>
            <a:r>
              <a:rPr lang="en-IN" sz="2400" dirty="0"/>
              <a:t> using a pointer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08911" y="1530000"/>
            <a:ext cx="37321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solidFill>
                  <a:srgbClr val="C00000"/>
                </a:solidFill>
              </a:rPr>
              <a:t>METHODOLOGY  INVOLVED: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#35</a:t>
            </a:r>
            <a:endParaRPr lang="en-IN" dirty="0"/>
          </a:p>
        </p:txBody>
      </p:sp>
      <p:sp>
        <p:nvSpPr>
          <p:cNvPr id="16" name="Content Placeholder 8"/>
          <p:cNvSpPr>
            <a:spLocks noGrp="1"/>
          </p:cNvSpPr>
          <p:nvPr>
            <p:ph idx="1"/>
          </p:nvPr>
        </p:nvSpPr>
        <p:spPr>
          <a:xfrm>
            <a:off x="131180" y="876144"/>
            <a:ext cx="11929641" cy="5590565"/>
          </a:xfrm>
        </p:spPr>
        <p:txBody>
          <a:bodyPr/>
          <a:lstStyle/>
          <a:p>
            <a:r>
              <a:rPr lang="en-IN" dirty="0"/>
              <a:t>Write a program to get and print array elements using a Pointer.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71" y="1700000"/>
            <a:ext cx="5292808" cy="41106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normAutofit/>
          </a:bodyPr>
          <a:lstStyle/>
          <a:p>
            <a:pPr>
              <a:lnSpc>
                <a:spcPct val="105000"/>
              </a:lnSpc>
              <a:spcBef>
                <a:spcPts val="200"/>
              </a:spcBef>
            </a:pPr>
            <a:r>
              <a:rPr lang="en-US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1. [Allocate memory for n elements]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READ N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ARR &lt;- ADDRESS OF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       malloc(N * SIZE OF int)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IF ARR = NULL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THEN PRINT "ALLOC FAILED"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     Return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4288" y="1304224"/>
            <a:ext cx="2452028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sz="2400" b="1" dirty="0"/>
              <a:t>Algorithm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13546" y="1700000"/>
            <a:ext cx="5292808" cy="41106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normAutofit/>
          </a:bodyPr>
          <a:lstStyle/>
          <a:p>
            <a:pPr>
              <a:lnSpc>
                <a:spcPct val="105000"/>
              </a:lnSpc>
              <a:spcBef>
                <a:spcPts val="200"/>
              </a:spcBef>
            </a:pPr>
            <a:r>
              <a:rPr lang="en-US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2. [Read and print using pointer]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SET I &lt;- 0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REPEAT WHILE I &lt; N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     READ ARR[I]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     I &lt;- I + 1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END REPEAT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SET I &lt;- 0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REPEAT WHILE I &lt; N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     PRINT ARR[I]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     I &lt;- I + 1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END REPEAT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#35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4646100" y="656335"/>
            <a:ext cx="28998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400" b="1" dirty="0"/>
              <a:t>C Function</a:t>
            </a:r>
          </a:p>
        </p:txBody>
      </p:sp>
      <p:sp>
        <p:nvSpPr>
          <p:cNvPr id="6" name="Rectangle Code BG"/>
          <p:cNvSpPr/>
          <p:nvPr/>
        </p:nvSpPr>
        <p:spPr>
          <a:xfrm>
            <a:off x="1259789" y="1078000"/>
            <a:ext cx="9479766" cy="4702000"/>
          </a:xfrm>
          <a:prstGeom prst="rect">
            <a:avLst/>
          </a:prstGeom>
          <a:solidFill>
            <a:srgbClr val="1E1E1E"/>
          </a:solidFill>
          <a:effectLst>
            <a:outerShdw blurRad="127000" dist="38100" dir="2700000" rotWithShape="0">
              <a:srgbClr val="000000">
                <a:alpha val="35000"/>
              </a:srgbClr>
            </a:outerShdw>
          </a:effectLst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Code"/>
          <p:cNvSpPr txBox="1"/>
          <p:nvPr/>
        </p:nvSpPr>
        <p:spPr>
          <a:xfrm>
            <a:off x="1350000" y="1078000"/>
            <a:ext cx="9300000" cy="4662000"/>
          </a:xfrm>
          <a:prstGeom prst="rect">
            <a:avLst/>
          </a:prstGeom>
          <a:noFill/>
        </p:spPr>
        <p:txBody>
          <a:bodyPr wrap="square" lIns="91440" tIns="73152" rIns="91440" bIns="73152" rtlCol="0">
            <a:normAutofit fontScale="92500" lnSpcReduction="20000"/>
          </a:bodyPr>
          <a:lstStyle/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C586C0"/>
                </a:solidFill>
                <a:latin typeface="Consolas"/>
              </a:rPr>
              <a:t>#include &lt;stdio.h&gt;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C586C0"/>
                </a:solidFill>
                <a:latin typeface="Consolas"/>
              </a:rPr>
              <a:t>#include &lt;stdlib.h&gt;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1300" dirty="0">
              <a:latin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569CD6"/>
                </a:solidFill>
                <a:latin typeface="Consolas"/>
              </a:rPr>
              <a:t>void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main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() {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4EC9B0"/>
                </a:solidFill>
                <a:latin typeface="Consolas"/>
              </a:rPr>
              <a:t>int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n;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printf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CE9178"/>
                </a:solidFill>
                <a:latin typeface="Consolas"/>
              </a:rPr>
              <a:t>"Enter Size of Array : "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scanf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CE9178"/>
                </a:solidFill>
                <a:latin typeface="Consolas"/>
              </a:rPr>
              <a:t>"%d"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, &amp;n);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1300" dirty="0">
              <a:latin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4EC9B0"/>
                </a:solidFill>
                <a:latin typeface="Consolas"/>
              </a:rPr>
              <a:t>int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*arr = (</a:t>
            </a:r>
            <a:r>
              <a:rPr lang="en-US" sz="1300" dirty="0">
                <a:solidFill>
                  <a:srgbClr val="4EC9B0"/>
                </a:solidFill>
                <a:latin typeface="Consolas"/>
              </a:rPr>
              <a:t>int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*)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malloc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(n * </a:t>
            </a:r>
            <a:r>
              <a:rPr lang="en-US" sz="1300" dirty="0">
                <a:solidFill>
                  <a:srgbClr val="569CD6"/>
                </a:solidFill>
                <a:latin typeface="Consolas"/>
              </a:rPr>
              <a:t>sizeof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4EC9B0"/>
                </a:solidFill>
                <a:latin typeface="Consolas"/>
              </a:rPr>
              <a:t>int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));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1300" dirty="0">
              <a:latin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569CD6"/>
                </a:solidFill>
                <a:latin typeface="Consolas"/>
              </a:rPr>
              <a:t>if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(arr == NULL) {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printf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CE9178"/>
                </a:solidFill>
                <a:latin typeface="Consolas"/>
              </a:rPr>
              <a:t>"Memory Allocation Failed\n"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} </a:t>
            </a:r>
            <a:r>
              <a:rPr lang="en-US" sz="1300" dirty="0">
                <a:solidFill>
                  <a:srgbClr val="569CD6"/>
                </a:solidFill>
                <a:latin typeface="Consolas"/>
              </a:rPr>
              <a:t>else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{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printf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CE9178"/>
                </a:solidFill>
                <a:latin typeface="Consolas"/>
              </a:rPr>
              <a:t>"Enter Elements : \n"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300" dirty="0">
                <a:solidFill>
                  <a:srgbClr val="569CD6"/>
                </a:solidFill>
                <a:latin typeface="Consolas"/>
              </a:rPr>
              <a:t>for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sz="1300" dirty="0">
                <a:solidFill>
                  <a:srgbClr val="4EC9B0"/>
                </a:solidFill>
                <a:latin typeface="Consolas"/>
              </a:rPr>
              <a:t>int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i = </a:t>
            </a:r>
            <a:r>
              <a:rPr lang="en-US" sz="1300" dirty="0">
                <a:solidFill>
                  <a:srgbClr val="B5CEA8"/>
                </a:solidFill>
                <a:latin typeface="Consolas"/>
              </a:rPr>
              <a:t>0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; i &lt; n; i++) {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 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printf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CE9178"/>
                </a:solidFill>
                <a:latin typeface="Consolas"/>
              </a:rPr>
              <a:t>"Enter Element arr[%d] :"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, i);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 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scanf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CE9178"/>
                </a:solidFill>
                <a:latin typeface="Consolas"/>
              </a:rPr>
              <a:t>"%d"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, &amp;arr[i]);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1300" dirty="0">
              <a:latin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300" dirty="0">
                <a:solidFill>
                  <a:srgbClr val="569CD6"/>
                </a:solidFill>
                <a:latin typeface="Consolas"/>
              </a:rPr>
              <a:t>for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sz="1300" dirty="0">
                <a:solidFill>
                  <a:srgbClr val="4EC9B0"/>
                </a:solidFill>
                <a:latin typeface="Consolas"/>
              </a:rPr>
              <a:t>int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i = </a:t>
            </a:r>
            <a:r>
              <a:rPr lang="en-US" sz="1300" dirty="0">
                <a:solidFill>
                  <a:srgbClr val="B5CEA8"/>
                </a:solidFill>
                <a:latin typeface="Consolas"/>
              </a:rPr>
              <a:t>0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; i &lt; n; i++) {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 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printf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CE9178"/>
                </a:solidFill>
                <a:latin typeface="Consolas"/>
              </a:rPr>
              <a:t>"arr[%d] :%d \n"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, i, arr[i]);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free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(arr);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}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#36</a:t>
            </a:r>
            <a:endParaRPr lang="en-IN" dirty="0"/>
          </a:p>
        </p:txBody>
      </p:sp>
      <p:sp>
        <p:nvSpPr>
          <p:cNvPr id="20" name="Rectangle 19"/>
          <p:cNvSpPr/>
          <p:nvPr/>
        </p:nvSpPr>
        <p:spPr>
          <a:xfrm>
            <a:off x="7213044" y="1450000"/>
            <a:ext cx="4709019" cy="5100000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8" name="Content Placeholder 8"/>
          <p:cNvSpPr>
            <a:spLocks noGrp="1"/>
          </p:cNvSpPr>
          <p:nvPr>
            <p:ph idx="1"/>
          </p:nvPr>
        </p:nvSpPr>
        <p:spPr>
          <a:xfrm>
            <a:off x="131180" y="710000"/>
            <a:ext cx="11929641" cy="810000"/>
          </a:xfrm>
        </p:spPr>
        <p:txBody>
          <a:bodyPr/>
          <a:lstStyle/>
          <a:p>
            <a:r>
              <a:rPr lang="en-IN" sz="2200" dirty="0"/>
              <a:t>Write a program to </a:t>
            </a:r>
            <a:r>
              <a:rPr lang="en-IN" sz="2200" dirty="0">
                <a:solidFill>
                  <a:srgbClr val="FF0000"/>
                </a:solidFill>
              </a:rPr>
              <a:t>calculate the sum of n numbers</a:t>
            </a:r>
            <a:r>
              <a:rPr lang="en-IN" sz="2200" dirty="0"/>
              <a:t> using a </a:t>
            </a:r>
            <a:r>
              <a:rPr lang="en-IN" sz="2200" dirty="0">
                <a:solidFill>
                  <a:srgbClr val="FF0000"/>
                </a:solidFill>
              </a:rPr>
              <a:t>Pointer</a:t>
            </a:r>
            <a:r>
              <a:rPr lang="en-IN" sz="2200" dirty="0"/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08911" y="2000000"/>
            <a:ext cx="4337107" cy="44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Read size </a:t>
            </a:r>
            <a:r>
              <a:rPr lang="en-IN" sz="2400" dirty="0">
                <a:solidFill>
                  <a:srgbClr val="FF0000"/>
                </a:solidFill>
              </a:rPr>
              <a:t>n</a:t>
            </a:r>
            <a:r>
              <a:rPr lang="en-IN" sz="2400" dirty="0"/>
              <a:t> and allocate array using </a:t>
            </a:r>
            <a:r>
              <a:rPr lang="en-IN" sz="2400" dirty="0">
                <a:solidFill>
                  <a:srgbClr val="FF0000"/>
                </a:solidFill>
              </a:rPr>
              <a:t>malloc()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Read </a:t>
            </a:r>
            <a:r>
              <a:rPr lang="en-IN" sz="2400" dirty="0">
                <a:solidFill>
                  <a:srgbClr val="FF0000"/>
                </a:solidFill>
              </a:rPr>
              <a:t>n elements</a:t>
            </a:r>
            <a:r>
              <a:rPr lang="en-IN" sz="2400" dirty="0"/>
              <a:t> into the array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Initialize </a:t>
            </a:r>
            <a:r>
              <a:rPr lang="en-IN" sz="2400" dirty="0">
                <a:solidFill>
                  <a:srgbClr val="FF0000"/>
                </a:solidFill>
              </a:rPr>
              <a:t>sum = 0</a:t>
            </a:r>
            <a:r>
              <a:rPr lang="en-IN" sz="2400" dirty="0"/>
              <a:t> and pointer </a:t>
            </a:r>
            <a:r>
              <a:rPr lang="en-IN" sz="2400" dirty="0">
                <a:solidFill>
                  <a:srgbClr val="FF0000"/>
                </a:solidFill>
              </a:rPr>
              <a:t>ptr = arr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Traverse using </a:t>
            </a:r>
            <a:r>
              <a:rPr lang="en-IN" sz="2400" dirty="0">
                <a:solidFill>
                  <a:srgbClr val="FF0000"/>
                </a:solidFill>
              </a:rPr>
              <a:t>*(ptr + i)</a:t>
            </a:r>
            <a:r>
              <a:rPr lang="en-IN" sz="2400" dirty="0"/>
              <a:t> and add to sum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Print the </a:t>
            </a:r>
            <a:r>
              <a:rPr lang="en-IN" sz="2400" dirty="0">
                <a:solidFill>
                  <a:srgbClr val="FF0000"/>
                </a:solidFill>
              </a:rPr>
              <a:t>total sum</a:t>
            </a:r>
            <a:r>
              <a:rPr lang="en-IN" sz="2400" dirty="0"/>
              <a:t> and free the memory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1180" y="1620000"/>
            <a:ext cx="6932350" cy="170032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lvl="0"/>
            <a:r>
              <a:rPr lang="en-IN" sz="2400" b="1" u="sng" dirty="0"/>
              <a:t>INPUT: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Take </a:t>
            </a:r>
            <a:r>
              <a:rPr lang="en-IN" sz="2400" dirty="0">
                <a:solidFill>
                  <a:srgbClr val="FF0000"/>
                </a:solidFill>
              </a:rPr>
              <a:t>total elements ('size'/'n')</a:t>
            </a:r>
            <a:r>
              <a:rPr lang="en-IN" sz="2400" dirty="0"/>
              <a:t> from user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Take </a:t>
            </a:r>
            <a:r>
              <a:rPr lang="en-IN" sz="2400" dirty="0">
                <a:solidFill>
                  <a:srgbClr val="FF0000"/>
                </a:solidFill>
              </a:rPr>
              <a:t>array elements</a:t>
            </a:r>
            <a:r>
              <a:rPr lang="en-IN" sz="2400" dirty="0"/>
              <a:t> one by one from user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1180" y="3550000"/>
            <a:ext cx="6932350" cy="830997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lvl="0"/>
            <a:r>
              <a:rPr lang="en-IN" sz="2400" b="1" u="sng" dirty="0"/>
              <a:t>OUTPUT:</a:t>
            </a:r>
          </a:p>
          <a:p>
            <a:pPr lvl="0"/>
            <a:r>
              <a:rPr lang="en-IN" sz="2400" dirty="0"/>
              <a:t>Display the </a:t>
            </a:r>
            <a:r>
              <a:rPr lang="en-IN" sz="2400" dirty="0">
                <a:solidFill>
                  <a:srgbClr val="FF0000"/>
                </a:solidFill>
              </a:rPr>
              <a:t>sum of all elements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08911" y="1530000"/>
            <a:ext cx="37321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solidFill>
                  <a:srgbClr val="C00000"/>
                </a:solidFill>
              </a:rPr>
              <a:t>METHODOLOGY  INVOLVED: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#36</a:t>
            </a:r>
            <a:endParaRPr lang="en-IN" dirty="0"/>
          </a:p>
        </p:txBody>
      </p:sp>
      <p:sp>
        <p:nvSpPr>
          <p:cNvPr id="16" name="Content Placeholder 8"/>
          <p:cNvSpPr>
            <a:spLocks noGrp="1"/>
          </p:cNvSpPr>
          <p:nvPr>
            <p:ph idx="1"/>
          </p:nvPr>
        </p:nvSpPr>
        <p:spPr>
          <a:xfrm>
            <a:off x="131180" y="876144"/>
            <a:ext cx="11929641" cy="5590565"/>
          </a:xfrm>
        </p:spPr>
        <p:txBody>
          <a:bodyPr/>
          <a:lstStyle/>
          <a:p>
            <a:r>
              <a:rPr lang="en-IN" dirty="0"/>
              <a:t>Write a program to calculate the sum of n numbers using a Pointer.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71" y="1700000"/>
            <a:ext cx="5292808" cy="45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normAutofit/>
          </a:bodyPr>
          <a:lstStyle/>
          <a:p>
            <a:pPr>
              <a:lnSpc>
                <a:spcPct val="105000"/>
              </a:lnSpc>
              <a:spcBef>
                <a:spcPts val="200"/>
              </a:spcBef>
            </a:pPr>
            <a:r>
              <a:rPr lang="en-US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1. [Read n elements into array]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READ N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ARR &lt;- ADDRESS OF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       malloc(N * SIZE OF int)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SET I &lt;- 0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REPEAT WHILE I &lt; N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     READ ARR[I]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     I &lt;- I + 1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END REPEAT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6899" y="1238335"/>
            <a:ext cx="2452028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sz="2400" b="1" dirty="0"/>
              <a:t>Algorithm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13546" y="1700000"/>
            <a:ext cx="5292808" cy="45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normAutofit/>
          </a:bodyPr>
          <a:lstStyle/>
          <a:p>
            <a:pPr>
              <a:lnSpc>
                <a:spcPct val="105000"/>
              </a:lnSpc>
              <a:spcBef>
                <a:spcPts val="200"/>
              </a:spcBef>
            </a:pPr>
            <a:r>
              <a:rPr lang="en-US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2. [Sum using pointer arithmetic]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SET SUM &lt;- 0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PTR &lt;- ARR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SET I &lt;- 0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REPEAT WHILE I &lt; N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    SUM &lt;- SUM + *(PTR+I)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    I &lt;- I + 1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END REPEAT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lang="en-US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3. [Print the result]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PRINT SUM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#36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4549772" y="607503"/>
            <a:ext cx="28998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400" b="1" dirty="0"/>
              <a:t>C Function</a:t>
            </a:r>
          </a:p>
        </p:txBody>
      </p:sp>
      <p:sp>
        <p:nvSpPr>
          <p:cNvPr id="6" name="Rectangle Code BG"/>
          <p:cNvSpPr/>
          <p:nvPr/>
        </p:nvSpPr>
        <p:spPr>
          <a:xfrm>
            <a:off x="1259789" y="1010093"/>
            <a:ext cx="9479766" cy="4769907"/>
          </a:xfrm>
          <a:prstGeom prst="rect">
            <a:avLst/>
          </a:prstGeom>
          <a:solidFill>
            <a:srgbClr val="1E1E1E"/>
          </a:solidFill>
          <a:effectLst>
            <a:outerShdw blurRad="127000" dist="38100" dir="2700000" rotWithShape="0">
              <a:srgbClr val="000000">
                <a:alpha val="35000"/>
              </a:srgbClr>
            </a:outerShdw>
          </a:effectLst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Code"/>
          <p:cNvSpPr txBox="1"/>
          <p:nvPr/>
        </p:nvSpPr>
        <p:spPr>
          <a:xfrm>
            <a:off x="1350000" y="1078000"/>
            <a:ext cx="9300000" cy="4662000"/>
          </a:xfrm>
          <a:prstGeom prst="rect">
            <a:avLst/>
          </a:prstGeom>
          <a:noFill/>
        </p:spPr>
        <p:txBody>
          <a:bodyPr wrap="square" lIns="91440" tIns="73152" rIns="91440" bIns="73152" rtlCol="0">
            <a:normAutofit fontScale="77500" lnSpcReduction="20000"/>
          </a:bodyPr>
          <a:lstStyle/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C586C0"/>
                </a:solidFill>
                <a:latin typeface="Consolas"/>
              </a:rPr>
              <a:t>#include &lt;stdio.h&gt;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C586C0"/>
                </a:solidFill>
                <a:latin typeface="Consolas"/>
              </a:rPr>
              <a:t>#include &lt;stdlib.h&gt;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1300" dirty="0">
              <a:latin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569CD6"/>
                </a:solidFill>
                <a:latin typeface="Consolas"/>
              </a:rPr>
              <a:t>void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main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() {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4EC9B0"/>
                </a:solidFill>
                <a:latin typeface="Consolas"/>
              </a:rPr>
              <a:t>int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n;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printf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CE9178"/>
                </a:solidFill>
                <a:latin typeface="Consolas"/>
              </a:rPr>
              <a:t>"Enter Size of Array : "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scanf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CE9178"/>
                </a:solidFill>
                <a:latin typeface="Consolas"/>
              </a:rPr>
              <a:t>"%d"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, &amp;n);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1300" dirty="0">
              <a:latin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4EC9B0"/>
                </a:solidFill>
                <a:latin typeface="Consolas"/>
              </a:rPr>
              <a:t>int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*arr = (</a:t>
            </a:r>
            <a:r>
              <a:rPr lang="en-US" sz="1300" dirty="0">
                <a:solidFill>
                  <a:srgbClr val="4EC9B0"/>
                </a:solidFill>
                <a:latin typeface="Consolas"/>
              </a:rPr>
              <a:t>int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*)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malloc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(n * </a:t>
            </a:r>
            <a:r>
              <a:rPr lang="en-US" sz="1300" dirty="0">
                <a:solidFill>
                  <a:srgbClr val="569CD6"/>
                </a:solidFill>
                <a:latin typeface="Consolas"/>
              </a:rPr>
              <a:t>sizeof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4EC9B0"/>
                </a:solidFill>
                <a:latin typeface="Consolas"/>
              </a:rPr>
              <a:t>int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));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1300" dirty="0">
              <a:latin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569CD6"/>
                </a:solidFill>
                <a:latin typeface="Consolas"/>
              </a:rPr>
              <a:t>if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(arr == NULL) {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printf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CE9178"/>
                </a:solidFill>
                <a:latin typeface="Consolas"/>
              </a:rPr>
              <a:t>"Memory Allocation Failed\n"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} </a:t>
            </a:r>
            <a:r>
              <a:rPr lang="en-US" sz="1300" dirty="0">
                <a:solidFill>
                  <a:srgbClr val="569CD6"/>
                </a:solidFill>
                <a:latin typeface="Consolas"/>
              </a:rPr>
              <a:t>else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{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printf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CE9178"/>
                </a:solidFill>
                <a:latin typeface="Consolas"/>
              </a:rPr>
              <a:t>"Enter Elements"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300" dirty="0">
                <a:solidFill>
                  <a:srgbClr val="569CD6"/>
                </a:solidFill>
                <a:latin typeface="Consolas"/>
              </a:rPr>
              <a:t>for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sz="1300" dirty="0">
                <a:solidFill>
                  <a:srgbClr val="4EC9B0"/>
                </a:solidFill>
                <a:latin typeface="Consolas"/>
              </a:rPr>
              <a:t>int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i = </a:t>
            </a:r>
            <a:r>
              <a:rPr lang="en-US" sz="1300" dirty="0">
                <a:solidFill>
                  <a:srgbClr val="B5CEA8"/>
                </a:solidFill>
                <a:latin typeface="Consolas"/>
              </a:rPr>
              <a:t>0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; i &lt; n; i++) {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 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printf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CE9178"/>
                </a:solidFill>
                <a:latin typeface="Consolas"/>
              </a:rPr>
              <a:t>"Enter Element arr[%d] :"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, i);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 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scanf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CE9178"/>
                </a:solidFill>
                <a:latin typeface="Consolas"/>
              </a:rPr>
              <a:t>"%d"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, &amp;arr[i]);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1300" dirty="0">
              <a:latin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300" dirty="0">
                <a:solidFill>
                  <a:srgbClr val="4EC9B0"/>
                </a:solidFill>
                <a:latin typeface="Consolas"/>
              </a:rPr>
              <a:t>int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sum = </a:t>
            </a:r>
            <a:r>
              <a:rPr lang="en-US" sz="1300" dirty="0">
                <a:solidFill>
                  <a:srgbClr val="B5CEA8"/>
                </a:solidFill>
                <a:latin typeface="Consolas"/>
              </a:rPr>
              <a:t>0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300" dirty="0">
                <a:solidFill>
                  <a:srgbClr val="4EC9B0"/>
                </a:solidFill>
                <a:latin typeface="Consolas"/>
              </a:rPr>
              <a:t>int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*ptr = arr;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1300" dirty="0">
              <a:latin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300" dirty="0">
                <a:solidFill>
                  <a:srgbClr val="569CD6"/>
                </a:solidFill>
                <a:latin typeface="Consolas"/>
              </a:rPr>
              <a:t>for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sz="1300" dirty="0">
                <a:solidFill>
                  <a:srgbClr val="4EC9B0"/>
                </a:solidFill>
                <a:latin typeface="Consolas"/>
              </a:rPr>
              <a:t>int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i = </a:t>
            </a:r>
            <a:r>
              <a:rPr lang="en-US" sz="1300" dirty="0">
                <a:solidFill>
                  <a:srgbClr val="B5CEA8"/>
                </a:solidFill>
                <a:latin typeface="Consolas"/>
              </a:rPr>
              <a:t>0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; i &lt; n; i++) {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  sum += *(ptr + i);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1300" dirty="0">
              <a:latin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printf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CE9178"/>
                </a:solidFill>
                <a:latin typeface="Consolas"/>
              </a:rPr>
              <a:t>"sum of all Element : %d"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, sum);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free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(arr);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}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#37</a:t>
            </a:r>
            <a:endParaRPr lang="en-IN" dirty="0"/>
          </a:p>
        </p:txBody>
      </p:sp>
      <p:sp>
        <p:nvSpPr>
          <p:cNvPr id="20" name="Rectangle 19"/>
          <p:cNvSpPr/>
          <p:nvPr/>
        </p:nvSpPr>
        <p:spPr>
          <a:xfrm>
            <a:off x="7213044" y="1450000"/>
            <a:ext cx="4709019" cy="5100000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8" name="Content Placeholder 8"/>
          <p:cNvSpPr>
            <a:spLocks noGrp="1"/>
          </p:cNvSpPr>
          <p:nvPr>
            <p:ph idx="1"/>
          </p:nvPr>
        </p:nvSpPr>
        <p:spPr>
          <a:xfrm>
            <a:off x="131180" y="710000"/>
            <a:ext cx="11929641" cy="810000"/>
          </a:xfrm>
        </p:spPr>
        <p:txBody>
          <a:bodyPr/>
          <a:lstStyle/>
          <a:p>
            <a:r>
              <a:rPr lang="en-IN" sz="2200" dirty="0"/>
              <a:t>Write a program to find the </a:t>
            </a:r>
            <a:r>
              <a:rPr lang="en-IN" sz="2200" dirty="0">
                <a:solidFill>
                  <a:srgbClr val="FF0000"/>
                </a:solidFill>
              </a:rPr>
              <a:t>largest element</a:t>
            </a:r>
            <a:r>
              <a:rPr lang="en-IN" sz="2200" dirty="0"/>
              <a:t> in an array using a </a:t>
            </a:r>
            <a:r>
              <a:rPr lang="en-IN" sz="2200" dirty="0">
                <a:solidFill>
                  <a:srgbClr val="FF0000"/>
                </a:solidFill>
              </a:rPr>
              <a:t>Pointer</a:t>
            </a:r>
            <a:r>
              <a:rPr lang="en-IN" sz="2200" dirty="0"/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08911" y="2000000"/>
            <a:ext cx="4337107" cy="44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Read size </a:t>
            </a:r>
            <a:r>
              <a:rPr lang="en-IN" sz="2400" dirty="0">
                <a:solidFill>
                  <a:srgbClr val="FF0000"/>
                </a:solidFill>
              </a:rPr>
              <a:t>n</a:t>
            </a:r>
            <a:r>
              <a:rPr lang="en-IN" sz="2400" dirty="0"/>
              <a:t> and allocate array using </a:t>
            </a:r>
            <a:r>
              <a:rPr lang="en-IN" sz="2400" dirty="0">
                <a:solidFill>
                  <a:srgbClr val="FF0000"/>
                </a:solidFill>
              </a:rPr>
              <a:t>malloc()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Read </a:t>
            </a:r>
            <a:r>
              <a:rPr lang="en-IN" sz="2400" dirty="0">
                <a:solidFill>
                  <a:srgbClr val="FF0000"/>
                </a:solidFill>
              </a:rPr>
              <a:t>n elements</a:t>
            </a:r>
            <a:r>
              <a:rPr lang="en-IN" sz="2400" dirty="0"/>
              <a:t> into the array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Initialize </a:t>
            </a:r>
            <a:r>
              <a:rPr lang="en-IN" sz="2400" dirty="0">
                <a:solidFill>
                  <a:srgbClr val="FF0000"/>
                </a:solidFill>
              </a:rPr>
              <a:t>max</a:t>
            </a:r>
            <a:r>
              <a:rPr lang="en-IN" sz="2400" dirty="0"/>
              <a:t> with the first element </a:t>
            </a:r>
            <a:r>
              <a:rPr lang="en-IN" sz="2400" dirty="0">
                <a:solidFill>
                  <a:srgbClr val="FF0000"/>
                </a:solidFill>
              </a:rPr>
              <a:t>arr[0]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Traverse array; if </a:t>
            </a:r>
            <a:r>
              <a:rPr lang="en-IN" sz="2400" dirty="0">
                <a:solidFill>
                  <a:srgbClr val="FF0000"/>
                </a:solidFill>
              </a:rPr>
              <a:t>max &lt; arr[i]</a:t>
            </a:r>
            <a:r>
              <a:rPr lang="en-IN" sz="2400" dirty="0"/>
              <a:t>, update </a:t>
            </a:r>
            <a:r>
              <a:rPr lang="en-IN" sz="2400" dirty="0">
                <a:solidFill>
                  <a:srgbClr val="FF0000"/>
                </a:solidFill>
              </a:rPr>
              <a:t>max = arr[i]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Print the </a:t>
            </a:r>
            <a:r>
              <a:rPr lang="en-IN" sz="2400" dirty="0">
                <a:solidFill>
                  <a:srgbClr val="FF0000"/>
                </a:solidFill>
              </a:rPr>
              <a:t>largest element</a:t>
            </a:r>
            <a:r>
              <a:rPr lang="en-IN" sz="2400" dirty="0"/>
              <a:t> and free the memory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1180" y="1620000"/>
            <a:ext cx="6932350" cy="170032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lvl="0"/>
            <a:r>
              <a:rPr lang="en-IN" sz="2400" b="1" u="sng" dirty="0"/>
              <a:t>INPUT: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Take </a:t>
            </a:r>
            <a:r>
              <a:rPr lang="en-IN" sz="2400" dirty="0">
                <a:solidFill>
                  <a:srgbClr val="FF0000"/>
                </a:solidFill>
              </a:rPr>
              <a:t>total elements ('size'/'n')</a:t>
            </a:r>
            <a:r>
              <a:rPr lang="en-IN" sz="2400" dirty="0"/>
              <a:t> from user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Take </a:t>
            </a:r>
            <a:r>
              <a:rPr lang="en-IN" sz="2400" dirty="0">
                <a:solidFill>
                  <a:srgbClr val="FF0000"/>
                </a:solidFill>
              </a:rPr>
              <a:t>array elements</a:t>
            </a:r>
            <a:r>
              <a:rPr lang="en-IN" sz="2400" dirty="0"/>
              <a:t> one by one from user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1180" y="3550000"/>
            <a:ext cx="6932350" cy="830997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lvl="0"/>
            <a:r>
              <a:rPr lang="en-IN" sz="2400" b="1" u="sng" dirty="0"/>
              <a:t>OUTPUT:</a:t>
            </a:r>
          </a:p>
          <a:p>
            <a:pPr lvl="0"/>
            <a:r>
              <a:rPr lang="en-IN" sz="2400" dirty="0"/>
              <a:t>Display the </a:t>
            </a:r>
            <a:r>
              <a:rPr lang="en-IN" sz="2400" dirty="0">
                <a:solidFill>
                  <a:srgbClr val="FF0000"/>
                </a:solidFill>
              </a:rPr>
              <a:t>largest element</a:t>
            </a:r>
            <a:r>
              <a:rPr lang="en-IN" sz="2400" dirty="0"/>
              <a:t> in the array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08911" y="1530000"/>
            <a:ext cx="37321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solidFill>
                  <a:srgbClr val="C00000"/>
                </a:solidFill>
              </a:rPr>
              <a:t>METHODOLOGY  INVOLVED: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#37</a:t>
            </a:r>
            <a:endParaRPr lang="en-IN" dirty="0"/>
          </a:p>
        </p:txBody>
      </p:sp>
      <p:sp>
        <p:nvSpPr>
          <p:cNvPr id="16" name="Content Placeholder 8"/>
          <p:cNvSpPr>
            <a:spLocks noGrp="1"/>
          </p:cNvSpPr>
          <p:nvPr>
            <p:ph idx="1"/>
          </p:nvPr>
        </p:nvSpPr>
        <p:spPr>
          <a:xfrm>
            <a:off x="131180" y="876144"/>
            <a:ext cx="11929641" cy="5590565"/>
          </a:xfrm>
        </p:spPr>
        <p:txBody>
          <a:bodyPr/>
          <a:lstStyle/>
          <a:p>
            <a:r>
              <a:rPr lang="en-IN" dirty="0"/>
              <a:t>Write a program to find the largest element in an array using a Pointer.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71" y="1700000"/>
            <a:ext cx="5292808" cy="45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normAutofit/>
          </a:bodyPr>
          <a:lstStyle/>
          <a:p>
            <a:pPr>
              <a:lnSpc>
                <a:spcPct val="105000"/>
              </a:lnSpc>
              <a:spcBef>
                <a:spcPts val="200"/>
              </a:spcBef>
            </a:pPr>
            <a:r>
              <a:rPr lang="en-US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1. [Read n elements into array]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READ N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ARR &lt;- ADDRESS OF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       malloc(N * SIZE OF int)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SET I &lt;- 0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REPEAT WHILE I &lt; N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     READ ARR[I]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     I &lt;- I + 1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END REPEAT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6899" y="1304224"/>
            <a:ext cx="2452028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sz="2400" b="1" dirty="0"/>
              <a:t>Algorithm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13546" y="1700000"/>
            <a:ext cx="5292808" cy="45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normAutofit/>
          </a:bodyPr>
          <a:lstStyle/>
          <a:p>
            <a:pPr>
              <a:lnSpc>
                <a:spcPct val="105000"/>
              </a:lnSpc>
              <a:spcBef>
                <a:spcPts val="200"/>
              </a:spcBef>
            </a:pPr>
            <a:r>
              <a:rPr lang="en-US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2. [Scan for the largest value]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SET MAX &lt;- ARR[0]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SET I &lt;- 0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REPEAT WHILE I &lt; N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    IF MAX &lt; ARR[I]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    THEN MAX &lt;- ARR[I]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    I &lt;- I + 1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END REPEAT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lang="en-US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3. [Print the result]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PRINT MAX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#37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4646100" y="656336"/>
            <a:ext cx="28998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400" b="1" dirty="0"/>
              <a:t>C Function</a:t>
            </a:r>
          </a:p>
        </p:txBody>
      </p:sp>
      <p:sp>
        <p:nvSpPr>
          <p:cNvPr id="6" name="Rectangle Code BG"/>
          <p:cNvSpPr/>
          <p:nvPr/>
        </p:nvSpPr>
        <p:spPr>
          <a:xfrm>
            <a:off x="1259789" y="1118001"/>
            <a:ext cx="9479766" cy="4661999"/>
          </a:xfrm>
          <a:prstGeom prst="rect">
            <a:avLst/>
          </a:prstGeom>
          <a:solidFill>
            <a:srgbClr val="1E1E1E"/>
          </a:solidFill>
          <a:effectLst>
            <a:outerShdw blurRad="127000" dist="38100" dir="2700000" rotWithShape="0">
              <a:srgbClr val="000000">
                <a:alpha val="35000"/>
              </a:srgbClr>
            </a:outerShdw>
          </a:effectLst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Code"/>
          <p:cNvSpPr txBox="1"/>
          <p:nvPr/>
        </p:nvSpPr>
        <p:spPr>
          <a:xfrm>
            <a:off x="1259789" y="1118002"/>
            <a:ext cx="9479766" cy="4621998"/>
          </a:xfrm>
          <a:prstGeom prst="rect">
            <a:avLst/>
          </a:prstGeom>
          <a:noFill/>
        </p:spPr>
        <p:txBody>
          <a:bodyPr wrap="square" lIns="91440" tIns="73152" rIns="91440" bIns="73152" rtlCol="0">
            <a:noAutofit/>
          </a:bodyPr>
          <a:lstStyle/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rgbClr val="C586C0"/>
                </a:solidFill>
                <a:latin typeface="Consolas"/>
              </a:rPr>
              <a:t>#include &lt;stdio.h&gt;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rgbClr val="C586C0"/>
                </a:solidFill>
                <a:latin typeface="Consolas"/>
              </a:rPr>
              <a:t>#include &lt;stdlib.h&gt;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800" dirty="0">
              <a:latin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rgbClr val="569CD6"/>
                </a:solidFill>
                <a:latin typeface="Consolas"/>
              </a:rPr>
              <a:t>void</a:t>
            </a:r>
            <a:r>
              <a:rPr lang="en-US" sz="800" dirty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800" dirty="0">
                <a:solidFill>
                  <a:srgbClr val="DCDCAA"/>
                </a:solidFill>
                <a:latin typeface="Consolas"/>
              </a:rPr>
              <a:t>main</a:t>
            </a:r>
            <a:r>
              <a:rPr lang="en-US" sz="800" dirty="0">
                <a:solidFill>
                  <a:srgbClr val="D4D4D4"/>
                </a:solidFill>
                <a:latin typeface="Consolas"/>
              </a:rPr>
              <a:t>() {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800" dirty="0">
                <a:solidFill>
                  <a:srgbClr val="4EC9B0"/>
                </a:solidFill>
                <a:latin typeface="Consolas"/>
              </a:rPr>
              <a:t>int</a:t>
            </a:r>
            <a:r>
              <a:rPr lang="en-US" sz="800" dirty="0">
                <a:solidFill>
                  <a:srgbClr val="D4D4D4"/>
                </a:solidFill>
                <a:latin typeface="Consolas"/>
              </a:rPr>
              <a:t> n;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800" dirty="0">
                <a:solidFill>
                  <a:srgbClr val="DCDCAA"/>
                </a:solidFill>
                <a:latin typeface="Consolas"/>
              </a:rPr>
              <a:t>printf</a:t>
            </a:r>
            <a:r>
              <a:rPr lang="en-US" sz="8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800" dirty="0">
                <a:solidFill>
                  <a:srgbClr val="CE9178"/>
                </a:solidFill>
                <a:latin typeface="Consolas"/>
              </a:rPr>
              <a:t>"Enter Size of Array : "</a:t>
            </a:r>
            <a:r>
              <a:rPr lang="en-US" sz="800" dirty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800" dirty="0">
                <a:solidFill>
                  <a:srgbClr val="DCDCAA"/>
                </a:solidFill>
                <a:latin typeface="Consolas"/>
              </a:rPr>
              <a:t>scanf</a:t>
            </a:r>
            <a:r>
              <a:rPr lang="en-US" sz="8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800" dirty="0">
                <a:solidFill>
                  <a:srgbClr val="CE9178"/>
                </a:solidFill>
                <a:latin typeface="Consolas"/>
              </a:rPr>
              <a:t>"%d"</a:t>
            </a:r>
            <a:r>
              <a:rPr lang="en-US" sz="800" dirty="0">
                <a:solidFill>
                  <a:srgbClr val="D4D4D4"/>
                </a:solidFill>
                <a:latin typeface="Consolas"/>
              </a:rPr>
              <a:t>, &amp;n);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800" dirty="0">
              <a:latin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800" dirty="0">
                <a:solidFill>
                  <a:srgbClr val="4EC9B0"/>
                </a:solidFill>
                <a:latin typeface="Consolas"/>
              </a:rPr>
              <a:t>int</a:t>
            </a:r>
            <a:r>
              <a:rPr lang="en-US" sz="800" dirty="0">
                <a:solidFill>
                  <a:srgbClr val="D4D4D4"/>
                </a:solidFill>
                <a:latin typeface="Consolas"/>
              </a:rPr>
              <a:t> *arr = (</a:t>
            </a:r>
            <a:r>
              <a:rPr lang="en-US" sz="800" dirty="0">
                <a:solidFill>
                  <a:srgbClr val="4EC9B0"/>
                </a:solidFill>
                <a:latin typeface="Consolas"/>
              </a:rPr>
              <a:t>int</a:t>
            </a:r>
            <a:r>
              <a:rPr lang="en-US" sz="800" dirty="0">
                <a:solidFill>
                  <a:srgbClr val="D4D4D4"/>
                </a:solidFill>
                <a:latin typeface="Consolas"/>
              </a:rPr>
              <a:t> *) </a:t>
            </a:r>
            <a:r>
              <a:rPr lang="en-US" sz="800" dirty="0">
                <a:solidFill>
                  <a:srgbClr val="DCDCAA"/>
                </a:solidFill>
                <a:latin typeface="Consolas"/>
              </a:rPr>
              <a:t>malloc</a:t>
            </a:r>
            <a:r>
              <a:rPr lang="en-US" sz="800" dirty="0">
                <a:solidFill>
                  <a:srgbClr val="D4D4D4"/>
                </a:solidFill>
                <a:latin typeface="Consolas"/>
              </a:rPr>
              <a:t>(n * </a:t>
            </a:r>
            <a:r>
              <a:rPr lang="en-US" sz="800" dirty="0">
                <a:solidFill>
                  <a:srgbClr val="569CD6"/>
                </a:solidFill>
                <a:latin typeface="Consolas"/>
              </a:rPr>
              <a:t>sizeof</a:t>
            </a:r>
            <a:r>
              <a:rPr lang="en-US" sz="8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800" dirty="0">
                <a:solidFill>
                  <a:srgbClr val="4EC9B0"/>
                </a:solidFill>
                <a:latin typeface="Consolas"/>
              </a:rPr>
              <a:t>int</a:t>
            </a:r>
            <a:r>
              <a:rPr lang="en-US" sz="800" dirty="0">
                <a:solidFill>
                  <a:srgbClr val="D4D4D4"/>
                </a:solidFill>
                <a:latin typeface="Consolas"/>
              </a:rPr>
              <a:t>));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800" dirty="0">
              <a:latin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800" dirty="0">
                <a:solidFill>
                  <a:srgbClr val="569CD6"/>
                </a:solidFill>
                <a:latin typeface="Consolas"/>
              </a:rPr>
              <a:t>if</a:t>
            </a:r>
            <a:r>
              <a:rPr lang="en-US" sz="800" dirty="0">
                <a:solidFill>
                  <a:srgbClr val="D4D4D4"/>
                </a:solidFill>
                <a:latin typeface="Consolas"/>
              </a:rPr>
              <a:t> (arr == NULL) {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800" dirty="0">
                <a:solidFill>
                  <a:srgbClr val="DCDCAA"/>
                </a:solidFill>
                <a:latin typeface="Consolas"/>
              </a:rPr>
              <a:t>printf</a:t>
            </a:r>
            <a:r>
              <a:rPr lang="en-US" sz="8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800" dirty="0">
                <a:solidFill>
                  <a:srgbClr val="CE9178"/>
                </a:solidFill>
                <a:latin typeface="Consolas"/>
              </a:rPr>
              <a:t>"Memory Allocation Failed\n"</a:t>
            </a:r>
            <a:r>
              <a:rPr lang="en-US" sz="800" dirty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rgbClr val="D4D4D4"/>
                </a:solidFill>
                <a:latin typeface="Consolas"/>
              </a:rPr>
              <a:t>  } </a:t>
            </a:r>
            <a:r>
              <a:rPr lang="en-US" sz="800" dirty="0">
                <a:solidFill>
                  <a:srgbClr val="569CD6"/>
                </a:solidFill>
                <a:latin typeface="Consolas"/>
              </a:rPr>
              <a:t>else</a:t>
            </a:r>
            <a:r>
              <a:rPr lang="en-US" sz="800" dirty="0">
                <a:solidFill>
                  <a:srgbClr val="D4D4D4"/>
                </a:solidFill>
                <a:latin typeface="Consolas"/>
              </a:rPr>
              <a:t> {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800" dirty="0">
                <a:solidFill>
                  <a:srgbClr val="DCDCAA"/>
                </a:solidFill>
                <a:latin typeface="Consolas"/>
              </a:rPr>
              <a:t>printf</a:t>
            </a:r>
            <a:r>
              <a:rPr lang="en-US" sz="8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800" dirty="0">
                <a:solidFill>
                  <a:srgbClr val="CE9178"/>
                </a:solidFill>
                <a:latin typeface="Consolas"/>
              </a:rPr>
              <a:t>"Enter Elements"</a:t>
            </a:r>
            <a:r>
              <a:rPr lang="en-US" sz="800" dirty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800" dirty="0">
                <a:solidFill>
                  <a:srgbClr val="569CD6"/>
                </a:solidFill>
                <a:latin typeface="Consolas"/>
              </a:rPr>
              <a:t>for</a:t>
            </a:r>
            <a:r>
              <a:rPr lang="en-US" sz="800" dirty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sz="800" dirty="0">
                <a:solidFill>
                  <a:srgbClr val="4EC9B0"/>
                </a:solidFill>
                <a:latin typeface="Consolas"/>
              </a:rPr>
              <a:t>int</a:t>
            </a:r>
            <a:r>
              <a:rPr lang="en-US" sz="800" dirty="0">
                <a:solidFill>
                  <a:srgbClr val="D4D4D4"/>
                </a:solidFill>
                <a:latin typeface="Consolas"/>
              </a:rPr>
              <a:t> i = </a:t>
            </a:r>
            <a:r>
              <a:rPr lang="en-US" sz="800" dirty="0">
                <a:solidFill>
                  <a:srgbClr val="B5CEA8"/>
                </a:solidFill>
                <a:latin typeface="Consolas"/>
              </a:rPr>
              <a:t>0</a:t>
            </a:r>
            <a:r>
              <a:rPr lang="en-US" sz="800" dirty="0">
                <a:solidFill>
                  <a:srgbClr val="D4D4D4"/>
                </a:solidFill>
                <a:latin typeface="Consolas"/>
              </a:rPr>
              <a:t>; i &lt; n; i++) {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rgbClr val="D4D4D4"/>
                </a:solidFill>
                <a:latin typeface="Consolas"/>
              </a:rPr>
              <a:t>      </a:t>
            </a:r>
            <a:r>
              <a:rPr lang="en-US" sz="800" dirty="0">
                <a:solidFill>
                  <a:srgbClr val="DCDCAA"/>
                </a:solidFill>
                <a:latin typeface="Consolas"/>
              </a:rPr>
              <a:t>printf</a:t>
            </a:r>
            <a:r>
              <a:rPr lang="en-US" sz="8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800" dirty="0">
                <a:solidFill>
                  <a:srgbClr val="CE9178"/>
                </a:solidFill>
                <a:latin typeface="Consolas"/>
              </a:rPr>
              <a:t>"Enter Element arr[%d] :"</a:t>
            </a:r>
            <a:r>
              <a:rPr lang="en-US" sz="800" dirty="0">
                <a:solidFill>
                  <a:srgbClr val="D4D4D4"/>
                </a:solidFill>
                <a:latin typeface="Consolas"/>
              </a:rPr>
              <a:t>, i);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rgbClr val="D4D4D4"/>
                </a:solidFill>
                <a:latin typeface="Consolas"/>
              </a:rPr>
              <a:t>      </a:t>
            </a:r>
            <a:r>
              <a:rPr lang="en-US" sz="800" dirty="0">
                <a:solidFill>
                  <a:srgbClr val="DCDCAA"/>
                </a:solidFill>
                <a:latin typeface="Consolas"/>
              </a:rPr>
              <a:t>scanf</a:t>
            </a:r>
            <a:r>
              <a:rPr lang="en-US" sz="8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800" dirty="0">
                <a:solidFill>
                  <a:srgbClr val="CE9178"/>
                </a:solidFill>
                <a:latin typeface="Consolas"/>
              </a:rPr>
              <a:t>"%d"</a:t>
            </a:r>
            <a:r>
              <a:rPr lang="en-US" sz="800" dirty="0">
                <a:solidFill>
                  <a:srgbClr val="D4D4D4"/>
                </a:solidFill>
                <a:latin typeface="Consolas"/>
              </a:rPr>
              <a:t>, &amp;arr[i]);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800" dirty="0">
              <a:latin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800" dirty="0">
                <a:solidFill>
                  <a:srgbClr val="4EC9B0"/>
                </a:solidFill>
                <a:latin typeface="Consolas"/>
              </a:rPr>
              <a:t>int</a:t>
            </a:r>
            <a:r>
              <a:rPr lang="en-US" sz="800" dirty="0">
                <a:solidFill>
                  <a:srgbClr val="D4D4D4"/>
                </a:solidFill>
                <a:latin typeface="Consolas"/>
              </a:rPr>
              <a:t> max = arr[</a:t>
            </a:r>
            <a:r>
              <a:rPr lang="en-US" sz="800" dirty="0">
                <a:solidFill>
                  <a:srgbClr val="B5CEA8"/>
                </a:solidFill>
                <a:latin typeface="Consolas"/>
              </a:rPr>
              <a:t>0</a:t>
            </a:r>
            <a:r>
              <a:rPr lang="en-US" sz="800" dirty="0">
                <a:solidFill>
                  <a:srgbClr val="D4D4D4"/>
                </a:solidFill>
                <a:latin typeface="Consolas"/>
              </a:rPr>
              <a:t>];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800" dirty="0">
              <a:latin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800" dirty="0">
                <a:solidFill>
                  <a:srgbClr val="569CD6"/>
                </a:solidFill>
                <a:latin typeface="Consolas"/>
              </a:rPr>
              <a:t>for</a:t>
            </a:r>
            <a:r>
              <a:rPr lang="en-US" sz="800" dirty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sz="800" dirty="0">
                <a:solidFill>
                  <a:srgbClr val="4EC9B0"/>
                </a:solidFill>
                <a:latin typeface="Consolas"/>
              </a:rPr>
              <a:t>int</a:t>
            </a:r>
            <a:r>
              <a:rPr lang="en-US" sz="800" dirty="0">
                <a:solidFill>
                  <a:srgbClr val="D4D4D4"/>
                </a:solidFill>
                <a:latin typeface="Consolas"/>
              </a:rPr>
              <a:t> i = </a:t>
            </a:r>
            <a:r>
              <a:rPr lang="en-US" sz="800" dirty="0">
                <a:solidFill>
                  <a:srgbClr val="B5CEA8"/>
                </a:solidFill>
                <a:latin typeface="Consolas"/>
              </a:rPr>
              <a:t>0</a:t>
            </a:r>
            <a:r>
              <a:rPr lang="en-US" sz="800" dirty="0">
                <a:solidFill>
                  <a:srgbClr val="D4D4D4"/>
                </a:solidFill>
                <a:latin typeface="Consolas"/>
              </a:rPr>
              <a:t>; i &lt; n; i++) {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rgbClr val="D4D4D4"/>
                </a:solidFill>
                <a:latin typeface="Consolas"/>
              </a:rPr>
              <a:t>      </a:t>
            </a:r>
            <a:r>
              <a:rPr lang="en-US" sz="800" dirty="0">
                <a:solidFill>
                  <a:srgbClr val="569CD6"/>
                </a:solidFill>
                <a:latin typeface="Consolas"/>
              </a:rPr>
              <a:t>if</a:t>
            </a:r>
            <a:r>
              <a:rPr lang="en-US" sz="800" dirty="0">
                <a:solidFill>
                  <a:srgbClr val="D4D4D4"/>
                </a:solidFill>
                <a:latin typeface="Consolas"/>
              </a:rPr>
              <a:t> (max &lt; arr[i]) {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rgbClr val="D4D4D4"/>
                </a:solidFill>
                <a:latin typeface="Consolas"/>
              </a:rPr>
              <a:t>        max = arr[i];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rgbClr val="D4D4D4"/>
                </a:solidFill>
                <a:latin typeface="Consolas"/>
              </a:rPr>
              <a:t>      }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800" dirty="0">
              <a:latin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800" dirty="0">
                <a:solidFill>
                  <a:srgbClr val="DCDCAA"/>
                </a:solidFill>
                <a:latin typeface="Consolas"/>
              </a:rPr>
              <a:t>printf</a:t>
            </a:r>
            <a:r>
              <a:rPr lang="en-US" sz="8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800" dirty="0">
                <a:solidFill>
                  <a:srgbClr val="CE9178"/>
                </a:solidFill>
                <a:latin typeface="Consolas"/>
              </a:rPr>
              <a:t>"Largest Element : %d"</a:t>
            </a:r>
            <a:r>
              <a:rPr lang="en-US" sz="800" dirty="0">
                <a:solidFill>
                  <a:srgbClr val="D4D4D4"/>
                </a:solidFill>
                <a:latin typeface="Consolas"/>
              </a:rPr>
              <a:t>, max);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800" dirty="0">
                <a:solidFill>
                  <a:srgbClr val="DCDCAA"/>
                </a:solidFill>
                <a:latin typeface="Consolas"/>
              </a:rPr>
              <a:t>free</a:t>
            </a:r>
            <a:r>
              <a:rPr lang="en-US" sz="800" dirty="0">
                <a:solidFill>
                  <a:srgbClr val="D4D4D4"/>
                </a:solidFill>
                <a:latin typeface="Consolas"/>
              </a:rPr>
              <a:t>(arr);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rgbClr val="D4D4D4"/>
                </a:solidFill>
                <a:latin typeface="Consolas"/>
              </a:rPr>
              <a:t>  }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#38</a:t>
            </a:r>
            <a:endParaRPr lang="en-IN" dirty="0"/>
          </a:p>
        </p:txBody>
      </p:sp>
      <p:sp>
        <p:nvSpPr>
          <p:cNvPr id="20" name="Rectangle 19"/>
          <p:cNvSpPr/>
          <p:nvPr/>
        </p:nvSpPr>
        <p:spPr>
          <a:xfrm>
            <a:off x="7213044" y="1450000"/>
            <a:ext cx="4709019" cy="5100000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8" name="Content Placeholder 8"/>
          <p:cNvSpPr>
            <a:spLocks noGrp="1"/>
          </p:cNvSpPr>
          <p:nvPr>
            <p:ph idx="1"/>
          </p:nvPr>
        </p:nvSpPr>
        <p:spPr>
          <a:xfrm>
            <a:off x="131180" y="710000"/>
            <a:ext cx="11929641" cy="810000"/>
          </a:xfrm>
        </p:spPr>
        <p:txBody>
          <a:bodyPr/>
          <a:lstStyle/>
          <a:p>
            <a:r>
              <a:rPr lang="en-IN" sz="2200" dirty="0"/>
              <a:t>Write a program to </a:t>
            </a:r>
            <a:r>
              <a:rPr lang="en-IN" sz="2200" dirty="0">
                <a:solidFill>
                  <a:srgbClr val="FF0000"/>
                </a:solidFill>
              </a:rPr>
              <a:t>sort the array elements</a:t>
            </a:r>
            <a:r>
              <a:rPr lang="en-IN" sz="2200" dirty="0"/>
              <a:t> using a </a:t>
            </a:r>
            <a:r>
              <a:rPr lang="en-IN" sz="2200" dirty="0">
                <a:solidFill>
                  <a:srgbClr val="FF0000"/>
                </a:solidFill>
              </a:rPr>
              <a:t>Pointer (Bubble Sort)</a:t>
            </a:r>
            <a:r>
              <a:rPr lang="en-IN" sz="2200" dirty="0"/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08911" y="2000000"/>
            <a:ext cx="4337107" cy="44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Read size </a:t>
            </a:r>
            <a:r>
              <a:rPr lang="en-IN" sz="2400" dirty="0">
                <a:solidFill>
                  <a:srgbClr val="FF0000"/>
                </a:solidFill>
              </a:rPr>
              <a:t>n</a:t>
            </a:r>
            <a:r>
              <a:rPr lang="en-IN" sz="2400" dirty="0"/>
              <a:t> and allocate array using </a:t>
            </a:r>
            <a:r>
              <a:rPr lang="en-IN" sz="2400" dirty="0">
                <a:solidFill>
                  <a:srgbClr val="FF0000"/>
                </a:solidFill>
              </a:rPr>
              <a:t>malloc()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Read </a:t>
            </a:r>
            <a:r>
              <a:rPr lang="en-IN" sz="2400" dirty="0">
                <a:solidFill>
                  <a:srgbClr val="FF0000"/>
                </a:solidFill>
              </a:rPr>
              <a:t>n elements</a:t>
            </a:r>
            <a:r>
              <a:rPr lang="en-IN" sz="2400" dirty="0"/>
              <a:t> into the array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Apply </a:t>
            </a:r>
            <a:r>
              <a:rPr lang="en-IN" sz="2400" dirty="0">
                <a:solidFill>
                  <a:srgbClr val="FF0000"/>
                </a:solidFill>
              </a:rPr>
              <a:t>Bubble Sort</a:t>
            </a:r>
            <a:r>
              <a:rPr lang="en-IN" sz="2400" dirty="0"/>
              <a:t>: compare adjacent </a:t>
            </a:r>
            <a:r>
              <a:rPr lang="en-IN" sz="2400" dirty="0">
                <a:solidFill>
                  <a:srgbClr val="FF0000"/>
                </a:solidFill>
              </a:rPr>
              <a:t>arr[j], arr[j+1]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If </a:t>
            </a:r>
            <a:r>
              <a:rPr lang="en-IN" sz="2400" dirty="0">
                <a:solidFill>
                  <a:srgbClr val="FF0000"/>
                </a:solidFill>
              </a:rPr>
              <a:t>arr[j] &gt; arr[j+1]</a:t>
            </a:r>
            <a:r>
              <a:rPr lang="en-IN" sz="2400" dirty="0"/>
              <a:t>, swap using a temp variable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Print the </a:t>
            </a:r>
            <a:r>
              <a:rPr lang="en-IN" sz="2400" dirty="0">
                <a:solidFill>
                  <a:srgbClr val="FF0000"/>
                </a:solidFill>
              </a:rPr>
              <a:t>sorted array</a:t>
            </a:r>
            <a:r>
              <a:rPr lang="en-IN" sz="2400" dirty="0"/>
              <a:t> and free the memory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1180" y="1620000"/>
            <a:ext cx="6932350" cy="170032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lvl="0"/>
            <a:r>
              <a:rPr lang="en-IN" sz="2400" b="1" u="sng" dirty="0"/>
              <a:t>INPUT: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Take </a:t>
            </a:r>
            <a:r>
              <a:rPr lang="en-IN" sz="2400" dirty="0">
                <a:solidFill>
                  <a:srgbClr val="FF0000"/>
                </a:solidFill>
              </a:rPr>
              <a:t>total elements ('size'/'n')</a:t>
            </a:r>
            <a:r>
              <a:rPr lang="en-IN" sz="2400" dirty="0"/>
              <a:t> from user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Take </a:t>
            </a:r>
            <a:r>
              <a:rPr lang="en-IN" sz="2400" dirty="0">
                <a:solidFill>
                  <a:srgbClr val="FF0000"/>
                </a:solidFill>
              </a:rPr>
              <a:t>array elements</a:t>
            </a:r>
            <a:r>
              <a:rPr lang="en-IN" sz="2400" dirty="0"/>
              <a:t> one by one from user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1180" y="3550000"/>
            <a:ext cx="6932350" cy="830997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lvl="0"/>
            <a:r>
              <a:rPr lang="en-IN" sz="2400" b="1" u="sng" dirty="0"/>
              <a:t>OUTPUT:</a:t>
            </a:r>
          </a:p>
          <a:p>
            <a:pPr lvl="0"/>
            <a:r>
              <a:rPr lang="en-IN" sz="2400" dirty="0"/>
              <a:t>Display the </a:t>
            </a:r>
            <a:r>
              <a:rPr lang="en-IN" sz="2400" dirty="0">
                <a:solidFill>
                  <a:srgbClr val="FF0000"/>
                </a:solidFill>
              </a:rPr>
              <a:t>sorted array</a:t>
            </a:r>
            <a:r>
              <a:rPr lang="en-IN" sz="2400" dirty="0"/>
              <a:t> in ascending order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08911" y="1530000"/>
            <a:ext cx="37321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solidFill>
                  <a:srgbClr val="C00000"/>
                </a:solidFill>
              </a:rPr>
              <a:t>METHODOLOGY  INVOLVED: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#38</a:t>
            </a:r>
            <a:endParaRPr lang="en-IN" dirty="0"/>
          </a:p>
        </p:txBody>
      </p:sp>
      <p:sp>
        <p:nvSpPr>
          <p:cNvPr id="16" name="Content Placeholder 8"/>
          <p:cNvSpPr>
            <a:spLocks noGrp="1"/>
          </p:cNvSpPr>
          <p:nvPr>
            <p:ph idx="1"/>
          </p:nvPr>
        </p:nvSpPr>
        <p:spPr>
          <a:xfrm>
            <a:off x="131180" y="876144"/>
            <a:ext cx="11929641" cy="5590565"/>
          </a:xfrm>
        </p:spPr>
        <p:txBody>
          <a:bodyPr/>
          <a:lstStyle/>
          <a:p>
            <a:r>
              <a:rPr lang="en-IN" dirty="0"/>
              <a:t>Write a program to sort the array elements using a Pointer (Bubble Sort).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71" y="1700000"/>
            <a:ext cx="5292808" cy="45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normAutofit/>
          </a:bodyPr>
          <a:lstStyle/>
          <a:p>
            <a:pPr>
              <a:lnSpc>
                <a:spcPct val="105000"/>
              </a:lnSpc>
              <a:spcBef>
                <a:spcPts val="200"/>
              </a:spcBef>
            </a:pPr>
            <a:r>
              <a:rPr lang="en-US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1. [Read n elements into array]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READ N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ARR &lt;- ADDRESS OF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       malloc(N * SIZE OF int)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SET I &lt;- 0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REPEAT WHILE I &lt; N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     READ ARR[I]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     I &lt;- I + 1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END REPEAT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lang="en-US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2. [Bubble sort - outer pass]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SET I &lt;- 0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REPEAT WHILE I &lt; N-1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6899" y="1304224"/>
            <a:ext cx="2452028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sz="2400" b="1" dirty="0"/>
              <a:t>Algorithm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13546" y="1700000"/>
            <a:ext cx="5292808" cy="45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  SET J &lt;- 0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  REPEAT WHILE J &lt; N-I-1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     IF ARR[J] &gt; ARR[J+1]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     THEN SWAP ARR[J],ARR[J+1]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     J &lt;- J + 1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  END REPEAT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  I &lt;- I + 1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END REPEAT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lang="en-US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3. [Print sorted array]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PRINT ARR[0..N-1]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#38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4646100" y="656335"/>
            <a:ext cx="28998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400" b="1" dirty="0"/>
              <a:t>C Function</a:t>
            </a:r>
          </a:p>
        </p:txBody>
      </p:sp>
      <p:sp>
        <p:nvSpPr>
          <p:cNvPr id="6" name="Rectangle Code BG"/>
          <p:cNvSpPr/>
          <p:nvPr/>
        </p:nvSpPr>
        <p:spPr>
          <a:xfrm>
            <a:off x="1259789" y="1036674"/>
            <a:ext cx="9479766" cy="4743326"/>
          </a:xfrm>
          <a:prstGeom prst="rect">
            <a:avLst/>
          </a:prstGeom>
          <a:solidFill>
            <a:srgbClr val="1E1E1E"/>
          </a:solidFill>
          <a:effectLst>
            <a:outerShdw blurRad="127000" dist="38100" dir="2700000" rotWithShape="0">
              <a:srgbClr val="000000">
                <a:alpha val="35000"/>
              </a:srgbClr>
            </a:outerShdw>
          </a:effectLst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Code"/>
          <p:cNvSpPr txBox="1"/>
          <p:nvPr/>
        </p:nvSpPr>
        <p:spPr>
          <a:xfrm>
            <a:off x="1350000" y="1036674"/>
            <a:ext cx="9300000" cy="4703326"/>
          </a:xfrm>
          <a:prstGeom prst="rect">
            <a:avLst/>
          </a:prstGeom>
          <a:noFill/>
        </p:spPr>
        <p:txBody>
          <a:bodyPr wrap="square" lIns="91440" tIns="73152" rIns="91440" bIns="73152" rtlCol="0">
            <a:normAutofit fontScale="62500" lnSpcReduction="20000"/>
          </a:bodyPr>
          <a:lstStyle/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C586C0"/>
                </a:solidFill>
                <a:latin typeface="Consolas"/>
              </a:rPr>
              <a:t>#include &lt;stdio.h&gt;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C586C0"/>
                </a:solidFill>
                <a:latin typeface="Consolas"/>
              </a:rPr>
              <a:t>#include &lt;stdlib.h&gt;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1300" dirty="0">
              <a:latin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569CD6"/>
                </a:solidFill>
                <a:latin typeface="Consolas"/>
              </a:rPr>
              <a:t>void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main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() {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4EC9B0"/>
                </a:solidFill>
                <a:latin typeface="Consolas"/>
              </a:rPr>
              <a:t>int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n;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printf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CE9178"/>
                </a:solidFill>
                <a:latin typeface="Consolas"/>
              </a:rPr>
              <a:t>"Enter Size of Array : "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scanf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CE9178"/>
                </a:solidFill>
                <a:latin typeface="Consolas"/>
              </a:rPr>
              <a:t>"%d"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, &amp;n);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1300" dirty="0">
              <a:latin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4EC9B0"/>
                </a:solidFill>
                <a:latin typeface="Consolas"/>
              </a:rPr>
              <a:t>int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*arr = (</a:t>
            </a:r>
            <a:r>
              <a:rPr lang="en-US" sz="1300" dirty="0">
                <a:solidFill>
                  <a:srgbClr val="4EC9B0"/>
                </a:solidFill>
                <a:latin typeface="Consolas"/>
              </a:rPr>
              <a:t>int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*)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malloc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(n * </a:t>
            </a:r>
            <a:r>
              <a:rPr lang="en-US" sz="1300" dirty="0">
                <a:solidFill>
                  <a:srgbClr val="569CD6"/>
                </a:solidFill>
                <a:latin typeface="Consolas"/>
              </a:rPr>
              <a:t>sizeof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4EC9B0"/>
                </a:solidFill>
                <a:latin typeface="Consolas"/>
              </a:rPr>
              <a:t>int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));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569CD6"/>
                </a:solidFill>
                <a:latin typeface="Consolas"/>
              </a:rPr>
              <a:t>if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(arr == NULL) {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printf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CE9178"/>
                </a:solidFill>
                <a:latin typeface="Consolas"/>
              </a:rPr>
              <a:t>"Memory Allocation Failed"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300" dirty="0">
                <a:solidFill>
                  <a:srgbClr val="569CD6"/>
                </a:solidFill>
                <a:latin typeface="Consolas"/>
              </a:rPr>
              <a:t>return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}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1300" dirty="0">
              <a:latin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569CD6"/>
                </a:solidFill>
                <a:latin typeface="Consolas"/>
              </a:rPr>
              <a:t>for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sz="1300" dirty="0">
                <a:solidFill>
                  <a:srgbClr val="4EC9B0"/>
                </a:solidFill>
                <a:latin typeface="Consolas"/>
              </a:rPr>
              <a:t>int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i = </a:t>
            </a:r>
            <a:r>
              <a:rPr lang="en-US" sz="1300" dirty="0">
                <a:solidFill>
                  <a:srgbClr val="B5CEA8"/>
                </a:solidFill>
                <a:latin typeface="Consolas"/>
              </a:rPr>
              <a:t>0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; i &lt; n; i++) {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printf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CE9178"/>
                </a:solidFill>
                <a:latin typeface="Consolas"/>
              </a:rPr>
              <a:t>"Enter Element arr[%d] : "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, i);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scanf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CE9178"/>
                </a:solidFill>
                <a:latin typeface="Consolas"/>
              </a:rPr>
              <a:t>"%d"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, &amp;arr[i]);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}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1300" dirty="0">
              <a:latin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6A9955"/>
                </a:solidFill>
                <a:latin typeface="Consolas"/>
              </a:rPr>
              <a:t>// Bubble Sort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569CD6"/>
                </a:solidFill>
                <a:latin typeface="Consolas"/>
              </a:rPr>
              <a:t>for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sz="1300" dirty="0">
                <a:solidFill>
                  <a:srgbClr val="4EC9B0"/>
                </a:solidFill>
                <a:latin typeface="Consolas"/>
              </a:rPr>
              <a:t>int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i = </a:t>
            </a:r>
            <a:r>
              <a:rPr lang="en-US" sz="1300" dirty="0">
                <a:solidFill>
                  <a:srgbClr val="B5CEA8"/>
                </a:solidFill>
                <a:latin typeface="Consolas"/>
              </a:rPr>
              <a:t>0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; i &lt; n - </a:t>
            </a:r>
            <a:r>
              <a:rPr lang="en-US" sz="1300" dirty="0">
                <a:solidFill>
                  <a:srgbClr val="B5CEA8"/>
                </a:solidFill>
                <a:latin typeface="Consolas"/>
              </a:rPr>
              <a:t>1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; i++) {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300" dirty="0">
                <a:solidFill>
                  <a:srgbClr val="569CD6"/>
                </a:solidFill>
                <a:latin typeface="Consolas"/>
              </a:rPr>
              <a:t>for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sz="1300" dirty="0">
                <a:solidFill>
                  <a:srgbClr val="4EC9B0"/>
                </a:solidFill>
                <a:latin typeface="Consolas"/>
              </a:rPr>
              <a:t>int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j = </a:t>
            </a:r>
            <a:r>
              <a:rPr lang="en-US" sz="1300" dirty="0">
                <a:solidFill>
                  <a:srgbClr val="B5CEA8"/>
                </a:solidFill>
                <a:latin typeface="Consolas"/>
              </a:rPr>
              <a:t>0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; j &lt; n - i - </a:t>
            </a:r>
            <a:r>
              <a:rPr lang="en-US" sz="1300" dirty="0">
                <a:solidFill>
                  <a:srgbClr val="B5CEA8"/>
                </a:solidFill>
                <a:latin typeface="Consolas"/>
              </a:rPr>
              <a:t>1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; j++) {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  </a:t>
            </a:r>
            <a:r>
              <a:rPr lang="en-US" sz="1300" dirty="0">
                <a:solidFill>
                  <a:srgbClr val="569CD6"/>
                </a:solidFill>
                <a:latin typeface="Consolas"/>
              </a:rPr>
              <a:t>if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(arr[j] &gt; arr[j + </a:t>
            </a:r>
            <a:r>
              <a:rPr lang="en-US" sz="1300" dirty="0">
                <a:solidFill>
                  <a:srgbClr val="B5CEA8"/>
                </a:solidFill>
                <a:latin typeface="Consolas"/>
              </a:rPr>
              <a:t>1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]) {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    </a:t>
            </a:r>
            <a:r>
              <a:rPr lang="en-US" sz="1300" dirty="0">
                <a:solidFill>
                  <a:srgbClr val="4EC9B0"/>
                </a:solidFill>
                <a:latin typeface="Consolas"/>
              </a:rPr>
              <a:t>int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temp = arr[j];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    arr[j] = arr[j + </a:t>
            </a:r>
            <a:r>
              <a:rPr lang="en-US" sz="1300" dirty="0">
                <a:solidFill>
                  <a:srgbClr val="B5CEA8"/>
                </a:solidFill>
                <a:latin typeface="Consolas"/>
              </a:rPr>
              <a:t>1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];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    arr[j + </a:t>
            </a:r>
            <a:r>
              <a:rPr lang="en-US" sz="1300" dirty="0">
                <a:solidFill>
                  <a:srgbClr val="B5CEA8"/>
                </a:solidFill>
                <a:latin typeface="Consolas"/>
              </a:rPr>
              <a:t>1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] = temp;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  }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}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1300" dirty="0">
              <a:latin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printf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CE9178"/>
                </a:solidFill>
                <a:latin typeface="Consolas"/>
              </a:rPr>
              <a:t>"\nSorted Array:\n"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569CD6"/>
                </a:solidFill>
                <a:latin typeface="Consolas"/>
              </a:rPr>
              <a:t>for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sz="1300" dirty="0">
                <a:solidFill>
                  <a:srgbClr val="4EC9B0"/>
                </a:solidFill>
                <a:latin typeface="Consolas"/>
              </a:rPr>
              <a:t>int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i = </a:t>
            </a:r>
            <a:r>
              <a:rPr lang="en-US" sz="1300" dirty="0">
                <a:solidFill>
                  <a:srgbClr val="B5CEA8"/>
                </a:solidFill>
                <a:latin typeface="Consolas"/>
              </a:rPr>
              <a:t>0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; i &lt; n; i++) {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printf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CE9178"/>
                </a:solidFill>
                <a:latin typeface="Consolas"/>
              </a:rPr>
              <a:t>"%d "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, arr[i]);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}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1300" dirty="0">
              <a:latin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free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(arr);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#39</a:t>
            </a:r>
            <a:endParaRPr lang="en-IN" dirty="0"/>
          </a:p>
        </p:txBody>
      </p:sp>
      <p:sp>
        <p:nvSpPr>
          <p:cNvPr id="20" name="Rectangle 19"/>
          <p:cNvSpPr/>
          <p:nvPr/>
        </p:nvSpPr>
        <p:spPr>
          <a:xfrm>
            <a:off x="7213044" y="1450000"/>
            <a:ext cx="4709019" cy="5100000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8" name="Content Placeholder 8"/>
          <p:cNvSpPr>
            <a:spLocks noGrp="1"/>
          </p:cNvSpPr>
          <p:nvPr>
            <p:ph idx="1"/>
          </p:nvPr>
        </p:nvSpPr>
        <p:spPr>
          <a:xfrm>
            <a:off x="131180" y="710000"/>
            <a:ext cx="11929641" cy="810000"/>
          </a:xfrm>
        </p:spPr>
        <p:txBody>
          <a:bodyPr/>
          <a:lstStyle/>
          <a:p>
            <a:r>
              <a:rPr lang="en-IN" sz="2200" dirty="0"/>
              <a:t>Write a program to check whether a </a:t>
            </a:r>
            <a:r>
              <a:rPr lang="en-IN" sz="2200" dirty="0">
                <a:solidFill>
                  <a:srgbClr val="FF0000"/>
                </a:solidFill>
              </a:rPr>
              <a:t>string is a Palindrome</a:t>
            </a:r>
            <a:r>
              <a:rPr lang="en-IN" sz="2200" dirty="0"/>
              <a:t> or not using a </a:t>
            </a:r>
            <a:r>
              <a:rPr lang="en-IN" sz="2200" dirty="0">
                <a:solidFill>
                  <a:srgbClr val="FF0000"/>
                </a:solidFill>
              </a:rPr>
              <a:t>Pointer</a:t>
            </a:r>
            <a:r>
              <a:rPr lang="en-IN" sz="2200" dirty="0"/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08911" y="2000000"/>
            <a:ext cx="4337107" cy="44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Allocate memory for </a:t>
            </a:r>
            <a:r>
              <a:rPr lang="en-IN" sz="2400" dirty="0">
                <a:solidFill>
                  <a:srgbClr val="FF0000"/>
                </a:solidFill>
              </a:rPr>
              <a:t>str</a:t>
            </a:r>
            <a:r>
              <a:rPr lang="en-IN" sz="2400" dirty="0"/>
              <a:t> and </a:t>
            </a:r>
            <a:r>
              <a:rPr lang="en-IN" sz="2400" dirty="0">
                <a:solidFill>
                  <a:srgbClr val="FF0000"/>
                </a:solidFill>
              </a:rPr>
              <a:t>revstr</a:t>
            </a:r>
            <a:r>
              <a:rPr lang="en-IN" sz="2400" dirty="0"/>
              <a:t> using </a:t>
            </a:r>
            <a:r>
              <a:rPr lang="en-IN" sz="2400" dirty="0">
                <a:solidFill>
                  <a:srgbClr val="FF0000"/>
                </a:solidFill>
              </a:rPr>
              <a:t>malloc()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Read the input string into </a:t>
            </a:r>
            <a:r>
              <a:rPr lang="en-IN" sz="2400" dirty="0">
                <a:solidFill>
                  <a:srgbClr val="FF0000"/>
                </a:solidFill>
              </a:rPr>
              <a:t>str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Copy </a:t>
            </a:r>
            <a:r>
              <a:rPr lang="en-IN" sz="2400" dirty="0">
                <a:solidFill>
                  <a:srgbClr val="FF0000"/>
                </a:solidFill>
              </a:rPr>
              <a:t>str</a:t>
            </a:r>
            <a:r>
              <a:rPr lang="en-IN" sz="2400" dirty="0"/>
              <a:t> into </a:t>
            </a:r>
            <a:r>
              <a:rPr lang="en-IN" sz="2400" dirty="0">
                <a:solidFill>
                  <a:srgbClr val="FF0000"/>
                </a:solidFill>
              </a:rPr>
              <a:t>revstr</a:t>
            </a:r>
            <a:r>
              <a:rPr lang="en-IN" sz="2400" dirty="0"/>
              <a:t> and reverse it </a:t>
            </a:r>
            <a:r>
              <a:rPr lang="en-IN" sz="2400" dirty="0">
                <a:solidFill>
                  <a:srgbClr val="FF0000"/>
                </a:solidFill>
              </a:rPr>
              <a:t>(strrev)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Compare </a:t>
            </a:r>
            <a:r>
              <a:rPr lang="en-IN" sz="2400" dirty="0">
                <a:solidFill>
                  <a:srgbClr val="FF0000"/>
                </a:solidFill>
              </a:rPr>
              <a:t>str</a:t>
            </a:r>
            <a:r>
              <a:rPr lang="en-IN" sz="2400" dirty="0"/>
              <a:t> and </a:t>
            </a:r>
            <a:r>
              <a:rPr lang="en-IN" sz="2400" dirty="0">
                <a:solidFill>
                  <a:srgbClr val="FF0000"/>
                </a:solidFill>
              </a:rPr>
              <a:t>revstr</a:t>
            </a:r>
            <a:r>
              <a:rPr lang="en-IN" sz="2400" dirty="0"/>
              <a:t> using </a:t>
            </a:r>
            <a:r>
              <a:rPr lang="en-IN" sz="2400" dirty="0">
                <a:solidFill>
                  <a:srgbClr val="FF0000"/>
                </a:solidFill>
              </a:rPr>
              <a:t>strcmp()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If equal </a:t>
            </a:r>
            <a:r>
              <a:rPr lang="en-IN" sz="2400" dirty="0">
                <a:solidFill>
                  <a:srgbClr val="FF0000"/>
                </a:solidFill>
              </a:rPr>
              <a:t>(strcmp = 0)</a:t>
            </a:r>
            <a:r>
              <a:rPr lang="en-IN" sz="2400" dirty="0"/>
              <a:t>, it is a Palindrome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1180" y="1620000"/>
            <a:ext cx="6932350" cy="170032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lvl="0"/>
            <a:r>
              <a:rPr lang="en-IN" sz="2400" b="1" u="sng" dirty="0"/>
              <a:t>INPUT: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Take a </a:t>
            </a:r>
            <a:r>
              <a:rPr lang="en-IN" sz="2400" dirty="0">
                <a:solidFill>
                  <a:srgbClr val="FF0000"/>
                </a:solidFill>
              </a:rPr>
              <a:t>string (STR)</a:t>
            </a:r>
            <a:r>
              <a:rPr lang="en-IN" sz="2400" dirty="0"/>
              <a:t> from user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1180" y="3550000"/>
            <a:ext cx="6932350" cy="830997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lvl="0"/>
            <a:r>
              <a:rPr lang="en-IN" sz="2400" b="1" u="sng" dirty="0"/>
              <a:t>OUTPUT:</a:t>
            </a:r>
          </a:p>
          <a:p>
            <a:pPr lvl="0"/>
            <a:r>
              <a:rPr lang="en-IN" sz="2400" dirty="0"/>
              <a:t>Display whether the string </a:t>
            </a:r>
            <a:r>
              <a:rPr lang="en-IN" sz="2400" dirty="0">
                <a:solidFill>
                  <a:srgbClr val="FF0000"/>
                </a:solidFill>
              </a:rPr>
              <a:t>is or is not a Palindrome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08911" y="1530000"/>
            <a:ext cx="37321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solidFill>
                  <a:srgbClr val="C00000"/>
                </a:solidFill>
              </a:rPr>
              <a:t>METHODOLOGY  INVOLVED: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#39</a:t>
            </a:r>
            <a:endParaRPr lang="en-IN" dirty="0"/>
          </a:p>
        </p:txBody>
      </p:sp>
      <p:sp>
        <p:nvSpPr>
          <p:cNvPr id="16" name="Content Placeholder 8"/>
          <p:cNvSpPr>
            <a:spLocks noGrp="1"/>
          </p:cNvSpPr>
          <p:nvPr>
            <p:ph idx="1"/>
          </p:nvPr>
        </p:nvSpPr>
        <p:spPr>
          <a:xfrm>
            <a:off x="131180" y="876144"/>
            <a:ext cx="11929641" cy="5590565"/>
          </a:xfrm>
        </p:spPr>
        <p:txBody>
          <a:bodyPr/>
          <a:lstStyle/>
          <a:p>
            <a:r>
              <a:rPr lang="en-IN" dirty="0"/>
              <a:t>Write a program to check whether a string is a Palindrome or not using a Pointer.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71" y="1700000"/>
            <a:ext cx="5292808" cy="45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normAutofit/>
          </a:bodyPr>
          <a:lstStyle/>
          <a:p>
            <a:pPr>
              <a:lnSpc>
                <a:spcPct val="105000"/>
              </a:lnSpc>
              <a:spcBef>
                <a:spcPts val="200"/>
              </a:spcBef>
            </a:pPr>
            <a:r>
              <a:rPr lang="en-US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1. [Read string and copy it]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READ STR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REVSTR &lt;- COPY OF STR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lang="en-US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2. [Reverse the copy]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SET I &lt;- 0, J &lt;- LEN(STR)-1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REPEAT WHILE I &lt; J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  SWAP REVSTR[I],REVSTR[J]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  I &lt;- I + 1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  J &lt;- J - 1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END REPEAT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6899" y="1304224"/>
            <a:ext cx="2452028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sz="2400" b="1" dirty="0"/>
              <a:t>Algorithm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13546" y="1700000"/>
            <a:ext cx="5292808" cy="45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normAutofit/>
          </a:bodyPr>
          <a:lstStyle/>
          <a:p>
            <a:pPr>
              <a:lnSpc>
                <a:spcPct val="105000"/>
              </a:lnSpc>
              <a:spcBef>
                <a:spcPts val="200"/>
              </a:spcBef>
            </a:pPr>
            <a:r>
              <a:rPr lang="en-US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3. [Compare original and reversed]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IF STR = REVSTR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THEN PRINT "PALINDROME"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ELSE PRINT "NOT PALINDROME"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END IF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#39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4549772" y="656335"/>
            <a:ext cx="28998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400" b="1" dirty="0"/>
              <a:t>C Function</a:t>
            </a:r>
          </a:p>
        </p:txBody>
      </p:sp>
      <p:sp>
        <p:nvSpPr>
          <p:cNvPr id="6" name="Rectangle Code BG"/>
          <p:cNvSpPr/>
          <p:nvPr/>
        </p:nvSpPr>
        <p:spPr>
          <a:xfrm>
            <a:off x="1259789" y="1078000"/>
            <a:ext cx="9479766" cy="4702000"/>
          </a:xfrm>
          <a:prstGeom prst="rect">
            <a:avLst/>
          </a:prstGeom>
          <a:solidFill>
            <a:srgbClr val="1E1E1E"/>
          </a:solidFill>
          <a:effectLst>
            <a:outerShdw blurRad="127000" dist="38100" dir="2700000" rotWithShape="0">
              <a:srgbClr val="000000">
                <a:alpha val="35000"/>
              </a:srgbClr>
            </a:outerShdw>
          </a:effectLst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Code"/>
          <p:cNvSpPr txBox="1"/>
          <p:nvPr/>
        </p:nvSpPr>
        <p:spPr>
          <a:xfrm>
            <a:off x="1350000" y="1078000"/>
            <a:ext cx="9300000" cy="4662000"/>
          </a:xfrm>
          <a:prstGeom prst="rect">
            <a:avLst/>
          </a:prstGeom>
          <a:noFill/>
        </p:spPr>
        <p:txBody>
          <a:bodyPr wrap="square" lIns="91440" tIns="73152" rIns="91440" bIns="73152" rtlCol="0">
            <a:normAutofit fontScale="92500" lnSpcReduction="20000"/>
          </a:bodyPr>
          <a:lstStyle/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C586C0"/>
                </a:solidFill>
                <a:latin typeface="Consolas"/>
              </a:rPr>
              <a:t>#include &lt;stdio.h&gt;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C586C0"/>
                </a:solidFill>
                <a:latin typeface="Consolas"/>
              </a:rPr>
              <a:t>#include &lt;stdlib.h&gt;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C586C0"/>
                </a:solidFill>
                <a:latin typeface="Consolas"/>
              </a:rPr>
              <a:t>#include &lt;string.h&gt;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1300" dirty="0">
              <a:latin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569CD6"/>
                </a:solidFill>
                <a:latin typeface="Consolas"/>
              </a:rPr>
              <a:t>void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main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() {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4EC9B0"/>
                </a:solidFill>
                <a:latin typeface="Consolas"/>
              </a:rPr>
              <a:t>char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*str = (</a:t>
            </a:r>
            <a:r>
              <a:rPr lang="en-US" sz="1300" dirty="0">
                <a:solidFill>
                  <a:srgbClr val="4EC9B0"/>
                </a:solidFill>
                <a:latin typeface="Consolas"/>
              </a:rPr>
              <a:t>char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*)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malloc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B5CEA8"/>
                </a:solidFill>
                <a:latin typeface="Consolas"/>
              </a:rPr>
              <a:t>100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* </a:t>
            </a:r>
            <a:r>
              <a:rPr lang="en-US" sz="1300" dirty="0">
                <a:solidFill>
                  <a:srgbClr val="569CD6"/>
                </a:solidFill>
                <a:latin typeface="Consolas"/>
              </a:rPr>
              <a:t>sizeof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4EC9B0"/>
                </a:solidFill>
                <a:latin typeface="Consolas"/>
              </a:rPr>
              <a:t>char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));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4EC9B0"/>
                </a:solidFill>
                <a:latin typeface="Consolas"/>
              </a:rPr>
              <a:t>char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*revstr = (</a:t>
            </a:r>
            <a:r>
              <a:rPr lang="en-US" sz="1300" dirty="0">
                <a:solidFill>
                  <a:srgbClr val="4EC9B0"/>
                </a:solidFill>
                <a:latin typeface="Consolas"/>
              </a:rPr>
              <a:t>char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*)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malloc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B5CEA8"/>
                </a:solidFill>
                <a:latin typeface="Consolas"/>
              </a:rPr>
              <a:t>100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* </a:t>
            </a:r>
            <a:r>
              <a:rPr lang="en-US" sz="1300" dirty="0">
                <a:solidFill>
                  <a:srgbClr val="569CD6"/>
                </a:solidFill>
                <a:latin typeface="Consolas"/>
              </a:rPr>
              <a:t>sizeof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4EC9B0"/>
                </a:solidFill>
                <a:latin typeface="Consolas"/>
              </a:rPr>
              <a:t>char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));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1300" dirty="0">
              <a:latin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printf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CE9178"/>
                </a:solidFill>
                <a:latin typeface="Consolas"/>
              </a:rPr>
              <a:t>"Enter String : "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scanf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CE9178"/>
                </a:solidFill>
                <a:latin typeface="Consolas"/>
              </a:rPr>
              <a:t>"%s"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, str);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1300" dirty="0">
              <a:latin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569CD6"/>
                </a:solidFill>
                <a:latin typeface="Consolas"/>
              </a:rPr>
              <a:t>if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(str == NULL || revstr == NULL) {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printf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CE9178"/>
                </a:solidFill>
                <a:latin typeface="Consolas"/>
              </a:rPr>
              <a:t>"Memory Allocation Failed"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300" dirty="0">
                <a:solidFill>
                  <a:srgbClr val="569CD6"/>
                </a:solidFill>
                <a:latin typeface="Consolas"/>
              </a:rPr>
              <a:t>return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}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1300" dirty="0">
              <a:latin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strcpy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(revstr, str);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strrev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(revstr);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1300" dirty="0">
              <a:latin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569CD6"/>
                </a:solidFill>
                <a:latin typeface="Consolas"/>
              </a:rPr>
              <a:t>if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(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strcmp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(str, revstr) == </a:t>
            </a:r>
            <a:r>
              <a:rPr lang="en-US" sz="1300" dirty="0">
                <a:solidFill>
                  <a:srgbClr val="B5CEA8"/>
                </a:solidFill>
                <a:latin typeface="Consolas"/>
              </a:rPr>
              <a:t>0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) {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printf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CE9178"/>
                </a:solidFill>
                <a:latin typeface="Consolas"/>
              </a:rPr>
              <a:t>"%s Is Palindrome."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, str);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} </a:t>
            </a:r>
            <a:r>
              <a:rPr lang="en-US" sz="1300" dirty="0">
                <a:solidFill>
                  <a:srgbClr val="569CD6"/>
                </a:solidFill>
                <a:latin typeface="Consolas"/>
              </a:rPr>
              <a:t>else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{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printf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CE9178"/>
                </a:solidFill>
                <a:latin typeface="Consolas"/>
              </a:rPr>
              <a:t>"%s Is Not Palindrome."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, str);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}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#40</a:t>
            </a:r>
            <a:endParaRPr lang="en-IN" dirty="0"/>
          </a:p>
        </p:txBody>
      </p:sp>
      <p:sp>
        <p:nvSpPr>
          <p:cNvPr id="20" name="Rectangle 19"/>
          <p:cNvSpPr/>
          <p:nvPr/>
        </p:nvSpPr>
        <p:spPr>
          <a:xfrm>
            <a:off x="7213044" y="1450000"/>
            <a:ext cx="4709019" cy="5100000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8" name="Content Placeholder 8"/>
          <p:cNvSpPr>
            <a:spLocks noGrp="1"/>
          </p:cNvSpPr>
          <p:nvPr>
            <p:ph idx="1"/>
          </p:nvPr>
        </p:nvSpPr>
        <p:spPr>
          <a:xfrm>
            <a:off x="131180" y="710000"/>
            <a:ext cx="11929641" cy="810000"/>
          </a:xfrm>
        </p:spPr>
        <p:txBody>
          <a:bodyPr/>
          <a:lstStyle/>
          <a:p>
            <a:r>
              <a:rPr lang="en-IN" sz="2200" dirty="0"/>
              <a:t>Define a C </a:t>
            </a:r>
            <a:r>
              <a:rPr lang="en-IN" sz="2200" dirty="0">
                <a:solidFill>
                  <a:srgbClr val="FF0000"/>
                </a:solidFill>
              </a:rPr>
              <a:t>structure 'Student'</a:t>
            </a:r>
            <a:r>
              <a:rPr lang="en-IN" sz="2200" dirty="0"/>
              <a:t> and access its members using a </a:t>
            </a:r>
            <a:r>
              <a:rPr lang="en-IN" sz="2200" dirty="0">
                <a:solidFill>
                  <a:srgbClr val="FF0000"/>
                </a:solidFill>
              </a:rPr>
              <a:t>Pointer</a:t>
            </a:r>
            <a:r>
              <a:rPr lang="en-IN" sz="2200" dirty="0"/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08911" y="2000000"/>
            <a:ext cx="4337107" cy="44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Define </a:t>
            </a:r>
            <a:r>
              <a:rPr lang="en-IN" sz="2400" dirty="0">
                <a:solidFill>
                  <a:srgbClr val="FF0000"/>
                </a:solidFill>
              </a:rPr>
              <a:t>struct Student</a:t>
            </a:r>
            <a:r>
              <a:rPr lang="en-IN" sz="2400" dirty="0"/>
              <a:t> with roll_no, name, branch, batch_no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Declare variable </a:t>
            </a:r>
            <a:r>
              <a:rPr lang="en-IN" sz="2400" dirty="0">
                <a:solidFill>
                  <a:srgbClr val="FF0000"/>
                </a:solidFill>
              </a:rPr>
              <a:t>s1</a:t>
            </a:r>
            <a:r>
              <a:rPr lang="en-IN" sz="2400" dirty="0"/>
              <a:t> and pointer </a:t>
            </a:r>
            <a:r>
              <a:rPr lang="en-IN" sz="2400" dirty="0">
                <a:solidFill>
                  <a:srgbClr val="FF0000"/>
                </a:solidFill>
              </a:rPr>
              <a:t>ptr = &amp;s1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Read member values using </a:t>
            </a:r>
            <a:r>
              <a:rPr lang="en-IN" sz="2400" dirty="0">
                <a:solidFill>
                  <a:srgbClr val="FF0000"/>
                </a:solidFill>
              </a:rPr>
              <a:t>scanf()</a:t>
            </a:r>
            <a:r>
              <a:rPr lang="en-IN" sz="2400" dirty="0"/>
              <a:t> via </a:t>
            </a:r>
            <a:r>
              <a:rPr lang="en-IN" sz="2400" dirty="0">
                <a:solidFill>
                  <a:srgbClr val="FF0000"/>
                </a:solidFill>
              </a:rPr>
              <a:t>ptr-&gt;member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Print all details, again accessing via </a:t>
            </a:r>
            <a:r>
              <a:rPr lang="en-IN" sz="2400" dirty="0">
                <a:solidFill>
                  <a:srgbClr val="FF0000"/>
                </a:solidFill>
              </a:rPr>
              <a:t>ptr-&gt;member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1180" y="1620000"/>
            <a:ext cx="6932350" cy="170032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lvl="0"/>
            <a:r>
              <a:rPr lang="en-IN" sz="2400" b="1" u="sng" dirty="0"/>
              <a:t>INPUT: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Take </a:t>
            </a:r>
            <a:r>
              <a:rPr lang="en-IN" sz="2400" dirty="0">
                <a:solidFill>
                  <a:srgbClr val="FF0000"/>
                </a:solidFill>
              </a:rPr>
              <a:t>roll_no, name, branch, batch_no</a:t>
            </a:r>
            <a:r>
              <a:rPr lang="en-IN" sz="2400" dirty="0"/>
              <a:t> from user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1180" y="3550000"/>
            <a:ext cx="6932350" cy="830997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lvl="0"/>
            <a:r>
              <a:rPr lang="en-IN" sz="2400" b="1" u="sng" dirty="0"/>
              <a:t>OUTPUT:</a:t>
            </a:r>
          </a:p>
          <a:p>
            <a:pPr lvl="0"/>
            <a:r>
              <a:rPr lang="en-IN" sz="2400" dirty="0"/>
              <a:t>Display the </a:t>
            </a:r>
            <a:r>
              <a:rPr lang="en-IN" sz="2400" dirty="0">
                <a:solidFill>
                  <a:srgbClr val="FF0000"/>
                </a:solidFill>
              </a:rPr>
              <a:t>entered student 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08911" y="1530000"/>
            <a:ext cx="37321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solidFill>
                  <a:srgbClr val="C00000"/>
                </a:solidFill>
              </a:rPr>
              <a:t>METHODOLOGY  INVOLVED: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#40</a:t>
            </a:r>
            <a:endParaRPr lang="en-IN" dirty="0"/>
          </a:p>
        </p:txBody>
      </p:sp>
      <p:sp>
        <p:nvSpPr>
          <p:cNvPr id="16" name="Content Placeholder 8"/>
          <p:cNvSpPr>
            <a:spLocks noGrp="1"/>
          </p:cNvSpPr>
          <p:nvPr>
            <p:ph idx="1"/>
          </p:nvPr>
        </p:nvSpPr>
        <p:spPr>
          <a:xfrm>
            <a:off x="131180" y="876144"/>
            <a:ext cx="11929641" cy="5590565"/>
          </a:xfrm>
        </p:spPr>
        <p:txBody>
          <a:bodyPr/>
          <a:lstStyle/>
          <a:p>
            <a:r>
              <a:rPr lang="en-IN" dirty="0"/>
              <a:t>Define a C structure 'Student' and access its members using a Pointer.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71" y="1700000"/>
            <a:ext cx="5292808" cy="45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normAutofit/>
          </a:bodyPr>
          <a:lstStyle/>
          <a:p>
            <a:pPr>
              <a:lnSpc>
                <a:spcPct val="105000"/>
              </a:lnSpc>
              <a:spcBef>
                <a:spcPts val="200"/>
              </a:spcBef>
            </a:pPr>
            <a:r>
              <a:rPr lang="en-US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1. [Define structure and pointer]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STRUCT Student {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  roll_no, name,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  branch, batch_no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DECLARE s1, PTR &lt;- ADDR OF s1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6899" y="1238335"/>
            <a:ext cx="2452028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sz="2400" b="1" dirty="0"/>
              <a:t>Algorithm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13546" y="1700000"/>
            <a:ext cx="5292808" cy="45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normAutofit/>
          </a:bodyPr>
          <a:lstStyle/>
          <a:p>
            <a:pPr>
              <a:lnSpc>
                <a:spcPct val="105000"/>
              </a:lnSpc>
              <a:spcBef>
                <a:spcPts val="200"/>
              </a:spcBef>
            </a:pPr>
            <a:r>
              <a:rPr lang="en-US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2. [Read and print via pointer]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READ PTR-&gt;roll_no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READ PTR-&gt;name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READ PTR-&gt;branch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READ PTR-&gt;batch_no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endParaRPr lang="en-US" sz="2000" dirty="0">
              <a:latin typeface="Consolas" pitchFamily="49" charset="0"/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PRINT PTR-&gt;roll_no, PTR-&gt;name,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      PTR-&gt;branch, PTR-&gt;batch_no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#40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4646100" y="656335"/>
            <a:ext cx="28998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400" b="1" dirty="0"/>
              <a:t>C Function</a:t>
            </a:r>
          </a:p>
        </p:txBody>
      </p:sp>
      <p:sp>
        <p:nvSpPr>
          <p:cNvPr id="6" name="Rectangle Code BG"/>
          <p:cNvSpPr/>
          <p:nvPr/>
        </p:nvSpPr>
        <p:spPr>
          <a:xfrm>
            <a:off x="1259789" y="1031358"/>
            <a:ext cx="9479766" cy="4748642"/>
          </a:xfrm>
          <a:prstGeom prst="rect">
            <a:avLst/>
          </a:prstGeom>
          <a:solidFill>
            <a:srgbClr val="1E1E1E"/>
          </a:solidFill>
          <a:effectLst>
            <a:outerShdw blurRad="127000" dist="38100" dir="2700000" rotWithShape="0">
              <a:srgbClr val="000000">
                <a:alpha val="35000"/>
              </a:srgbClr>
            </a:outerShdw>
          </a:effectLst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Code"/>
          <p:cNvSpPr txBox="1"/>
          <p:nvPr/>
        </p:nvSpPr>
        <p:spPr>
          <a:xfrm>
            <a:off x="1350000" y="1031358"/>
            <a:ext cx="9300000" cy="4708642"/>
          </a:xfrm>
          <a:prstGeom prst="rect">
            <a:avLst/>
          </a:prstGeom>
          <a:noFill/>
        </p:spPr>
        <p:txBody>
          <a:bodyPr wrap="square" lIns="91440" tIns="73152" rIns="91440" bIns="73152" rtlCol="0">
            <a:normAutofit fontScale="70000" lnSpcReduction="20000"/>
          </a:bodyPr>
          <a:lstStyle/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C586C0"/>
                </a:solidFill>
                <a:latin typeface="Consolas"/>
              </a:rPr>
              <a:t>#include &lt;stdio.h&gt;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C586C0"/>
                </a:solidFill>
                <a:latin typeface="Consolas"/>
              </a:rPr>
              <a:t>#include &lt;stdlib.h&gt;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C586C0"/>
                </a:solidFill>
                <a:latin typeface="Consolas"/>
              </a:rPr>
              <a:t>#include &lt;string.h&gt;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1300" dirty="0">
              <a:latin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569CD6"/>
                </a:solidFill>
                <a:latin typeface="Consolas"/>
              </a:rPr>
              <a:t>struct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Student {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4EC9B0"/>
                </a:solidFill>
                <a:latin typeface="Consolas"/>
              </a:rPr>
              <a:t>int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roll_no;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4EC9B0"/>
                </a:solidFill>
                <a:latin typeface="Consolas"/>
              </a:rPr>
              <a:t>char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name[</a:t>
            </a:r>
            <a:r>
              <a:rPr lang="en-US" sz="1300" dirty="0">
                <a:solidFill>
                  <a:srgbClr val="B5CEA8"/>
                </a:solidFill>
                <a:latin typeface="Consolas"/>
              </a:rPr>
              <a:t>50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];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4EC9B0"/>
                </a:solidFill>
                <a:latin typeface="Consolas"/>
              </a:rPr>
              <a:t>char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branch[</a:t>
            </a:r>
            <a:r>
              <a:rPr lang="en-US" sz="1300" dirty="0">
                <a:solidFill>
                  <a:srgbClr val="B5CEA8"/>
                </a:solidFill>
                <a:latin typeface="Consolas"/>
              </a:rPr>
              <a:t>50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];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4EC9B0"/>
                </a:solidFill>
                <a:latin typeface="Consolas"/>
              </a:rPr>
              <a:t>int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batch_no;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};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1300" dirty="0">
              <a:latin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569CD6"/>
                </a:solidFill>
                <a:latin typeface="Consolas"/>
              </a:rPr>
              <a:t>void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main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() {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569CD6"/>
                </a:solidFill>
                <a:latin typeface="Consolas"/>
              </a:rPr>
              <a:t>struct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Student s1;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569CD6"/>
                </a:solidFill>
                <a:latin typeface="Consolas"/>
              </a:rPr>
              <a:t>struct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Student *ptr = &amp;s1;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1300" dirty="0">
              <a:latin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printf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CE9178"/>
                </a:solidFill>
                <a:latin typeface="Consolas"/>
              </a:rPr>
              <a:t>"Enter s1 RollNumber : \n"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scanf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CE9178"/>
                </a:solidFill>
                <a:latin typeface="Consolas"/>
              </a:rPr>
              <a:t>"%d"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, &amp;ptr-&gt;roll_no);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1300" dirty="0">
              <a:latin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printf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CE9178"/>
                </a:solidFill>
                <a:latin typeface="Consolas"/>
              </a:rPr>
              <a:t>"Enter s1 Name : \n"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scanf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CE9178"/>
                </a:solidFill>
                <a:latin typeface="Consolas"/>
              </a:rPr>
              <a:t>" %[^\n]s"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, ptr-&gt;name);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1300" dirty="0">
              <a:latin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printf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CE9178"/>
                </a:solidFill>
                <a:latin typeface="Consolas"/>
              </a:rPr>
              <a:t>"Enter s1 Branch : \n"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scanf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CE9178"/>
                </a:solidFill>
                <a:latin typeface="Consolas"/>
              </a:rPr>
              <a:t>" %[^\n]s"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, ptr-&gt;branch);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1300" dirty="0">
              <a:latin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printf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CE9178"/>
                </a:solidFill>
                <a:latin typeface="Consolas"/>
              </a:rPr>
              <a:t>"Enter s1 BatchNo : \n\n"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scanf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CE9178"/>
                </a:solidFill>
                <a:latin typeface="Consolas"/>
              </a:rPr>
              <a:t>"%d"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, &amp;ptr-&gt;batch_no);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1300" dirty="0">
              <a:latin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printf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CE9178"/>
                </a:solidFill>
                <a:latin typeface="Consolas"/>
              </a:rPr>
              <a:t>"Entered Detail : \n"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printf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CE9178"/>
                </a:solidFill>
                <a:latin typeface="Consolas"/>
              </a:rPr>
              <a:t>"RollNumber : %d\nName : %s\n"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     </a:t>
            </a:r>
            <a:r>
              <a:rPr lang="en-US" sz="1300" dirty="0">
                <a:solidFill>
                  <a:srgbClr val="CE9178"/>
                </a:solidFill>
                <a:latin typeface="Consolas"/>
              </a:rPr>
              <a:t>"Branch : %s\nBatchNo : %d"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,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     ptr-&gt;roll_no, ptr-&gt;name,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     ptr-&gt;branch, ptr-&gt;batch_no);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pradyuman.jadeja@darshan.ac.in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+91 9879461848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Dr. Pradyuman U. Jadeja</a:t>
            </a:r>
          </a:p>
        </p:txBody>
      </p:sp>
      <p:sp>
        <p:nvSpPr>
          <p:cNvPr id="9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2400" b="1" dirty="0"/>
              <a:t>Pointers &amp; Structures</a:t>
            </a:r>
            <a:endParaRPr lang="en-US" sz="2400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Placeholder 7">
            <a:extLst>
              <a:ext uri="{FF2B5EF4-FFF2-40B4-BE49-F238E27FC236}">
                <a16:creationId xmlns:a16="http://schemas.microsoft.com/office/drawing/2014/main" id="{B5C1F48F-F81B-E855-0507-9B882B986D9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5180" y="5218798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21059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3268</TotalTime>
  <Words>3379</Words>
  <Application>Microsoft Office PowerPoint</Application>
  <PresentationFormat>Widescreen</PresentationFormat>
  <Paragraphs>527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Calibri</vt:lpstr>
      <vt:lpstr>Wingdings 3</vt:lpstr>
      <vt:lpstr>Wingdings</vt:lpstr>
      <vt:lpstr>Consolas</vt:lpstr>
      <vt:lpstr>Roboto Condensed</vt:lpstr>
      <vt:lpstr>Arial</vt:lpstr>
      <vt:lpstr>Roboto Condensed Light</vt:lpstr>
      <vt:lpstr>Office Theme</vt:lpstr>
      <vt:lpstr>Lab 6 : Pointers &amp; Structures </vt:lpstr>
      <vt:lpstr>Basic Concept of Pointers</vt:lpstr>
      <vt:lpstr>Basic Concept of Structures</vt:lpstr>
      <vt:lpstr>Program #34</vt:lpstr>
      <vt:lpstr>Program #34</vt:lpstr>
      <vt:lpstr>Program #34</vt:lpstr>
      <vt:lpstr>Program #35</vt:lpstr>
      <vt:lpstr>Program #35</vt:lpstr>
      <vt:lpstr>Program #35</vt:lpstr>
      <vt:lpstr>Program #36</vt:lpstr>
      <vt:lpstr>Program #36</vt:lpstr>
      <vt:lpstr>Program #36</vt:lpstr>
      <vt:lpstr>Program #37</vt:lpstr>
      <vt:lpstr>Program #37</vt:lpstr>
      <vt:lpstr>Program #37</vt:lpstr>
      <vt:lpstr>Program #38</vt:lpstr>
      <vt:lpstr>Program #38</vt:lpstr>
      <vt:lpstr>Program #38</vt:lpstr>
      <vt:lpstr>Program #39</vt:lpstr>
      <vt:lpstr>Program #39</vt:lpstr>
      <vt:lpstr>Program #39</vt:lpstr>
      <vt:lpstr>Program #40</vt:lpstr>
      <vt:lpstr>Program #40</vt:lpstr>
      <vt:lpstr>Program #40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Unit-1 (Part 1) Introduction to Data Structure</dc:title>
  <dc:creator>ADMIN</dc:creator>
  <cp:keywords>Unit-1 (Part 1) Introduction to Data Structure</cp:keywords>
  <cp:lastModifiedBy>Vibhu Shihora</cp:lastModifiedBy>
  <cp:revision>339</cp:revision>
  <dcterms:created xsi:type="dcterms:W3CDTF">2020-05-01T05:09:15Z</dcterms:created>
  <dcterms:modified xsi:type="dcterms:W3CDTF">2026-06-20T16:17:48Z</dcterms:modified>
  <cp:category>Unit-1 (Part 1) Introduction to Data Structure</cp:category>
</cp:coreProperties>
</file>