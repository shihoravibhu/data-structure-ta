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415" r:id="rId2"/>
    <p:sldId id="416" r:id="rId3"/>
    <p:sldId id="430" r:id="rId4"/>
    <p:sldId id="422" r:id="rId5"/>
    <p:sldId id="431" r:id="rId6"/>
    <p:sldId id="417" r:id="rId7"/>
    <p:sldId id="423" r:id="rId8"/>
    <p:sldId id="432" r:id="rId9"/>
    <p:sldId id="418" r:id="rId10"/>
    <p:sldId id="424" r:id="rId11"/>
    <p:sldId id="433" r:id="rId12"/>
    <p:sldId id="419" r:id="rId13"/>
    <p:sldId id="425" r:id="rId14"/>
    <p:sldId id="434" r:id="rId15"/>
    <p:sldId id="420" r:id="rId16"/>
    <p:sldId id="427" r:id="rId17"/>
    <p:sldId id="435" r:id="rId18"/>
    <p:sldId id="421" r:id="rId19"/>
    <p:sldId id="426" r:id="rId20"/>
    <p:sldId id="436" r:id="rId21"/>
    <p:sldId id="428" r:id="rId22"/>
    <p:sldId id="429" r:id="rId23"/>
    <p:sldId id="344" r:id="rId24"/>
  </p:sldIdLst>
  <p:sldSz cx="12192000" cy="6858000"/>
  <p:notesSz cx="6858000" cy="9144000"/>
  <p:embeddedFontLst>
    <p:embeddedFont>
      <p:font typeface="Consolas" panose="020B0609020204030204" pitchFamily="49" charset="0"/>
      <p:regular r:id="rId27"/>
      <p:bold r:id="rId28"/>
      <p:italic r:id="rId29"/>
      <p:boldItalic r:id="rId30"/>
    </p:embeddedFont>
    <p:embeddedFont>
      <p:font typeface="Roboto Condensed" panose="02000000000000000000" pitchFamily="2" charset="0"/>
      <p:regular r:id="rId31"/>
      <p:bold r:id="rId32"/>
      <p:italic r:id="rId33"/>
      <p:boldItalic r:id="rId34"/>
    </p:embeddedFont>
    <p:embeddedFont>
      <p:font typeface="Roboto Condensed Light" panose="02000000000000000000" pitchFamily="2" charset="0"/>
      <p:regular r:id="rId35"/>
      <p:italic r:id="rId36"/>
    </p:embeddedFont>
    <p:embeddedFont>
      <p:font typeface="Wingdings 3" panose="05040102010807070707" pitchFamily="18" charset="2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1" clrIdx="0">
    <p:extLst>
      <p:ext uri="{19B8F6BF-5375-455C-9EA6-DF929625EA0E}">
        <p15:presenceInfo xmlns:p15="http://schemas.microsoft.com/office/powerpoint/2012/main" userId="LENOV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B71B1C"/>
    <a:srgbClr val="FFFFFF"/>
    <a:srgbClr val="9A3A3A"/>
    <a:srgbClr val="1D3064"/>
    <a:srgbClr val="F54337"/>
    <a:srgbClr val="ED524F"/>
    <a:srgbClr val="3366FF"/>
    <a:srgbClr val="301B92"/>
    <a:srgbClr val="673B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21" autoAdjust="0"/>
    <p:restoredTop sz="94660"/>
  </p:normalViewPr>
  <p:slideViewPr>
    <p:cSldViewPr snapToGrid="0">
      <p:cViewPr varScale="1">
        <p:scale>
          <a:sx n="89" d="100"/>
          <a:sy n="89" d="100"/>
        </p:scale>
        <p:origin x="59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4" d="100"/>
          <a:sy n="54" d="100"/>
        </p:scale>
        <p:origin x="1944" y="4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7.fntdata"/><Relationship Id="rId38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87FD0-6366-498E-B5AA-8D5EAADA1318}" type="datetimeFigureOut">
              <a:rPr lang="en-IN" smtClean="0"/>
              <a:t>17-06-26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D5F676-4FC3-4D3C-BE37-3352AFB195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425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microsoft.com/office/2007/relationships/hdphoto" Target="../media/hdphoto2.wdp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1.png"/><Relationship Id="rId9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1.png"/><Relationship Id="rId9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1.png"/><Relationship Id="rId9" Type="http://schemas.microsoft.com/office/2007/relationships/hdphoto" Target="../media/hdphoto1.wdp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1.png"/><Relationship Id="rId9" Type="http://schemas.microsoft.com/office/2007/relationships/hdphoto" Target="../media/hdphoto1.wdp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1.png"/><Relationship Id="rId9" Type="http://schemas.microsoft.com/office/2007/relationships/hdphoto" Target="../media/hdphoto1.wdp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1.png"/><Relationship Id="rId9" Type="http://schemas.microsoft.com/office/2007/relationships/hdphoto" Target="../media/hdphoto1.wdp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1.png"/><Relationship Id="rId9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1.png"/><Relationship Id="rId9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1.png"/><Relationship Id="rId9" Type="http://schemas.microsoft.com/office/2007/relationships/hdphoto" Target="../media/hdphoto1.wdp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11" Type="http://schemas.openxmlformats.org/officeDocument/2006/relationships/image" Target="../media/image8.jpeg"/><Relationship Id="rId5" Type="http://schemas.openxmlformats.org/officeDocument/2006/relationships/image" Target="../media/image3.png"/><Relationship Id="rId10" Type="http://schemas.openxmlformats.org/officeDocument/2006/relationships/image" Target="../media/image13.jpeg"/><Relationship Id="rId4" Type="http://schemas.openxmlformats.org/officeDocument/2006/relationships/image" Target="../media/image11.png"/><Relationship Id="rId9" Type="http://schemas.microsoft.com/office/2007/relationships/hdphoto" Target="../media/hdphoto1.wdp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1.png"/><Relationship Id="rId9" Type="http://schemas.microsoft.com/office/2007/relationships/hdphoto" Target="../media/hdphoto1.wdp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Darshan</a:t>
            </a:r>
            <a:r>
              <a:rPr lang="en-US" sz="1600" baseline="0" dirty="0"/>
              <a:t> University</a:t>
            </a:r>
            <a:r>
              <a:rPr lang="en-US" sz="1600" dirty="0"/>
              <a:t>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0762" y="307556"/>
            <a:ext cx="270404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Darshan</a:t>
            </a:r>
            <a:r>
              <a:rPr lang="en-US" sz="1600" dirty="0"/>
              <a:t>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0762" y="307556"/>
            <a:ext cx="270404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30" name="Hexagon 29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1D3064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34" name="Rectangle 33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  <a:solidFill>
            <a:srgbClr val="1D3064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solidFill>
            <a:srgbClr val="1D3064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701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9678496" y="861192"/>
            <a:ext cx="2554142" cy="587454"/>
            <a:chOff x="9424496" y="861192"/>
            <a:chExt cx="2554142" cy="587454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75018" y="861192"/>
              <a:ext cx="1932495" cy="587453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24496" y="8611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131180" y="8761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Pradyuman U. Jadeja</a:t>
            </a:r>
          </a:p>
        </p:txBody>
      </p:sp>
      <p:sp>
        <p:nvSpPr>
          <p:cNvPr id="21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3815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</a:p>
        </p:txBody>
      </p:sp>
      <p:sp>
        <p:nvSpPr>
          <p:cNvPr id="25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9780096" y="5890392"/>
            <a:ext cx="2554142" cy="587454"/>
            <a:chOff x="9475296" y="5890392"/>
            <a:chExt cx="2554142" cy="587454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3815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131180" y="8761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spcBef>
                <a:spcPts val="1000"/>
              </a:spcBef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spcBef>
                <a:spcPts val="1000"/>
              </a:spcBef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18B55886-6939-173D-0399-543AE006182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Pradyuman U. Jadeja</a:t>
            </a:r>
          </a:p>
        </p:txBody>
      </p: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-49704" y="5915792"/>
            <a:ext cx="2554142" cy="587454"/>
            <a:chOff x="242396" y="5890392"/>
            <a:chExt cx="2554142" cy="587454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8918" y="5890392"/>
              <a:ext cx="1932495" cy="587453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2423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131180" y="8888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3815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</a:p>
        </p:txBody>
      </p:sp>
      <p:sp>
        <p:nvSpPr>
          <p:cNvPr id="25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1D3C3F07-EDD3-52AF-0EE4-F04B600338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Pradyuman U. Jadeja</a:t>
            </a:r>
          </a:p>
        </p:txBody>
      </p: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4" name="Group 3"/>
          <p:cNvGrpSpPr/>
          <p:nvPr userDrawn="1"/>
        </p:nvGrpSpPr>
        <p:grpSpPr>
          <a:xfrm>
            <a:off x="9437224" y="6087939"/>
            <a:ext cx="2554142" cy="650953"/>
            <a:chOff x="9437224" y="6087939"/>
            <a:chExt cx="2554142" cy="650953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DD61FEC-075B-4EDD-97CA-36E6F72630F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8046" y="6151439"/>
              <a:ext cx="1932495" cy="587453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B550E12-AA95-4B1B-A8D2-ED01E515FC43}"/>
                </a:ext>
              </a:extLst>
            </p:cNvPr>
            <p:cNvSpPr/>
            <p:nvPr userDrawn="1"/>
          </p:nvSpPr>
          <p:spPr>
            <a:xfrm>
              <a:off x="9437224" y="6087939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9752158" y="149992"/>
            <a:ext cx="2554142" cy="587454"/>
            <a:chOff x="94752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3815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</a:p>
        </p:txBody>
      </p:sp>
      <p:sp>
        <p:nvSpPr>
          <p:cNvPr id="20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099E7C37-A171-578A-F143-E583B37C897A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Pradyuman U. Jadeja</a:t>
            </a:r>
          </a:p>
        </p:txBody>
      </p: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 userDrawn="1"/>
        </p:nvGrpSpPr>
        <p:grpSpPr>
          <a:xfrm>
            <a:off x="9726758" y="6003345"/>
            <a:ext cx="2554142" cy="587454"/>
            <a:chOff x="9475296" y="5890392"/>
            <a:chExt cx="2554142" cy="587454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3815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0CB66480-67B1-DCA9-5D6A-97B79F7DF396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Pradyuman U. Jadeja</a:t>
            </a:r>
          </a:p>
        </p:txBody>
      </p: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-249812" y="5990021"/>
            <a:ext cx="2554142" cy="587454"/>
            <a:chOff x="94752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3815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</a:p>
        </p:txBody>
      </p:sp>
      <p:sp>
        <p:nvSpPr>
          <p:cNvPr id="20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2266AAA7-4025-ADFA-6591-6CD7896DDA6B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Pradyuman U. Jadeja</a:t>
            </a:r>
          </a:p>
        </p:txBody>
      </p: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000" y="106364"/>
            <a:ext cx="11684000" cy="808037"/>
          </a:xfrm>
        </p:spPr>
        <p:txBody>
          <a:bodyPr>
            <a:normAutofit/>
          </a:bodyPr>
          <a:lstStyle>
            <a:lvl1pPr algn="l">
              <a:defRPr lang="en-US" sz="4400" b="0" kern="1200" dirty="0">
                <a:solidFill>
                  <a:schemeClr val="tx1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0" y="990600"/>
            <a:ext cx="11684000" cy="5334000"/>
          </a:xfrm>
        </p:spPr>
        <p:txBody>
          <a:bodyPr>
            <a:normAutofit/>
          </a:bodyPr>
          <a:lstStyle>
            <a:lvl1pPr marL="342900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lang="en-US" sz="24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04850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23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68375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defRPr lang="en-US" sz="22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239837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defRPr lang="en-US" sz="20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454150" indent="-28575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defRPr lang="en-US" sz="1600" kern="1200" dirty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marL="342900" lvl="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§"/>
            </a:pPr>
            <a:r>
              <a:rPr lang="en-US" dirty="0"/>
              <a:t>Click to edit Master text styles</a:t>
            </a:r>
          </a:p>
          <a:p>
            <a:pPr marL="625475" lvl="1" indent="-263525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896938" lvl="2" indent="-271463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dirty="0"/>
              <a:t>Third level</a:t>
            </a:r>
          </a:p>
          <a:p>
            <a:pPr marL="1168400" lvl="3" indent="-271463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–"/>
            </a:pPr>
            <a:r>
              <a:rPr lang="en-US" dirty="0"/>
              <a:t>Fourth level</a:t>
            </a:r>
          </a:p>
          <a:p>
            <a:pPr marL="1439863" lvl="4" indent="-271463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»"/>
            </a:pPr>
            <a:r>
              <a:rPr lang="en-US" dirty="0"/>
              <a:t>Fifth level</a:t>
            </a:r>
          </a:p>
        </p:txBody>
      </p:sp>
      <p:sp>
        <p:nvSpPr>
          <p:cNvPr id="5" name="Rektangel 11"/>
          <p:cNvSpPr/>
          <p:nvPr userDrawn="1"/>
        </p:nvSpPr>
        <p:spPr>
          <a:xfrm>
            <a:off x="0" y="6477000"/>
            <a:ext cx="53848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>
              <a:defRPr/>
            </a:pPr>
            <a:r>
              <a:rPr lang="da-DK" sz="18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Unit</a:t>
            </a:r>
            <a:r>
              <a:rPr lang="da-DK" sz="1800" baseline="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– 1: </a:t>
            </a:r>
            <a:r>
              <a:rPr lang="en-US" sz="1800" dirty="0"/>
              <a:t>Introduction to Data Structure</a:t>
            </a:r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54000" y="914400"/>
            <a:ext cx="1168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ktangel 11"/>
          <p:cNvSpPr/>
          <p:nvPr userDrawn="1"/>
        </p:nvSpPr>
        <p:spPr>
          <a:xfrm>
            <a:off x="6197600" y="6480727"/>
            <a:ext cx="59944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>
              <a:defRPr/>
            </a:pPr>
            <a:r>
              <a:rPr lang="en-US" sz="18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Darshan</a:t>
            </a:r>
            <a:r>
              <a:rPr lang="en-US" sz="1800" baseline="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Institute of Engineering &amp; Technology</a:t>
            </a:r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Rektangel 11"/>
          <p:cNvSpPr/>
          <p:nvPr userDrawn="1"/>
        </p:nvSpPr>
        <p:spPr>
          <a:xfrm>
            <a:off x="5384800" y="6477000"/>
            <a:ext cx="8128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 algn="ctr">
              <a:defRPr/>
            </a:pPr>
            <a:fld id="{4CCBBDC9-ADEB-48F3-A42C-1AD0249F062A}" type="slidenum">
              <a:rPr lang="da-DK" sz="1800" noProof="1" smtClean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pPr indent="-342900" algn="ctr">
                <a:defRPr/>
              </a:pPr>
              <a:t>‹#›</a:t>
            </a:fld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1648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93" r:id="rId2"/>
    <p:sldLayoutId id="2147483670" r:id="rId3"/>
    <p:sldLayoutId id="2147483687" r:id="rId4"/>
    <p:sldLayoutId id="2147483688" r:id="rId5"/>
    <p:sldLayoutId id="2147483671" r:id="rId6"/>
    <p:sldLayoutId id="2147483672" r:id="rId7"/>
    <p:sldLayoutId id="2147483689" r:id="rId8"/>
    <p:sldLayoutId id="2147483690" r:id="rId9"/>
    <p:sldLayoutId id="2147483673" r:id="rId10"/>
    <p:sldLayoutId id="2147483691" r:id="rId11"/>
    <p:sldLayoutId id="2147483674" r:id="rId12"/>
    <p:sldLayoutId id="2147483676" r:id="rId13"/>
    <p:sldLayoutId id="2147483677" r:id="rId14"/>
    <p:sldLayoutId id="2147483678" r:id="rId15"/>
    <p:sldLayoutId id="2147483679" r:id="rId16"/>
    <p:sldLayoutId id="2147483681" r:id="rId17"/>
    <p:sldLayoutId id="2147483683" r:id="rId18"/>
    <p:sldLayoutId id="2147483682" r:id="rId19"/>
    <p:sldLayoutId id="2147483684" r:id="rId20"/>
    <p:sldLayoutId id="2147483685" r:id="rId21"/>
    <p:sldLayoutId id="2147483686" r:id="rId22"/>
    <p:sldLayoutId id="2147483692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8686" y="1367559"/>
            <a:ext cx="7694136" cy="2373931"/>
          </a:xfrm>
        </p:spPr>
        <p:txBody>
          <a:bodyPr/>
          <a:lstStyle/>
          <a:p>
            <a:r>
              <a:rPr lang="en-US" sz="6000" dirty="0"/>
              <a:t>Lab 4 : Array</a:t>
            </a:r>
            <a:br>
              <a:rPr lang="en-US" sz="6000" dirty="0"/>
            </a:br>
            <a:endParaRPr lang="en-US" sz="6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4005A-4647-4086-9144-7BCC7DFEFB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pradyuman.jadeja@darshan.ac.in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17D43-889A-4049-ACFD-9B3B648B6A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+91 9879461848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86D614-6447-4787-8025-9C902A1B73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Computer Engineering Department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7AB9BC-FE08-46B2-A19C-803CB5DF0C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Dr. </a:t>
            </a:r>
            <a:r>
              <a:rPr lang="en-US" dirty="0" err="1"/>
              <a:t>Pradyuman</a:t>
            </a:r>
            <a:r>
              <a:rPr lang="en-US" dirty="0"/>
              <a:t> U. </a:t>
            </a:r>
            <a:r>
              <a:rPr lang="en-US" dirty="0" err="1"/>
              <a:t>Jadeja</a:t>
            </a:r>
            <a:endParaRPr lang="en-US" dirty="0"/>
          </a:p>
        </p:txBody>
      </p:sp>
      <p:sp>
        <p:nvSpPr>
          <p:cNvPr id="1027" name="Text Placeholder 1026">
            <a:extLst>
              <a:ext uri="{FF2B5EF4-FFF2-40B4-BE49-F238E27FC236}">
                <a16:creationId xmlns:a16="http://schemas.microsoft.com/office/drawing/2014/main" id="{D1F0AA94-EAF3-4868-942A-0125EFC5C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/>
              <a:t>Data Structure</a:t>
            </a:r>
            <a:endParaRPr lang="en-US" dirty="0"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1" name="AutoShape 3">
            <a:extLst>
              <a:ext uri="{FF2B5EF4-FFF2-40B4-BE49-F238E27FC236}">
                <a16:creationId xmlns:a16="http://schemas.microsoft.com/office/drawing/2014/main" id="{3D1B70E7-2396-452E-A00A-D1D4AA1E56D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5573676" y="-3055324"/>
            <a:ext cx="7721600" cy="1457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Placeholder 7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5180" y="5218798"/>
            <a:ext cx="1353599" cy="1353599"/>
          </a:xfrm>
        </p:spPr>
      </p:pic>
    </p:spTree>
    <p:extLst>
      <p:ext uri="{BB962C8B-B14F-4D97-AF65-F5344CB8AC3E}">
        <p14:creationId xmlns:p14="http://schemas.microsoft.com/office/powerpoint/2010/main" val="1457381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C7F466C3-EFB5-0844-3A66-A593E07326EB}"/>
              </a:ext>
            </a:extLst>
          </p:cNvPr>
          <p:cNvSpPr/>
          <p:nvPr/>
        </p:nvSpPr>
        <p:spPr>
          <a:xfrm>
            <a:off x="7213044" y="1128805"/>
            <a:ext cx="4709019" cy="5396753"/>
          </a:xfrm>
          <a:prstGeom prst="rect">
            <a:avLst/>
          </a:prstGeom>
          <a:solidFill>
            <a:schemeClr val="bg2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Title 7">
            <a:extLst>
              <a:ext uri="{FF2B5EF4-FFF2-40B4-BE49-F238E27FC236}">
                <a16:creationId xmlns:a16="http://schemas.microsoft.com/office/drawing/2014/main" id="{FBFBCBB0-21E6-A02B-42FE-2880D4502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- 24</a:t>
            </a:r>
            <a:endParaRPr lang="en-IN" dirty="0"/>
          </a:p>
        </p:txBody>
      </p:sp>
      <p:sp>
        <p:nvSpPr>
          <p:cNvPr id="28" name="Content Placeholder 8">
            <a:extLst>
              <a:ext uri="{FF2B5EF4-FFF2-40B4-BE49-F238E27FC236}">
                <a16:creationId xmlns:a16="http://schemas.microsoft.com/office/drawing/2014/main" id="{B12A21D3-4A06-9228-3074-EFC973836B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7578" y="712883"/>
            <a:ext cx="11929641" cy="461666"/>
          </a:xfrm>
        </p:spPr>
        <p:txBody>
          <a:bodyPr/>
          <a:lstStyle/>
          <a:p>
            <a:r>
              <a:rPr lang="en-IN" dirty="0"/>
              <a:t>Write a program to </a:t>
            </a:r>
            <a:r>
              <a:rPr lang="en-IN" dirty="0">
                <a:solidFill>
                  <a:srgbClr val="FF0000"/>
                </a:solidFill>
              </a:rPr>
              <a:t>insert a number </a:t>
            </a:r>
            <a:r>
              <a:rPr lang="en-IN" dirty="0"/>
              <a:t>at a </a:t>
            </a:r>
            <a:r>
              <a:rPr lang="en-IN" dirty="0">
                <a:solidFill>
                  <a:srgbClr val="FF0000"/>
                </a:solidFill>
              </a:rPr>
              <a:t>given location </a:t>
            </a:r>
            <a:r>
              <a:rPr lang="en-IN" dirty="0"/>
              <a:t>in an </a:t>
            </a:r>
            <a:r>
              <a:rPr lang="en-IN" dirty="0">
                <a:solidFill>
                  <a:srgbClr val="FF0000"/>
                </a:solidFill>
              </a:rPr>
              <a:t>array</a:t>
            </a:r>
            <a:r>
              <a:rPr lang="en-IN" dirty="0"/>
              <a:t>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B671D1-B386-5DE2-F11E-977C55CD35FA}"/>
              </a:ext>
            </a:extLst>
          </p:cNvPr>
          <p:cNvSpPr txBox="1"/>
          <p:nvPr/>
        </p:nvSpPr>
        <p:spPr>
          <a:xfrm>
            <a:off x="7308911" y="1681959"/>
            <a:ext cx="4337107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Declare a variable </a:t>
            </a:r>
            <a:r>
              <a:rPr lang="en-IN" sz="2400" dirty="0">
                <a:solidFill>
                  <a:srgbClr val="FF0000"/>
                </a:solidFill>
              </a:rPr>
              <a:t>'size'</a:t>
            </a:r>
            <a:r>
              <a:rPr lang="en-IN" sz="2400" dirty="0"/>
              <a:t> of data type </a:t>
            </a:r>
            <a:r>
              <a:rPr lang="en-IN" sz="2400" dirty="0">
                <a:solidFill>
                  <a:srgbClr val="FF0000"/>
                </a:solidFill>
              </a:rPr>
              <a:t>int</a:t>
            </a:r>
            <a:r>
              <a:rPr lang="en-IN" sz="2400" dirty="0"/>
              <a:t>, take it from user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Declare an </a:t>
            </a:r>
            <a:r>
              <a:rPr lang="en-IN" sz="2400" dirty="0">
                <a:solidFill>
                  <a:srgbClr val="FF0000"/>
                </a:solidFill>
              </a:rPr>
              <a:t>array</a:t>
            </a:r>
            <a:r>
              <a:rPr lang="en-IN" sz="2400" dirty="0"/>
              <a:t> having total capacity of </a:t>
            </a:r>
            <a:r>
              <a:rPr lang="en-IN" sz="2400" dirty="0">
                <a:solidFill>
                  <a:srgbClr val="FF0000"/>
                </a:solidFill>
              </a:rPr>
              <a:t>'size’</a:t>
            </a:r>
            <a:endParaRPr lang="en-IN" sz="2400" dirty="0"/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Take </a:t>
            </a:r>
            <a:r>
              <a:rPr lang="en-IN" sz="2400" dirty="0">
                <a:solidFill>
                  <a:srgbClr val="FF0000"/>
                </a:solidFill>
              </a:rPr>
              <a:t>position (POS) </a:t>
            </a:r>
            <a:r>
              <a:rPr lang="en-IN" sz="2400" dirty="0"/>
              <a:t>and </a:t>
            </a:r>
            <a:r>
              <a:rPr lang="en-IN" sz="2400" dirty="0">
                <a:solidFill>
                  <a:srgbClr val="FF0000"/>
                </a:solidFill>
              </a:rPr>
              <a:t>value (VAL) </a:t>
            </a:r>
            <a:r>
              <a:rPr lang="en-IN" sz="2400" dirty="0"/>
              <a:t>from user 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Shift elements </a:t>
            </a:r>
            <a:r>
              <a:rPr lang="en-IN" sz="2400" dirty="0">
                <a:solidFill>
                  <a:srgbClr val="FF0000"/>
                </a:solidFill>
              </a:rPr>
              <a:t>right</a:t>
            </a:r>
            <a:r>
              <a:rPr lang="en-IN" sz="2400" dirty="0"/>
              <a:t> from end to POS: </a:t>
            </a:r>
            <a:r>
              <a:rPr lang="en-IN" sz="2400" dirty="0">
                <a:solidFill>
                  <a:srgbClr val="FF0000"/>
                </a:solidFill>
              </a:rPr>
              <a:t>A[I+1] ← A[I]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Place new value: </a:t>
            </a:r>
            <a:r>
              <a:rPr lang="en-IN" sz="2400" dirty="0">
                <a:solidFill>
                  <a:srgbClr val="FF0000"/>
                </a:solidFill>
              </a:rPr>
              <a:t>A[POS] ← VAL</a:t>
            </a:r>
            <a:r>
              <a:rPr lang="en-IN" sz="2400" dirty="0"/>
              <a:t>, update size: </a:t>
            </a:r>
            <a:r>
              <a:rPr lang="en-IN" sz="2400" dirty="0">
                <a:solidFill>
                  <a:srgbClr val="FF0000"/>
                </a:solidFill>
              </a:rPr>
              <a:t>N ← N + 1</a:t>
            </a:r>
            <a:endParaRPr lang="en-US" sz="24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8EA9D9D-0BB5-1E94-6CC1-21886A7F9F4A}"/>
              </a:ext>
            </a:extLst>
          </p:cNvPr>
          <p:cNvSpPr/>
          <p:nvPr/>
        </p:nvSpPr>
        <p:spPr>
          <a:xfrm>
            <a:off x="131180" y="1306609"/>
            <a:ext cx="693235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IN" sz="2400" b="1" u="sng" dirty="0"/>
              <a:t>INPUT:</a:t>
            </a:r>
          </a:p>
          <a:p>
            <a:pPr marL="457200" lvl="0" indent="-457200"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Take </a:t>
            </a:r>
            <a:r>
              <a:rPr lang="en-IN" sz="2400" dirty="0">
                <a:solidFill>
                  <a:srgbClr val="FF0000"/>
                </a:solidFill>
              </a:rPr>
              <a:t>total elements</a:t>
            </a:r>
            <a:r>
              <a:rPr lang="en-IN" sz="2400" dirty="0"/>
              <a:t> ('size'/'n') from user</a:t>
            </a:r>
          </a:p>
          <a:p>
            <a:pPr marL="457200" lvl="0" indent="-457200"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Take </a:t>
            </a:r>
            <a:r>
              <a:rPr lang="en-IN" sz="2400" dirty="0">
                <a:solidFill>
                  <a:srgbClr val="FF0000"/>
                </a:solidFill>
              </a:rPr>
              <a:t>position (POS) </a:t>
            </a:r>
            <a:r>
              <a:rPr lang="en-IN" sz="2400" dirty="0"/>
              <a:t>where to insert</a:t>
            </a:r>
          </a:p>
          <a:p>
            <a:pPr marL="457200" lvl="0" indent="-457200"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Take </a:t>
            </a:r>
            <a:r>
              <a:rPr lang="en-IN" sz="2400" dirty="0">
                <a:solidFill>
                  <a:srgbClr val="FF0000"/>
                </a:solidFill>
              </a:rPr>
              <a:t>value (VAL) </a:t>
            </a:r>
            <a:r>
              <a:rPr lang="en-IN" sz="2400" dirty="0"/>
              <a:t>to insert</a:t>
            </a:r>
          </a:p>
          <a:p>
            <a:pPr marL="457200" lvl="0" indent="-457200">
              <a:buClr>
                <a:srgbClr val="C00000"/>
              </a:buClr>
              <a:buFont typeface="+mj-lt"/>
              <a:buAutoNum type="arabicPeriod"/>
            </a:pPr>
            <a:endParaRPr lang="en-IN" sz="24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21269A1-A4E3-31C0-AB20-83024ADF556D}"/>
              </a:ext>
            </a:extLst>
          </p:cNvPr>
          <p:cNvSpPr/>
          <p:nvPr/>
        </p:nvSpPr>
        <p:spPr>
          <a:xfrm>
            <a:off x="131180" y="3196901"/>
            <a:ext cx="693235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IN" sz="2400" b="1" u="sng" dirty="0"/>
              <a:t>OUTPUT:</a:t>
            </a:r>
          </a:p>
          <a:p>
            <a:pPr lvl="0"/>
            <a:r>
              <a:rPr lang="en-IN" sz="2400" dirty="0"/>
              <a:t>Display the </a:t>
            </a:r>
            <a:r>
              <a:rPr lang="en-IN" sz="2400" dirty="0">
                <a:solidFill>
                  <a:srgbClr val="FF0000"/>
                </a:solidFill>
              </a:rPr>
              <a:t>updated array</a:t>
            </a:r>
            <a:r>
              <a:rPr lang="en-IN" sz="2400" dirty="0"/>
              <a:t> after insertion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2058A9E-693D-48F6-635D-F71A9DF22DD0}"/>
              </a:ext>
            </a:extLst>
          </p:cNvPr>
          <p:cNvSpPr/>
          <p:nvPr/>
        </p:nvSpPr>
        <p:spPr>
          <a:xfrm>
            <a:off x="7308911" y="1208257"/>
            <a:ext cx="37321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b="1" dirty="0">
                <a:solidFill>
                  <a:srgbClr val="C00000"/>
                </a:solidFill>
              </a:rPr>
              <a:t>METHODOLOGY  INVOLVED: </a:t>
            </a:r>
          </a:p>
        </p:txBody>
      </p:sp>
    </p:spTree>
    <p:extLst>
      <p:ext uri="{BB962C8B-B14F-4D97-AF65-F5344CB8AC3E}">
        <p14:creationId xmlns:p14="http://schemas.microsoft.com/office/powerpoint/2010/main" val="2374127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A0DFD-8752-C356-1E1E-7EDFD4602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58B3B67-465C-CC14-16B0-570DB4A0E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- 24</a:t>
            </a:r>
            <a:endParaRPr lang="en-IN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8F1C60F-579F-608A-094E-8DAED0869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76145"/>
            <a:ext cx="11929641" cy="529962"/>
          </a:xfrm>
        </p:spPr>
        <p:txBody>
          <a:bodyPr/>
          <a:lstStyle/>
          <a:p>
            <a:r>
              <a:rPr lang="en-IN" dirty="0"/>
              <a:t>Write a program to insert a number at a given location in an array.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// Read the array N-1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799EAF-038D-3534-65CA-806D15C95573}"/>
              </a:ext>
            </a:extLst>
          </p:cNvPr>
          <p:cNvSpPr txBox="1"/>
          <p:nvPr/>
        </p:nvSpPr>
        <p:spPr>
          <a:xfrm>
            <a:off x="219471" y="1773840"/>
            <a:ext cx="5292808" cy="477053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1. [Validate the given position]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   </a:t>
            </a:r>
            <a:r>
              <a:rPr lang="en-IN" sz="24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2400" dirty="0">
                <a:latin typeface="Consolas" pitchFamily="49" charset="0"/>
                <a:cs typeface="Consolas" pitchFamily="49" charset="0"/>
              </a:rPr>
              <a:t>	 POS &lt; 1 OR POS &gt; N+1</a:t>
            </a:r>
          </a:p>
          <a:p>
            <a:r>
              <a:rPr lang="en-IN" sz="24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  THEN</a:t>
            </a:r>
            <a:r>
              <a:rPr lang="en-IN" sz="2400" dirty="0">
                <a:latin typeface="Consolas" pitchFamily="49" charset="0"/>
                <a:cs typeface="Consolas" pitchFamily="49" charset="0"/>
              </a:rPr>
              <a:t> PRINT “INVALID POS”	   	   Return</a:t>
            </a:r>
          </a:p>
          <a:p>
            <a:r>
              <a:rPr lang="en-IN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2. [</a:t>
            </a:r>
            <a:r>
              <a:rPr lang="en-US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Shift elements one position to the right from the end to POS</a:t>
            </a:r>
            <a:r>
              <a:rPr lang="en-IN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]</a:t>
            </a:r>
          </a:p>
          <a:p>
            <a:r>
              <a:rPr lang="en-IN" sz="22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US" sz="2200" dirty="0">
                <a:latin typeface="Consolas" pitchFamily="49" charset="0"/>
                <a:cs typeface="Consolas" pitchFamily="49" charset="0"/>
              </a:rPr>
              <a:t>SET I ← N</a:t>
            </a:r>
          </a:p>
          <a:p>
            <a:r>
              <a:rPr lang="en-US" sz="2200" dirty="0">
                <a:latin typeface="Consolas" pitchFamily="49" charset="0"/>
                <a:cs typeface="Consolas" pitchFamily="49" charset="0"/>
              </a:rPr>
              <a:t>    REPEAT WHILE I &gt;= POS  </a:t>
            </a:r>
          </a:p>
          <a:p>
            <a:r>
              <a:rPr lang="en-US" sz="2200" dirty="0">
                <a:latin typeface="Consolas" pitchFamily="49" charset="0"/>
                <a:cs typeface="Consolas" pitchFamily="49" charset="0"/>
              </a:rPr>
              <a:t>	     A[I+1] ← A[I]  </a:t>
            </a:r>
          </a:p>
          <a:p>
            <a:r>
              <a:rPr lang="en-US" sz="2200" dirty="0">
                <a:latin typeface="Consolas" pitchFamily="49" charset="0"/>
                <a:cs typeface="Consolas" pitchFamily="49" charset="0"/>
              </a:rPr>
              <a:t>	     I ← I – 1</a:t>
            </a:r>
          </a:p>
          <a:p>
            <a:r>
              <a:rPr lang="en-US" sz="2200" dirty="0">
                <a:latin typeface="Consolas" pitchFamily="49" charset="0"/>
                <a:cs typeface="Consolas" pitchFamily="49" charset="0"/>
              </a:rPr>
              <a:t>	END REPEAT</a:t>
            </a:r>
          </a:p>
          <a:p>
            <a:r>
              <a:rPr lang="en-IN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3. [</a:t>
            </a:r>
            <a:r>
              <a:rPr lang="en-US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Place the new value at the desired position</a:t>
            </a:r>
            <a:r>
              <a:rPr lang="en-IN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]</a:t>
            </a:r>
          </a:p>
          <a:p>
            <a:r>
              <a:rPr lang="en-IN" sz="2200" dirty="0">
                <a:latin typeface="Consolas" pitchFamily="49" charset="0"/>
                <a:cs typeface="Consolas" pitchFamily="49" charset="0"/>
              </a:rPr>
              <a:t>    A[POS] ← VAL</a:t>
            </a:r>
            <a:endParaRPr lang="en-IN" sz="2200" b="1" dirty="0">
              <a:solidFill>
                <a:schemeClr val="tx2">
                  <a:lumMod val="60000"/>
                  <a:lumOff val="40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C41E57-44B0-294C-3D89-5640F0D6C7E0}"/>
              </a:ext>
            </a:extLst>
          </p:cNvPr>
          <p:cNvSpPr txBox="1"/>
          <p:nvPr/>
        </p:nvSpPr>
        <p:spPr>
          <a:xfrm>
            <a:off x="4923265" y="1312175"/>
            <a:ext cx="14520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Algorithm</a:t>
            </a:r>
            <a:endParaRPr lang="en-IN" sz="2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8FBC8B-FF95-4233-C26E-55FA5ABE4029}"/>
              </a:ext>
            </a:extLst>
          </p:cNvPr>
          <p:cNvSpPr txBox="1"/>
          <p:nvPr/>
        </p:nvSpPr>
        <p:spPr>
          <a:xfrm>
            <a:off x="6013546" y="1773839"/>
            <a:ext cx="5292808" cy="14465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4. [</a:t>
            </a:r>
            <a:r>
              <a:rPr lang="en-US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Update array size and display result</a:t>
            </a:r>
            <a:r>
              <a:rPr lang="en-IN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]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      </a:t>
            </a:r>
            <a:r>
              <a:rPr lang="pt-BR" sz="2400" dirty="0">
                <a:latin typeface="Consolas" pitchFamily="49" charset="0"/>
              </a:rPr>
              <a:t>N ← N + 1</a:t>
            </a:r>
          </a:p>
          <a:p>
            <a:r>
              <a:rPr lang="pt-BR" sz="2400" dirty="0">
                <a:latin typeface="Consolas" pitchFamily="49" charset="0"/>
              </a:rPr>
              <a:t>      PRINT A[1..N]</a:t>
            </a:r>
          </a:p>
        </p:txBody>
      </p:sp>
    </p:spTree>
    <p:extLst>
      <p:ext uri="{BB962C8B-B14F-4D97-AF65-F5344CB8AC3E}">
        <p14:creationId xmlns:p14="http://schemas.microsoft.com/office/powerpoint/2010/main" val="1721920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7">
            <a:extLst>
              <a:ext uri="{FF2B5EF4-FFF2-40B4-BE49-F238E27FC236}">
                <a16:creationId xmlns:a16="http://schemas.microsoft.com/office/drawing/2014/main" id="{9388B7A6-64B5-15EC-0A5C-8B616FADC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Program - 24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3CD232-2B05-07FC-6072-56BADBC37BFA}"/>
              </a:ext>
            </a:extLst>
          </p:cNvPr>
          <p:cNvSpPr txBox="1"/>
          <p:nvPr/>
        </p:nvSpPr>
        <p:spPr>
          <a:xfrm>
            <a:off x="5233252" y="914400"/>
            <a:ext cx="1919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 Function</a:t>
            </a:r>
            <a:endParaRPr lang="en-IN" sz="24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76130E-07F2-EC70-BDC1-182A9C6EB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0" y="1579264"/>
            <a:ext cx="6273648" cy="38617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16D0DCC-4AA3-EA4E-1DA8-5760D3A85F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550" y="1579265"/>
            <a:ext cx="5611389" cy="231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008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40DDE-6FD4-BCAE-CF22-513C78467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74CF9A31-CFE9-8269-5436-CF306E57F48B}"/>
              </a:ext>
            </a:extLst>
          </p:cNvPr>
          <p:cNvSpPr/>
          <p:nvPr/>
        </p:nvSpPr>
        <p:spPr>
          <a:xfrm>
            <a:off x="7213044" y="1128805"/>
            <a:ext cx="4709019" cy="5396753"/>
          </a:xfrm>
          <a:prstGeom prst="rect">
            <a:avLst/>
          </a:prstGeom>
          <a:solidFill>
            <a:schemeClr val="bg2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Title 7">
            <a:extLst>
              <a:ext uri="{FF2B5EF4-FFF2-40B4-BE49-F238E27FC236}">
                <a16:creationId xmlns:a16="http://schemas.microsoft.com/office/drawing/2014/main" id="{883A5580-D3A5-0188-AD8E-37BFBB72B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- 25</a:t>
            </a:r>
            <a:endParaRPr lang="en-IN" dirty="0"/>
          </a:p>
        </p:txBody>
      </p:sp>
      <p:sp>
        <p:nvSpPr>
          <p:cNvPr id="28" name="Content Placeholder 8">
            <a:extLst>
              <a:ext uri="{FF2B5EF4-FFF2-40B4-BE49-F238E27FC236}">
                <a16:creationId xmlns:a16="http://schemas.microsoft.com/office/drawing/2014/main" id="{5B06C66E-0236-E168-A677-85993EBB8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23238"/>
            <a:ext cx="12192000" cy="405567"/>
          </a:xfrm>
        </p:spPr>
        <p:txBody>
          <a:bodyPr/>
          <a:lstStyle/>
          <a:p>
            <a:r>
              <a:rPr lang="en-IN" dirty="0"/>
              <a:t>Write a program to </a:t>
            </a:r>
            <a:r>
              <a:rPr lang="en-IN" dirty="0">
                <a:solidFill>
                  <a:srgbClr val="FF0000"/>
                </a:solidFill>
              </a:rPr>
              <a:t>delete a number </a:t>
            </a:r>
            <a:r>
              <a:rPr lang="en-IN" dirty="0"/>
              <a:t>from a </a:t>
            </a:r>
            <a:r>
              <a:rPr lang="en-IN" dirty="0">
                <a:solidFill>
                  <a:srgbClr val="FF0000"/>
                </a:solidFill>
              </a:rPr>
              <a:t>given location </a:t>
            </a:r>
            <a:r>
              <a:rPr lang="en-IN" dirty="0"/>
              <a:t>in an </a:t>
            </a:r>
            <a:r>
              <a:rPr lang="en-IN" dirty="0">
                <a:solidFill>
                  <a:srgbClr val="FF0000"/>
                </a:solidFill>
              </a:rPr>
              <a:t>array</a:t>
            </a:r>
            <a:r>
              <a:rPr lang="en-IN" dirty="0"/>
              <a:t>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A69DD5-A1C5-E224-2E4B-23C39F554813}"/>
              </a:ext>
            </a:extLst>
          </p:cNvPr>
          <p:cNvSpPr txBox="1"/>
          <p:nvPr/>
        </p:nvSpPr>
        <p:spPr>
          <a:xfrm>
            <a:off x="7308911" y="1672002"/>
            <a:ext cx="4337107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Declare a variable </a:t>
            </a:r>
            <a:r>
              <a:rPr lang="en-IN" sz="2400" dirty="0">
                <a:solidFill>
                  <a:srgbClr val="FF0000"/>
                </a:solidFill>
              </a:rPr>
              <a:t>'size'</a:t>
            </a:r>
            <a:r>
              <a:rPr lang="en-IN" sz="2400" dirty="0"/>
              <a:t> of data type </a:t>
            </a:r>
            <a:r>
              <a:rPr lang="en-IN" sz="2400" dirty="0">
                <a:solidFill>
                  <a:srgbClr val="FF0000"/>
                </a:solidFill>
              </a:rPr>
              <a:t>int</a:t>
            </a:r>
            <a:r>
              <a:rPr lang="en-IN" sz="2400" dirty="0"/>
              <a:t>, take it from user 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Declare an </a:t>
            </a:r>
            <a:r>
              <a:rPr lang="en-IN" sz="2400" dirty="0">
                <a:solidFill>
                  <a:srgbClr val="FF0000"/>
                </a:solidFill>
              </a:rPr>
              <a:t>array</a:t>
            </a:r>
            <a:r>
              <a:rPr lang="en-IN" sz="2400" dirty="0"/>
              <a:t> having total capacity of </a:t>
            </a:r>
            <a:r>
              <a:rPr lang="en-IN" sz="2400" dirty="0">
                <a:solidFill>
                  <a:srgbClr val="FF0000"/>
                </a:solidFill>
              </a:rPr>
              <a:t>'size’</a:t>
            </a:r>
            <a:endParaRPr lang="en-IN" sz="2400" dirty="0"/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Validate: if </a:t>
            </a:r>
            <a:r>
              <a:rPr lang="en-IN" sz="2400" dirty="0">
                <a:solidFill>
                  <a:srgbClr val="FF0000"/>
                </a:solidFill>
              </a:rPr>
              <a:t>POS &lt; 1</a:t>
            </a:r>
            <a:r>
              <a:rPr lang="en-IN" sz="2400" dirty="0"/>
              <a:t> OR </a:t>
            </a:r>
            <a:r>
              <a:rPr lang="en-IN" sz="2400" dirty="0">
                <a:solidFill>
                  <a:srgbClr val="FF0000"/>
                </a:solidFill>
              </a:rPr>
              <a:t>POS &gt; N</a:t>
            </a:r>
            <a:r>
              <a:rPr lang="en-IN" sz="2400" dirty="0"/>
              <a:t>, print </a:t>
            </a:r>
            <a:r>
              <a:rPr lang="en-IN" sz="2400" dirty="0">
                <a:solidFill>
                  <a:srgbClr val="FF0000"/>
                </a:solidFill>
              </a:rPr>
              <a:t>"INVALID POS"</a:t>
            </a:r>
            <a:r>
              <a:rPr lang="en-IN" sz="2400" dirty="0"/>
              <a:t> and stop.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Shift elements </a:t>
            </a:r>
            <a:r>
              <a:rPr lang="en-IN" sz="2400" dirty="0">
                <a:solidFill>
                  <a:srgbClr val="FF0000"/>
                </a:solidFill>
              </a:rPr>
              <a:t>left</a:t>
            </a:r>
            <a:r>
              <a:rPr lang="en-IN" sz="2400" dirty="0"/>
              <a:t> from POS: </a:t>
            </a:r>
            <a:r>
              <a:rPr lang="en-IN" sz="2400" dirty="0">
                <a:solidFill>
                  <a:srgbClr val="FF0000"/>
                </a:solidFill>
              </a:rPr>
              <a:t>A[I] ← A[I+1]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Update size: </a:t>
            </a:r>
            <a:r>
              <a:rPr lang="en-IN" sz="2400" dirty="0">
                <a:solidFill>
                  <a:srgbClr val="FF0000"/>
                </a:solidFill>
              </a:rPr>
              <a:t>N ← N − 1</a:t>
            </a:r>
            <a:r>
              <a:rPr lang="en-IN" sz="2400" dirty="0"/>
              <a:t>, then display </a:t>
            </a:r>
            <a:r>
              <a:rPr lang="en-IN" sz="2400" dirty="0">
                <a:solidFill>
                  <a:srgbClr val="FF0000"/>
                </a:solidFill>
              </a:rPr>
              <a:t>A[1..N]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06EABE0-A655-A7DD-C567-24329AD0120D}"/>
              </a:ext>
            </a:extLst>
          </p:cNvPr>
          <p:cNvSpPr/>
          <p:nvPr/>
        </p:nvSpPr>
        <p:spPr>
          <a:xfrm>
            <a:off x="131180" y="1306609"/>
            <a:ext cx="693235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IN" sz="2400" b="1" u="sng" dirty="0"/>
              <a:t>INPUT:</a:t>
            </a:r>
          </a:p>
          <a:p>
            <a:pPr marL="457200" lvl="0" indent="-457200"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Take </a:t>
            </a:r>
            <a:r>
              <a:rPr lang="en-IN" sz="2400" dirty="0">
                <a:solidFill>
                  <a:srgbClr val="FF0000"/>
                </a:solidFill>
              </a:rPr>
              <a:t>total elements</a:t>
            </a:r>
            <a:r>
              <a:rPr lang="en-IN" sz="2400" dirty="0"/>
              <a:t> ('size'/'n') from user </a:t>
            </a:r>
          </a:p>
          <a:p>
            <a:pPr marL="457200" lvl="0" indent="-457200"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Take </a:t>
            </a:r>
            <a:r>
              <a:rPr lang="en-IN" sz="2400" dirty="0">
                <a:solidFill>
                  <a:srgbClr val="FF0000"/>
                </a:solidFill>
              </a:rPr>
              <a:t>position (POS)</a:t>
            </a:r>
            <a:r>
              <a:rPr lang="en-IN" sz="2400" dirty="0"/>
              <a:t> to delete from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D371FE9-8A23-FD06-AE87-788B16930B3D}"/>
              </a:ext>
            </a:extLst>
          </p:cNvPr>
          <p:cNvSpPr/>
          <p:nvPr/>
        </p:nvSpPr>
        <p:spPr>
          <a:xfrm>
            <a:off x="131180" y="3196901"/>
            <a:ext cx="693235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IN" sz="2400" b="1" u="sng" dirty="0"/>
              <a:t>OUTPUT:</a:t>
            </a:r>
          </a:p>
          <a:p>
            <a:pPr lvl="0"/>
            <a:r>
              <a:rPr lang="en-IN" sz="2400" dirty="0"/>
              <a:t>Display the </a:t>
            </a:r>
            <a:r>
              <a:rPr lang="en-IN" sz="2400" dirty="0">
                <a:solidFill>
                  <a:srgbClr val="FF0000"/>
                </a:solidFill>
              </a:rPr>
              <a:t>updated array</a:t>
            </a:r>
            <a:r>
              <a:rPr lang="en-IN" sz="2400" dirty="0"/>
              <a:t> after deletion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8D8040A-5F90-68FF-C888-297D87B683E5}"/>
              </a:ext>
            </a:extLst>
          </p:cNvPr>
          <p:cNvSpPr/>
          <p:nvPr/>
        </p:nvSpPr>
        <p:spPr>
          <a:xfrm>
            <a:off x="7308911" y="1208257"/>
            <a:ext cx="37321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b="1" dirty="0">
                <a:solidFill>
                  <a:srgbClr val="C00000"/>
                </a:solidFill>
              </a:rPr>
              <a:t>METHODOLOGY  INVOLVED: </a:t>
            </a:r>
          </a:p>
        </p:txBody>
      </p:sp>
    </p:spTree>
    <p:extLst>
      <p:ext uri="{BB962C8B-B14F-4D97-AF65-F5344CB8AC3E}">
        <p14:creationId xmlns:p14="http://schemas.microsoft.com/office/powerpoint/2010/main" val="1832034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7">
            <a:extLst>
              <a:ext uri="{FF2B5EF4-FFF2-40B4-BE49-F238E27FC236}">
                <a16:creationId xmlns:a16="http://schemas.microsoft.com/office/drawing/2014/main" id="{85A2B09E-B3AC-7119-9FFF-84CBA698E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Program - 25</a:t>
            </a:r>
            <a:endParaRPr lang="en-IN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5D1D3827-2ECC-2D22-5C9E-8795B7E84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76144"/>
            <a:ext cx="11929641" cy="5590565"/>
          </a:xfrm>
        </p:spPr>
        <p:txBody>
          <a:bodyPr/>
          <a:lstStyle/>
          <a:p>
            <a:r>
              <a:rPr lang="en-IN" dirty="0"/>
              <a:t>Write a program to delete a number from a given location in an array.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D977D0-FA28-EB1B-1656-B254649487A2}"/>
              </a:ext>
            </a:extLst>
          </p:cNvPr>
          <p:cNvSpPr txBox="1"/>
          <p:nvPr/>
        </p:nvSpPr>
        <p:spPr>
          <a:xfrm>
            <a:off x="219471" y="1773840"/>
            <a:ext cx="5292808" cy="38164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1. [Validate the given position]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   </a:t>
            </a:r>
            <a:r>
              <a:rPr lang="en-IN" sz="24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IN" sz="2400" dirty="0">
                <a:latin typeface="Consolas" pitchFamily="49" charset="0"/>
                <a:cs typeface="Consolas" pitchFamily="49" charset="0"/>
              </a:rPr>
              <a:t>	 POS &lt; 1 OR POS &gt; N+1</a:t>
            </a:r>
          </a:p>
          <a:p>
            <a:r>
              <a:rPr lang="en-IN" sz="24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  THEN</a:t>
            </a:r>
            <a:r>
              <a:rPr lang="en-IN" sz="2400" dirty="0">
                <a:latin typeface="Consolas" pitchFamily="49" charset="0"/>
                <a:cs typeface="Consolas" pitchFamily="49" charset="0"/>
              </a:rPr>
              <a:t> PRINT “INVALID POS”	   	   Return</a:t>
            </a:r>
          </a:p>
          <a:p>
            <a:r>
              <a:rPr lang="en-IN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2. [</a:t>
            </a:r>
            <a:r>
              <a:rPr lang="en-US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Shift elements left from POS+1 to end, overwriting deleted element</a:t>
            </a:r>
            <a:r>
              <a:rPr lang="en-IN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]</a:t>
            </a:r>
          </a:p>
          <a:p>
            <a:r>
              <a:rPr lang="en-IN" sz="22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US" sz="2200" dirty="0">
                <a:latin typeface="Consolas" pitchFamily="49" charset="0"/>
                <a:cs typeface="Consolas" pitchFamily="49" charset="0"/>
              </a:rPr>
              <a:t>SET I ← POS</a:t>
            </a:r>
          </a:p>
          <a:p>
            <a:r>
              <a:rPr lang="en-US" sz="2200" dirty="0">
                <a:latin typeface="Consolas" pitchFamily="49" charset="0"/>
                <a:cs typeface="Consolas" pitchFamily="49" charset="0"/>
              </a:rPr>
              <a:t>    REPEAT WHILE I &lt; N  </a:t>
            </a:r>
          </a:p>
          <a:p>
            <a:r>
              <a:rPr lang="en-US" sz="2200" dirty="0">
                <a:latin typeface="Consolas" pitchFamily="49" charset="0"/>
                <a:cs typeface="Consolas" pitchFamily="49" charset="0"/>
              </a:rPr>
              <a:t>	     A[I] ← A[I+1]  </a:t>
            </a:r>
          </a:p>
          <a:p>
            <a:r>
              <a:rPr lang="en-US" sz="2200" dirty="0">
                <a:latin typeface="Consolas" pitchFamily="49" charset="0"/>
                <a:cs typeface="Consolas" pitchFamily="49" charset="0"/>
              </a:rPr>
              <a:t>	     I ← I – 1</a:t>
            </a:r>
          </a:p>
          <a:p>
            <a:r>
              <a:rPr lang="en-US" sz="2200" dirty="0">
                <a:latin typeface="Consolas" pitchFamily="49" charset="0"/>
                <a:cs typeface="Consolas" pitchFamily="49" charset="0"/>
              </a:rPr>
              <a:t>	END REPEAT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44F5DD-8D57-5F99-AF25-69FEA63C407B}"/>
              </a:ext>
            </a:extLst>
          </p:cNvPr>
          <p:cNvSpPr txBox="1"/>
          <p:nvPr/>
        </p:nvSpPr>
        <p:spPr>
          <a:xfrm>
            <a:off x="4923265" y="1312175"/>
            <a:ext cx="14520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Algorithm</a:t>
            </a:r>
            <a:endParaRPr lang="en-IN" sz="24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FC1781-74C9-CEA6-1B3D-7A4F15F35C8B}"/>
              </a:ext>
            </a:extLst>
          </p:cNvPr>
          <p:cNvSpPr txBox="1"/>
          <p:nvPr/>
        </p:nvSpPr>
        <p:spPr>
          <a:xfrm>
            <a:off x="6013546" y="1773839"/>
            <a:ext cx="5292808" cy="14465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3. [</a:t>
            </a:r>
            <a:r>
              <a:rPr lang="en-US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Update array size and display result</a:t>
            </a:r>
            <a:r>
              <a:rPr lang="en-IN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]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      </a:t>
            </a:r>
            <a:r>
              <a:rPr lang="pt-BR" sz="2400" dirty="0">
                <a:latin typeface="Consolas" pitchFamily="49" charset="0"/>
              </a:rPr>
              <a:t>N ← N - 1</a:t>
            </a:r>
          </a:p>
          <a:p>
            <a:r>
              <a:rPr lang="pt-BR" sz="2400" dirty="0">
                <a:latin typeface="Consolas" pitchFamily="49" charset="0"/>
              </a:rPr>
              <a:t>      PRINT A[1..N]</a:t>
            </a:r>
          </a:p>
        </p:txBody>
      </p:sp>
    </p:spTree>
    <p:extLst>
      <p:ext uri="{BB962C8B-B14F-4D97-AF65-F5344CB8AC3E}">
        <p14:creationId xmlns:p14="http://schemas.microsoft.com/office/powerpoint/2010/main" val="2084601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7">
            <a:extLst>
              <a:ext uri="{FF2B5EF4-FFF2-40B4-BE49-F238E27FC236}">
                <a16:creationId xmlns:a16="http://schemas.microsoft.com/office/drawing/2014/main" id="{6E83B5DC-75C7-80B0-706D-2D8D4DCDC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Program - 25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A6704F-C7C4-A413-6D19-ABF167F7BB51}"/>
              </a:ext>
            </a:extLst>
          </p:cNvPr>
          <p:cNvSpPr txBox="1"/>
          <p:nvPr/>
        </p:nvSpPr>
        <p:spPr>
          <a:xfrm>
            <a:off x="5233252" y="914400"/>
            <a:ext cx="1919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 Function</a:t>
            </a:r>
            <a:endParaRPr lang="en-IN" sz="2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41E665-1044-9B4B-0A84-EEC70F4A5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789" y="1376065"/>
            <a:ext cx="8479766" cy="5204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885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1D84C-07F5-19AE-04A6-0974BFCB9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2A3E64E-8876-AEB2-03F0-5799319481DD}"/>
              </a:ext>
            </a:extLst>
          </p:cNvPr>
          <p:cNvSpPr/>
          <p:nvPr/>
        </p:nvSpPr>
        <p:spPr>
          <a:xfrm>
            <a:off x="7213044" y="1128805"/>
            <a:ext cx="4709019" cy="5396753"/>
          </a:xfrm>
          <a:prstGeom prst="rect">
            <a:avLst/>
          </a:prstGeom>
          <a:solidFill>
            <a:schemeClr val="bg2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Title 7">
            <a:extLst>
              <a:ext uri="{FF2B5EF4-FFF2-40B4-BE49-F238E27FC236}">
                <a16:creationId xmlns:a16="http://schemas.microsoft.com/office/drawing/2014/main" id="{783246CC-50CF-F8C7-F23A-AF1B055E7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 dirty="0"/>
              <a:t>Program - 26</a:t>
            </a:r>
            <a:endParaRPr lang="en-IN" dirty="0"/>
          </a:p>
        </p:txBody>
      </p:sp>
      <p:sp>
        <p:nvSpPr>
          <p:cNvPr id="28" name="Content Placeholder 8">
            <a:extLst>
              <a:ext uri="{FF2B5EF4-FFF2-40B4-BE49-F238E27FC236}">
                <a16:creationId xmlns:a16="http://schemas.microsoft.com/office/drawing/2014/main" id="{CDCCE5D2-AF48-E079-0B14-65D26F86C2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23238"/>
            <a:ext cx="12192000" cy="405567"/>
          </a:xfrm>
        </p:spPr>
        <p:txBody>
          <a:bodyPr/>
          <a:lstStyle/>
          <a:p>
            <a:r>
              <a:rPr lang="en-IN" dirty="0"/>
              <a:t>Write a program to </a:t>
            </a:r>
            <a:r>
              <a:rPr lang="en-IN" dirty="0">
                <a:solidFill>
                  <a:srgbClr val="FF0000"/>
                </a:solidFill>
              </a:rPr>
              <a:t>insert a number</a:t>
            </a:r>
            <a:r>
              <a:rPr lang="en-IN" dirty="0"/>
              <a:t> in an array </a:t>
            </a:r>
            <a:r>
              <a:rPr lang="en-IN" dirty="0">
                <a:solidFill>
                  <a:srgbClr val="FF0000"/>
                </a:solidFill>
              </a:rPr>
              <a:t>sorted in ascending order</a:t>
            </a:r>
            <a:r>
              <a:rPr lang="en-IN" dirty="0"/>
              <a:t>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E01E8D-5611-773A-7FB3-EF44334C3065}"/>
              </a:ext>
            </a:extLst>
          </p:cNvPr>
          <p:cNvSpPr txBox="1"/>
          <p:nvPr/>
        </p:nvSpPr>
        <p:spPr>
          <a:xfrm>
            <a:off x="7308911" y="1672002"/>
            <a:ext cx="4337107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Declare a variable </a:t>
            </a:r>
            <a:r>
              <a:rPr lang="en-IN" sz="2400" dirty="0">
                <a:solidFill>
                  <a:srgbClr val="FF0000"/>
                </a:solidFill>
              </a:rPr>
              <a:t>'size'</a:t>
            </a:r>
            <a:r>
              <a:rPr lang="en-IN" sz="2400" dirty="0"/>
              <a:t> of data type </a:t>
            </a:r>
            <a:r>
              <a:rPr lang="en-IN" sz="2400" dirty="0">
                <a:solidFill>
                  <a:srgbClr val="FF0000"/>
                </a:solidFill>
              </a:rPr>
              <a:t>int</a:t>
            </a:r>
            <a:r>
              <a:rPr lang="en-IN" sz="2400" dirty="0"/>
              <a:t>, take it from user 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Declare a </a:t>
            </a:r>
            <a:r>
              <a:rPr lang="en-IN" sz="2400" dirty="0">
                <a:solidFill>
                  <a:srgbClr val="FF0000"/>
                </a:solidFill>
              </a:rPr>
              <a:t>sorted array</a:t>
            </a:r>
            <a:r>
              <a:rPr lang="en-IN" sz="2400" dirty="0"/>
              <a:t> of capacity </a:t>
            </a:r>
            <a:r>
              <a:rPr lang="en-IN" sz="2400" dirty="0">
                <a:solidFill>
                  <a:srgbClr val="FF0000"/>
                </a:solidFill>
              </a:rPr>
              <a:t>'size’</a:t>
            </a:r>
            <a:endParaRPr lang="en-IN" sz="2400" dirty="0"/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Scan from </a:t>
            </a:r>
            <a:r>
              <a:rPr lang="en-IN" sz="2400" dirty="0">
                <a:solidFill>
                  <a:srgbClr val="FF0000"/>
                </a:solidFill>
              </a:rPr>
              <a:t>end</a:t>
            </a:r>
            <a:r>
              <a:rPr lang="en-IN" sz="2400" dirty="0"/>
              <a:t>, shift right while </a:t>
            </a:r>
            <a:r>
              <a:rPr lang="en-IN" sz="2400" dirty="0">
                <a:solidFill>
                  <a:srgbClr val="FF0000"/>
                </a:solidFill>
              </a:rPr>
              <a:t>A[I] &gt; VAL</a:t>
            </a:r>
            <a:r>
              <a:rPr lang="en-IN" sz="2400" dirty="0"/>
              <a:t>: </a:t>
            </a:r>
            <a:r>
              <a:rPr lang="en-IN" sz="2400" dirty="0">
                <a:solidFill>
                  <a:srgbClr val="FF0000"/>
                </a:solidFill>
              </a:rPr>
              <a:t>A[I+1] ← A[I]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Insert at correct position: </a:t>
            </a:r>
            <a:r>
              <a:rPr lang="en-IN" sz="2400" dirty="0">
                <a:solidFill>
                  <a:srgbClr val="FF0000"/>
                </a:solidFill>
              </a:rPr>
              <a:t>A[I+1] ← VAL</a:t>
            </a:r>
            <a:endParaRPr lang="en-IN" sz="2400" dirty="0"/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Update size: </a:t>
            </a:r>
            <a:r>
              <a:rPr lang="en-IN" sz="2400" dirty="0">
                <a:solidFill>
                  <a:srgbClr val="FF0000"/>
                </a:solidFill>
              </a:rPr>
              <a:t>N ← N + 1</a:t>
            </a:r>
            <a:r>
              <a:rPr lang="en-IN" sz="2400" dirty="0"/>
              <a:t>, then display </a:t>
            </a:r>
            <a:r>
              <a:rPr lang="en-IN" sz="2400" dirty="0">
                <a:solidFill>
                  <a:srgbClr val="FF0000"/>
                </a:solidFill>
              </a:rPr>
              <a:t>sorted A[1..N]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9ED5427-F657-9E70-06DA-F4054F801D65}"/>
              </a:ext>
            </a:extLst>
          </p:cNvPr>
          <p:cNvSpPr/>
          <p:nvPr/>
        </p:nvSpPr>
        <p:spPr>
          <a:xfrm>
            <a:off x="131180" y="1306609"/>
            <a:ext cx="693235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IN" sz="2400" b="1" u="sng" dirty="0"/>
              <a:t>INPUT:</a:t>
            </a:r>
          </a:p>
          <a:p>
            <a:pPr marL="457200" lvl="0" indent="-457200"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Take </a:t>
            </a:r>
            <a:r>
              <a:rPr lang="en-IN" sz="2400" dirty="0">
                <a:solidFill>
                  <a:srgbClr val="FF0000"/>
                </a:solidFill>
              </a:rPr>
              <a:t>sorted array</a:t>
            </a:r>
            <a:r>
              <a:rPr lang="en-IN" sz="2400" dirty="0"/>
              <a:t> elements (size N) from user </a:t>
            </a:r>
          </a:p>
          <a:p>
            <a:pPr marL="457200" lvl="0" indent="-457200"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Take </a:t>
            </a:r>
            <a:r>
              <a:rPr lang="en-IN" sz="2400" dirty="0">
                <a:solidFill>
                  <a:srgbClr val="FF0000"/>
                </a:solidFill>
              </a:rPr>
              <a:t>value (VAL)</a:t>
            </a:r>
            <a:r>
              <a:rPr lang="en-IN" sz="2400" dirty="0"/>
              <a:t> to insert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2386B06-6864-C374-71A2-C7206B5B61ED}"/>
              </a:ext>
            </a:extLst>
          </p:cNvPr>
          <p:cNvSpPr/>
          <p:nvPr/>
        </p:nvSpPr>
        <p:spPr>
          <a:xfrm>
            <a:off x="131180" y="3196901"/>
            <a:ext cx="693235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IN" sz="2400" b="1" u="sng" dirty="0"/>
              <a:t>OUTPUT:</a:t>
            </a:r>
          </a:p>
          <a:p>
            <a:pPr lvl="0"/>
            <a:r>
              <a:rPr lang="en-IN" sz="2400" dirty="0"/>
              <a:t>Display the </a:t>
            </a:r>
            <a:r>
              <a:rPr lang="en-IN" sz="2400" dirty="0">
                <a:solidFill>
                  <a:srgbClr val="FF0000"/>
                </a:solidFill>
              </a:rPr>
              <a:t>sorted array</a:t>
            </a:r>
            <a:r>
              <a:rPr lang="en-IN" sz="2400" dirty="0"/>
              <a:t> after insertion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AB1DB33-8BD5-E720-6685-F5040555B53C}"/>
              </a:ext>
            </a:extLst>
          </p:cNvPr>
          <p:cNvSpPr/>
          <p:nvPr/>
        </p:nvSpPr>
        <p:spPr>
          <a:xfrm>
            <a:off x="7308911" y="1208257"/>
            <a:ext cx="37321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b="1" dirty="0">
                <a:solidFill>
                  <a:srgbClr val="C00000"/>
                </a:solidFill>
              </a:rPr>
              <a:t>METHODOLOGY  INVOLVED: </a:t>
            </a:r>
          </a:p>
        </p:txBody>
      </p:sp>
    </p:spTree>
    <p:extLst>
      <p:ext uri="{BB962C8B-B14F-4D97-AF65-F5344CB8AC3E}">
        <p14:creationId xmlns:p14="http://schemas.microsoft.com/office/powerpoint/2010/main" val="3806078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7">
            <a:extLst>
              <a:ext uri="{FF2B5EF4-FFF2-40B4-BE49-F238E27FC236}">
                <a16:creationId xmlns:a16="http://schemas.microsoft.com/office/drawing/2014/main" id="{5FBBB86F-5F48-6532-EA7E-4BCCFA943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- 26</a:t>
            </a:r>
            <a:endParaRPr lang="en-IN" dirty="0"/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B9462999-8384-030C-50FF-CEB6E71B7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9" y="876144"/>
            <a:ext cx="11929641" cy="5590565"/>
          </a:xfrm>
        </p:spPr>
        <p:txBody>
          <a:bodyPr/>
          <a:lstStyle/>
          <a:p>
            <a:r>
              <a:rPr lang="en-IN" dirty="0"/>
              <a:t>Write a program to insert a number in an array that is already sorted in an ascending order.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732954-124C-74A0-A7B3-E74E9779E578}"/>
              </a:ext>
            </a:extLst>
          </p:cNvPr>
          <p:cNvSpPr txBox="1"/>
          <p:nvPr/>
        </p:nvSpPr>
        <p:spPr>
          <a:xfrm>
            <a:off x="2418739" y="1773839"/>
            <a:ext cx="7354522" cy="46166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1. [</a:t>
            </a:r>
            <a:r>
              <a:rPr lang="en-US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Scan from the end to find correct insertion position</a:t>
            </a:r>
            <a:r>
              <a:rPr lang="en-IN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]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   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SET I ← N</a:t>
            </a:r>
          </a:p>
          <a:p>
            <a:r>
              <a:rPr lang="en-US" sz="2400" dirty="0">
                <a:latin typeface="Consolas" pitchFamily="49" charset="0"/>
                <a:cs typeface="Consolas" pitchFamily="49" charset="0"/>
              </a:rPr>
              <a:t>   REPEAT WHILE I &gt;= 1 AND A[I] &gt; VAL</a:t>
            </a:r>
          </a:p>
          <a:p>
            <a:r>
              <a:rPr lang="en-US" sz="2400" dirty="0">
                <a:latin typeface="Consolas" pitchFamily="49" charset="0"/>
                <a:cs typeface="Consolas" pitchFamily="49" charset="0"/>
              </a:rPr>
              <a:t>          A[I+1] ← A[I] </a:t>
            </a:r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/ shift right /</a:t>
            </a:r>
          </a:p>
          <a:p>
            <a:r>
              <a:rPr lang="en-US" sz="2400" dirty="0">
                <a:latin typeface="Consolas" pitchFamily="49" charset="0"/>
                <a:cs typeface="Consolas" pitchFamily="49" charset="0"/>
              </a:rPr>
              <a:t>          I ← I – 1</a:t>
            </a:r>
          </a:p>
          <a:p>
            <a:r>
              <a:rPr lang="en-US" sz="2400" dirty="0">
                <a:latin typeface="Consolas" pitchFamily="49" charset="0"/>
                <a:cs typeface="Consolas" pitchFamily="49" charset="0"/>
              </a:rPr>
              <a:t>     END REPEAT</a:t>
            </a:r>
          </a:p>
          <a:p>
            <a:r>
              <a:rPr lang="en-IN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2. [</a:t>
            </a:r>
            <a:r>
              <a:rPr lang="en-US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Insert VAL at its correct position to maintain sorted order</a:t>
            </a:r>
            <a:r>
              <a:rPr lang="en-IN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]</a:t>
            </a:r>
          </a:p>
          <a:p>
            <a:r>
              <a:rPr lang="en-IN" sz="22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US" sz="2200" dirty="0">
                <a:latin typeface="Consolas" pitchFamily="49" charset="0"/>
                <a:cs typeface="Consolas" pitchFamily="49" charset="0"/>
              </a:rPr>
              <a:t>A[I+1] ← VAL</a:t>
            </a:r>
          </a:p>
          <a:p>
            <a:r>
              <a:rPr lang="en-IN" sz="2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3. </a:t>
            </a:r>
            <a:r>
              <a:rPr lang="en-US" sz="2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[Update size and print sorted array]</a:t>
            </a:r>
            <a:endParaRPr lang="en-IN" sz="2400" b="1" dirty="0">
              <a:solidFill>
                <a:schemeClr val="tx2"/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en-IN" sz="2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pt-BR" sz="2200" dirty="0">
                <a:latin typeface="Consolas" pitchFamily="49" charset="0"/>
              </a:rPr>
              <a:t>N ← N + 1</a:t>
            </a:r>
          </a:p>
          <a:p>
            <a:r>
              <a:rPr lang="pt-BR" sz="2200" dirty="0">
                <a:latin typeface="Consolas" pitchFamily="49" charset="0"/>
              </a:rPr>
              <a:t>    PRINT A[1..N]</a:t>
            </a:r>
            <a:endParaRPr lang="en-IN" sz="2200" dirty="0">
              <a:latin typeface="Consolas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B707BD-7A81-2B35-2EBD-1223C00663A4}"/>
              </a:ext>
            </a:extLst>
          </p:cNvPr>
          <p:cNvSpPr txBox="1"/>
          <p:nvPr/>
        </p:nvSpPr>
        <p:spPr>
          <a:xfrm>
            <a:off x="5369986" y="1312174"/>
            <a:ext cx="14520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Algorithm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1790868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7">
            <a:extLst>
              <a:ext uri="{FF2B5EF4-FFF2-40B4-BE49-F238E27FC236}">
                <a16:creationId xmlns:a16="http://schemas.microsoft.com/office/drawing/2014/main" id="{388A851F-2EE8-EE57-F411-631543E0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Program#26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6BEAF7-0573-88AE-97A2-351D2DE0FD9B}"/>
              </a:ext>
            </a:extLst>
          </p:cNvPr>
          <p:cNvSpPr txBox="1"/>
          <p:nvPr/>
        </p:nvSpPr>
        <p:spPr>
          <a:xfrm>
            <a:off x="5233252" y="914400"/>
            <a:ext cx="1919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 Function</a:t>
            </a:r>
            <a:endParaRPr lang="en-IN" sz="2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936AF4-2226-F679-2206-E75DD8109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011" y="1376065"/>
            <a:ext cx="4976291" cy="47019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512BF53-A11C-2A25-09A9-73E5FE3A7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1462" y="1376065"/>
            <a:ext cx="5273497" cy="3414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8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2B7F6-7C5A-8285-E6A0-4218EED6E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8CE2654A-3B08-767A-352E-DDCFAD268A0F}"/>
              </a:ext>
            </a:extLst>
          </p:cNvPr>
          <p:cNvSpPr/>
          <p:nvPr/>
        </p:nvSpPr>
        <p:spPr>
          <a:xfrm>
            <a:off x="6927012" y="1128805"/>
            <a:ext cx="4995052" cy="5396753"/>
          </a:xfrm>
          <a:prstGeom prst="rect">
            <a:avLst/>
          </a:prstGeom>
          <a:solidFill>
            <a:schemeClr val="bg2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Title 7">
            <a:extLst>
              <a:ext uri="{FF2B5EF4-FFF2-40B4-BE49-F238E27FC236}">
                <a16:creationId xmlns:a16="http://schemas.microsoft.com/office/drawing/2014/main" id="{576C95EE-B845-BD68-A0E3-2A89E7710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- 27</a:t>
            </a:r>
            <a:endParaRPr lang="en-IN" dirty="0"/>
          </a:p>
        </p:txBody>
      </p:sp>
      <p:sp>
        <p:nvSpPr>
          <p:cNvPr id="28" name="Content Placeholder 8">
            <a:extLst>
              <a:ext uri="{FF2B5EF4-FFF2-40B4-BE49-F238E27FC236}">
                <a16:creationId xmlns:a16="http://schemas.microsoft.com/office/drawing/2014/main" id="{52EF7E89-40DC-ACBE-E13C-B72F3E5303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23238"/>
            <a:ext cx="12192000" cy="405567"/>
          </a:xfrm>
        </p:spPr>
        <p:txBody>
          <a:bodyPr/>
          <a:lstStyle/>
          <a:p>
            <a:r>
              <a:rPr lang="en-IN" dirty="0"/>
              <a:t>Write a program to </a:t>
            </a:r>
            <a:r>
              <a:rPr lang="en-IN" dirty="0">
                <a:solidFill>
                  <a:srgbClr val="FF0000"/>
                </a:solidFill>
              </a:rPr>
              <a:t>delete a number</a:t>
            </a:r>
            <a:r>
              <a:rPr lang="en-IN" dirty="0"/>
              <a:t> from an array </a:t>
            </a:r>
            <a:r>
              <a:rPr lang="en-IN" dirty="0">
                <a:solidFill>
                  <a:srgbClr val="FF0000"/>
                </a:solidFill>
              </a:rPr>
              <a:t>sorted in ascending order</a:t>
            </a:r>
            <a:r>
              <a:rPr lang="en-IN" dirty="0"/>
              <a:t>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120DDA-C217-9CE4-3339-CA62A2E1F4FA}"/>
              </a:ext>
            </a:extLst>
          </p:cNvPr>
          <p:cNvSpPr txBox="1"/>
          <p:nvPr/>
        </p:nvSpPr>
        <p:spPr>
          <a:xfrm>
            <a:off x="7063530" y="1669922"/>
            <a:ext cx="4858533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Declare a variable </a:t>
            </a:r>
            <a:r>
              <a:rPr lang="en-IN" sz="2400" dirty="0">
                <a:solidFill>
                  <a:srgbClr val="FF0000"/>
                </a:solidFill>
              </a:rPr>
              <a:t>'size'</a:t>
            </a:r>
            <a:r>
              <a:rPr lang="en-IN" sz="2400" dirty="0"/>
              <a:t> of data type </a:t>
            </a:r>
            <a:r>
              <a:rPr lang="en-IN" sz="2400" dirty="0">
                <a:solidFill>
                  <a:srgbClr val="FF0000"/>
                </a:solidFill>
              </a:rPr>
              <a:t>int</a:t>
            </a:r>
            <a:r>
              <a:rPr lang="en-IN" sz="2400" dirty="0"/>
              <a:t>, take it from user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>
                <a:solidFill>
                  <a:srgbClr val="FF0000"/>
                </a:solidFill>
              </a:rPr>
              <a:t>Linear search</a:t>
            </a:r>
            <a:r>
              <a:rPr lang="en-IN" sz="2400" dirty="0"/>
              <a:t> for VAL; record </a:t>
            </a:r>
            <a:r>
              <a:rPr lang="en-IN" sz="2400" dirty="0">
                <a:solidFill>
                  <a:srgbClr val="FF0000"/>
                </a:solidFill>
              </a:rPr>
              <a:t>position POS</a:t>
            </a:r>
            <a:r>
              <a:rPr lang="en-IN" sz="2400" dirty="0"/>
              <a:t> (initialize </a:t>
            </a:r>
            <a:r>
              <a:rPr lang="en-IN" sz="2400" dirty="0">
                <a:solidFill>
                  <a:srgbClr val="FF0000"/>
                </a:solidFill>
              </a:rPr>
              <a:t>POS ← −1</a:t>
            </a:r>
            <a:r>
              <a:rPr lang="en-IN" sz="2400" dirty="0"/>
              <a:t>)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If </a:t>
            </a:r>
            <a:r>
              <a:rPr lang="en-IN" sz="2400" dirty="0">
                <a:solidFill>
                  <a:srgbClr val="FF0000"/>
                </a:solidFill>
              </a:rPr>
              <a:t>POS = −1</a:t>
            </a:r>
            <a:r>
              <a:rPr lang="en-IN" sz="2400" dirty="0"/>
              <a:t>, print </a:t>
            </a:r>
            <a:r>
              <a:rPr lang="en-IN" sz="2400" dirty="0">
                <a:solidFill>
                  <a:srgbClr val="FF0000"/>
                </a:solidFill>
              </a:rPr>
              <a:t>"Value not found"</a:t>
            </a:r>
            <a:r>
              <a:rPr lang="en-IN" sz="2400" dirty="0"/>
              <a:t> and stop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Shift elements </a:t>
            </a:r>
            <a:r>
              <a:rPr lang="en-IN" sz="2400" dirty="0">
                <a:solidFill>
                  <a:srgbClr val="FF0000"/>
                </a:solidFill>
              </a:rPr>
              <a:t>left</a:t>
            </a:r>
            <a:r>
              <a:rPr lang="en-IN" sz="2400" dirty="0"/>
              <a:t>: </a:t>
            </a:r>
            <a:r>
              <a:rPr lang="en-IN" sz="2400" dirty="0">
                <a:solidFill>
                  <a:srgbClr val="FF0000"/>
                </a:solidFill>
              </a:rPr>
              <a:t>A[I] ← A[I+1]</a:t>
            </a:r>
            <a:endParaRPr lang="en-IN" sz="2400" dirty="0"/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Update size: </a:t>
            </a:r>
            <a:r>
              <a:rPr lang="en-IN" sz="2400" dirty="0">
                <a:solidFill>
                  <a:srgbClr val="FF0000"/>
                </a:solidFill>
              </a:rPr>
              <a:t>N ← N − 1</a:t>
            </a:r>
            <a:r>
              <a:rPr lang="en-IN" sz="2400" dirty="0"/>
              <a:t>, then display </a:t>
            </a:r>
            <a:r>
              <a:rPr lang="en-IN" sz="2400" dirty="0">
                <a:solidFill>
                  <a:srgbClr val="FF0000"/>
                </a:solidFill>
              </a:rPr>
              <a:t>A[1..N]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1CA0863-85FB-3716-A5F5-E2092169D7EA}"/>
              </a:ext>
            </a:extLst>
          </p:cNvPr>
          <p:cNvSpPr/>
          <p:nvPr/>
        </p:nvSpPr>
        <p:spPr>
          <a:xfrm>
            <a:off x="131180" y="1306609"/>
            <a:ext cx="693235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IN" sz="2400" b="1" u="sng" dirty="0"/>
              <a:t>INPUT:</a:t>
            </a:r>
          </a:p>
          <a:p>
            <a:pPr marL="457200" lvl="0" indent="-457200"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Take </a:t>
            </a:r>
            <a:r>
              <a:rPr lang="en-IN" sz="2400" dirty="0">
                <a:solidFill>
                  <a:srgbClr val="FF0000"/>
                </a:solidFill>
              </a:rPr>
              <a:t>sorted array</a:t>
            </a:r>
            <a:r>
              <a:rPr lang="en-IN" sz="2400" dirty="0"/>
              <a:t> elements (size N) from user </a:t>
            </a:r>
          </a:p>
          <a:p>
            <a:pPr marL="457200" lvl="0" indent="-457200"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Take </a:t>
            </a:r>
            <a:r>
              <a:rPr lang="en-IN" sz="2400" dirty="0">
                <a:solidFill>
                  <a:srgbClr val="FF0000"/>
                </a:solidFill>
              </a:rPr>
              <a:t>value (VAL)</a:t>
            </a:r>
            <a:r>
              <a:rPr lang="en-IN" sz="2400" dirty="0"/>
              <a:t> to delete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F81D192-5DCD-C50E-C50E-5BF9B1223A44}"/>
              </a:ext>
            </a:extLst>
          </p:cNvPr>
          <p:cNvSpPr/>
          <p:nvPr/>
        </p:nvSpPr>
        <p:spPr>
          <a:xfrm>
            <a:off x="131180" y="3196901"/>
            <a:ext cx="693235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IN" sz="2400" b="1" u="sng" dirty="0"/>
              <a:t>OUTPUT:</a:t>
            </a:r>
          </a:p>
          <a:p>
            <a:pPr lvl="0"/>
            <a:r>
              <a:rPr lang="en-IN" sz="2400" dirty="0"/>
              <a:t>Display the </a:t>
            </a:r>
            <a:r>
              <a:rPr lang="en-IN" sz="2400" dirty="0">
                <a:solidFill>
                  <a:srgbClr val="FF0000"/>
                </a:solidFill>
              </a:rPr>
              <a:t>sorted array</a:t>
            </a:r>
            <a:r>
              <a:rPr lang="en-IN" sz="2400" dirty="0"/>
              <a:t> after deletion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8565C2E-948C-9118-4611-5A9122E21F4E}"/>
              </a:ext>
            </a:extLst>
          </p:cNvPr>
          <p:cNvSpPr/>
          <p:nvPr/>
        </p:nvSpPr>
        <p:spPr>
          <a:xfrm>
            <a:off x="7308911" y="1208257"/>
            <a:ext cx="37321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b="1" dirty="0">
                <a:solidFill>
                  <a:srgbClr val="C00000"/>
                </a:solidFill>
              </a:rPr>
              <a:t>METHODOLOGY  INVOLVED: </a:t>
            </a:r>
          </a:p>
        </p:txBody>
      </p:sp>
    </p:spTree>
    <p:extLst>
      <p:ext uri="{BB962C8B-B14F-4D97-AF65-F5344CB8AC3E}">
        <p14:creationId xmlns:p14="http://schemas.microsoft.com/office/powerpoint/2010/main" val="25667291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7">
            <a:extLst>
              <a:ext uri="{FF2B5EF4-FFF2-40B4-BE49-F238E27FC236}">
                <a16:creationId xmlns:a16="http://schemas.microsoft.com/office/drawing/2014/main" id="{801CFB5E-E8E4-96B5-1CC4-51BC60A13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- 27</a:t>
            </a:r>
            <a:endParaRPr lang="en-IN" dirty="0"/>
          </a:p>
        </p:txBody>
      </p:sp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97F6CBEC-73EC-0CDF-64D9-1169D5FA4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Write a program to delete a number from an array that is already sorted in an ascending order.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4FCF97-4F6D-D3CD-FE6B-91F16229372E}"/>
              </a:ext>
            </a:extLst>
          </p:cNvPr>
          <p:cNvSpPr txBox="1"/>
          <p:nvPr/>
        </p:nvSpPr>
        <p:spPr>
          <a:xfrm>
            <a:off x="219471" y="1773840"/>
            <a:ext cx="5876529" cy="430887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1. [</a:t>
            </a:r>
            <a:r>
              <a:rPr lang="en-US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Search for VAL using linear scan</a:t>
            </a:r>
            <a:r>
              <a:rPr lang="en-IN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]</a:t>
            </a:r>
          </a:p>
          <a:p>
            <a:r>
              <a:rPr lang="en-US" sz="2400" dirty="0">
                <a:latin typeface="Consolas" pitchFamily="49" charset="0"/>
                <a:cs typeface="Consolas" pitchFamily="49" charset="0"/>
              </a:rPr>
              <a:t>    SET I ← 1, POS ← -1</a:t>
            </a:r>
          </a:p>
          <a:p>
            <a:r>
              <a:rPr lang="en-US" sz="2400" dirty="0">
                <a:latin typeface="Consolas" pitchFamily="49" charset="0"/>
                <a:cs typeface="Consolas" pitchFamily="49" charset="0"/>
              </a:rPr>
              <a:t>    REPEAT WHILE I &lt;= N  </a:t>
            </a:r>
          </a:p>
          <a:p>
            <a:r>
              <a:rPr lang="en-US" sz="2400" dirty="0">
                <a:latin typeface="Consolas" pitchFamily="49" charset="0"/>
                <a:cs typeface="Consolas" pitchFamily="49" charset="0"/>
              </a:rPr>
              <a:t>		</a:t>
            </a:r>
            <a:r>
              <a:rPr lang="en-IN" sz="24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IF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A[I] = VAL</a:t>
            </a:r>
          </a:p>
          <a:p>
            <a:r>
              <a:rPr lang="en-US" sz="2400" dirty="0">
                <a:latin typeface="Consolas" pitchFamily="49" charset="0"/>
                <a:cs typeface="Consolas" pitchFamily="49" charset="0"/>
              </a:rPr>
              <a:t>            </a:t>
            </a:r>
            <a:r>
              <a:rPr lang="en-IN" sz="24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POS ← I</a:t>
            </a:r>
          </a:p>
          <a:p>
            <a:r>
              <a:rPr lang="en-US" sz="2400" dirty="0">
                <a:latin typeface="Consolas" pitchFamily="49" charset="0"/>
                <a:cs typeface="Consolas" pitchFamily="49" charset="0"/>
              </a:rPr>
              <a:t>			 BREAK  </a:t>
            </a:r>
          </a:p>
          <a:p>
            <a:r>
              <a:rPr lang="en-US" sz="2400" dirty="0">
                <a:latin typeface="Consolas" pitchFamily="49" charset="0"/>
                <a:cs typeface="Consolas" pitchFamily="49" charset="0"/>
              </a:rPr>
              <a:t>	 I ← I + 1</a:t>
            </a:r>
          </a:p>
          <a:p>
            <a:r>
              <a:rPr lang="en-US" sz="2400" dirty="0">
                <a:latin typeface="Consolas" pitchFamily="49" charset="0"/>
                <a:cs typeface="Consolas" pitchFamily="49" charset="0"/>
              </a:rPr>
              <a:t>     END REPEAT</a:t>
            </a:r>
          </a:p>
          <a:p>
            <a:r>
              <a:rPr lang="en-IN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2. [</a:t>
            </a:r>
            <a:r>
              <a:rPr lang="en-US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If not found, report error and stop</a:t>
            </a:r>
            <a:r>
              <a:rPr lang="en-IN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]</a:t>
            </a:r>
          </a:p>
          <a:p>
            <a:r>
              <a:rPr lang="en-IN" sz="22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IN" sz="20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US" sz="2200" dirty="0">
                <a:latin typeface="Consolas" pitchFamily="49" charset="0"/>
                <a:cs typeface="Consolas" pitchFamily="49" charset="0"/>
              </a:rPr>
              <a:t> POS = -1 </a:t>
            </a:r>
          </a:p>
          <a:p>
            <a:r>
              <a:rPr lang="en-US" sz="22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IN" sz="20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US" sz="2200" dirty="0">
                <a:latin typeface="Consolas" pitchFamily="49" charset="0"/>
                <a:cs typeface="Consolas" pitchFamily="49" charset="0"/>
              </a:rPr>
              <a:t>  PRINT "Value not found"  </a:t>
            </a:r>
          </a:p>
          <a:p>
            <a:r>
              <a:rPr lang="en-US" sz="2200" dirty="0">
                <a:latin typeface="Consolas" pitchFamily="49" charset="0"/>
                <a:cs typeface="Consolas" pitchFamily="49" charset="0"/>
              </a:rPr>
              <a:t>    EXIT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B67E7E-C2B2-C2B2-0631-9A7931136C6A}"/>
              </a:ext>
            </a:extLst>
          </p:cNvPr>
          <p:cNvSpPr txBox="1"/>
          <p:nvPr/>
        </p:nvSpPr>
        <p:spPr>
          <a:xfrm>
            <a:off x="4923265" y="1312175"/>
            <a:ext cx="14520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Algorithm</a:t>
            </a:r>
            <a:endParaRPr lang="en-IN" sz="2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2DA9B7-FE63-E43B-C5C4-D1706344AFBD}"/>
              </a:ext>
            </a:extLst>
          </p:cNvPr>
          <p:cNvSpPr txBox="1"/>
          <p:nvPr/>
        </p:nvSpPr>
        <p:spPr>
          <a:xfrm>
            <a:off x="6432006" y="1773840"/>
            <a:ext cx="5292808" cy="366254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3. [</a:t>
            </a:r>
            <a:r>
              <a:rPr lang="en-US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Shift elements left from POS to fill the gap</a:t>
            </a:r>
            <a:r>
              <a:rPr lang="en-IN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]</a:t>
            </a:r>
          </a:p>
          <a:p>
            <a:r>
              <a:rPr lang="en-IN" sz="2400" dirty="0">
                <a:latin typeface="Consolas" pitchFamily="49" charset="0"/>
                <a:cs typeface="Consolas" pitchFamily="49" charset="0"/>
              </a:rPr>
              <a:t>      </a:t>
            </a:r>
            <a:r>
              <a:rPr lang="pt-BR" sz="2400" dirty="0">
                <a:latin typeface="Consolas" pitchFamily="49" charset="0"/>
              </a:rPr>
              <a:t>SET I ← POS</a:t>
            </a:r>
          </a:p>
          <a:p>
            <a:r>
              <a:rPr lang="pt-BR" sz="2400" dirty="0">
                <a:latin typeface="Consolas" pitchFamily="49" charset="0"/>
              </a:rPr>
              <a:t>	 REPEAT WHILE I &lt; N</a:t>
            </a:r>
          </a:p>
          <a:p>
            <a:r>
              <a:rPr lang="pt-BR" sz="2400" dirty="0">
                <a:latin typeface="Consolas" pitchFamily="49" charset="0"/>
              </a:rPr>
              <a:t>             A[I] ← A[I+1]  </a:t>
            </a:r>
          </a:p>
          <a:p>
            <a:r>
              <a:rPr lang="pt-BR" sz="2400" dirty="0">
                <a:latin typeface="Consolas" pitchFamily="49" charset="0"/>
              </a:rPr>
              <a:t>             I ← I + 1</a:t>
            </a:r>
          </a:p>
          <a:p>
            <a:r>
              <a:rPr lang="pt-BR" sz="2400" dirty="0">
                <a:latin typeface="Consolas" pitchFamily="49" charset="0"/>
              </a:rPr>
              <a:t>     END REPEAT</a:t>
            </a:r>
          </a:p>
          <a:p>
            <a:r>
              <a:rPr lang="en-IN" sz="2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4. [</a:t>
            </a:r>
            <a:r>
              <a:rPr lang="en-US" sz="2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Decrease size and display result</a:t>
            </a:r>
            <a:r>
              <a:rPr lang="en-IN" sz="2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]</a:t>
            </a:r>
          </a:p>
          <a:p>
            <a:r>
              <a:rPr lang="pt-BR" sz="2400" dirty="0">
                <a:latin typeface="Consolas" pitchFamily="49" charset="0"/>
              </a:rPr>
              <a:t>     </a:t>
            </a:r>
            <a:r>
              <a:rPr lang="en-IN" sz="24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2400" dirty="0">
                <a:latin typeface="Consolas" pitchFamily="49" charset="0"/>
              </a:rPr>
              <a:t>N ← N - 1PRINT A[1..N]</a:t>
            </a:r>
          </a:p>
        </p:txBody>
      </p:sp>
    </p:spTree>
    <p:extLst>
      <p:ext uri="{BB962C8B-B14F-4D97-AF65-F5344CB8AC3E}">
        <p14:creationId xmlns:p14="http://schemas.microsoft.com/office/powerpoint/2010/main" val="32780749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7">
            <a:extLst>
              <a:ext uri="{FF2B5EF4-FFF2-40B4-BE49-F238E27FC236}">
                <a16:creationId xmlns:a16="http://schemas.microsoft.com/office/drawing/2014/main" id="{57449AF6-21B8-E8E8-1B0F-06F3977A8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Program#27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B4E4D7-A745-55D3-F465-A3A536B2A15C}"/>
              </a:ext>
            </a:extLst>
          </p:cNvPr>
          <p:cNvSpPr txBox="1"/>
          <p:nvPr/>
        </p:nvSpPr>
        <p:spPr>
          <a:xfrm>
            <a:off x="5233252" y="914400"/>
            <a:ext cx="1919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 Function</a:t>
            </a:r>
            <a:endParaRPr lang="en-IN" sz="2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D41BB3-46E0-49FA-651A-52E476C61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29" y="1376065"/>
            <a:ext cx="5456393" cy="47019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93F265-E84A-64AE-146F-FAC0B68F9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76065"/>
            <a:ext cx="5143946" cy="3063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855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67BEC-BA94-C426-FD22-010A04F6E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DAC3FFB4-7434-FB1F-0B92-5399B05E6FC9}"/>
              </a:ext>
            </a:extLst>
          </p:cNvPr>
          <p:cNvSpPr/>
          <p:nvPr/>
        </p:nvSpPr>
        <p:spPr>
          <a:xfrm>
            <a:off x="6927012" y="1128805"/>
            <a:ext cx="4995052" cy="5396753"/>
          </a:xfrm>
          <a:prstGeom prst="rect">
            <a:avLst/>
          </a:prstGeom>
          <a:solidFill>
            <a:schemeClr val="bg2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Title 7">
            <a:extLst>
              <a:ext uri="{FF2B5EF4-FFF2-40B4-BE49-F238E27FC236}">
                <a16:creationId xmlns:a16="http://schemas.microsoft.com/office/drawing/2014/main" id="{12E37007-E499-2E13-3A92-F21F1D34D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- 28</a:t>
            </a:r>
            <a:endParaRPr lang="en-IN" dirty="0"/>
          </a:p>
        </p:txBody>
      </p:sp>
      <p:sp>
        <p:nvSpPr>
          <p:cNvPr id="28" name="Content Placeholder 8">
            <a:extLst>
              <a:ext uri="{FF2B5EF4-FFF2-40B4-BE49-F238E27FC236}">
                <a16:creationId xmlns:a16="http://schemas.microsoft.com/office/drawing/2014/main" id="{14DDAF50-30B6-659B-C024-758F5F2310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23238"/>
            <a:ext cx="12192000" cy="405567"/>
          </a:xfrm>
        </p:spPr>
        <p:txBody>
          <a:bodyPr/>
          <a:lstStyle/>
          <a:p>
            <a:r>
              <a:rPr lang="en-IN" dirty="0"/>
              <a:t>Write a program to </a:t>
            </a:r>
            <a:r>
              <a:rPr lang="en-IN" dirty="0">
                <a:solidFill>
                  <a:srgbClr val="FF0000"/>
                </a:solidFill>
              </a:rPr>
              <a:t>delete duplicate numbers</a:t>
            </a:r>
            <a:r>
              <a:rPr lang="en-IN" dirty="0"/>
              <a:t> from an </a:t>
            </a:r>
            <a:r>
              <a:rPr lang="en-IN" dirty="0">
                <a:solidFill>
                  <a:srgbClr val="FF0000"/>
                </a:solidFill>
              </a:rPr>
              <a:t>array</a:t>
            </a:r>
            <a:r>
              <a:rPr lang="en-IN" dirty="0"/>
              <a:t>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031E678-7490-503B-670F-10FA1BA1B92B}"/>
              </a:ext>
            </a:extLst>
          </p:cNvPr>
          <p:cNvSpPr txBox="1"/>
          <p:nvPr/>
        </p:nvSpPr>
        <p:spPr>
          <a:xfrm>
            <a:off x="7063530" y="1669922"/>
            <a:ext cx="4858533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>
                <a:solidFill>
                  <a:srgbClr val="FF0000"/>
                </a:solidFill>
              </a:rPr>
              <a:t>Outer loop</a:t>
            </a:r>
            <a:r>
              <a:rPr lang="en-IN" sz="2400" dirty="0"/>
              <a:t>: pick each element </a:t>
            </a:r>
            <a:r>
              <a:rPr lang="en-IN" sz="2400" dirty="0">
                <a:solidFill>
                  <a:srgbClr val="FF0000"/>
                </a:solidFill>
              </a:rPr>
              <a:t>A[I]</a:t>
            </a:r>
            <a:r>
              <a:rPr lang="en-IN" sz="2400" dirty="0"/>
              <a:t> as reference (</a:t>
            </a:r>
            <a:r>
              <a:rPr lang="en-IN" sz="2400" dirty="0">
                <a:solidFill>
                  <a:srgbClr val="FF0000"/>
                </a:solidFill>
              </a:rPr>
              <a:t>I = 0 to N−1</a:t>
            </a:r>
            <a:r>
              <a:rPr lang="en-IN" sz="2400" dirty="0"/>
              <a:t>) 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>
                <a:solidFill>
                  <a:srgbClr val="FF0000"/>
                </a:solidFill>
              </a:rPr>
              <a:t>Inner loop</a:t>
            </a:r>
            <a:r>
              <a:rPr lang="en-IN" sz="2400" dirty="0"/>
              <a:t>: compare </a:t>
            </a:r>
            <a:r>
              <a:rPr lang="en-IN" sz="2400" dirty="0">
                <a:solidFill>
                  <a:srgbClr val="FF0000"/>
                </a:solidFill>
              </a:rPr>
              <a:t>A[I]</a:t>
            </a:r>
            <a:r>
              <a:rPr lang="en-IN" sz="2400" dirty="0"/>
              <a:t> with </a:t>
            </a:r>
            <a:r>
              <a:rPr lang="en-IN" sz="2400" dirty="0">
                <a:solidFill>
                  <a:srgbClr val="FF0000"/>
                </a:solidFill>
              </a:rPr>
              <a:t>A[J]</a:t>
            </a:r>
            <a:r>
              <a:rPr lang="en-IN" sz="2400" dirty="0"/>
              <a:t> after it (</a:t>
            </a:r>
            <a:r>
              <a:rPr lang="en-IN" sz="2400" dirty="0">
                <a:solidFill>
                  <a:srgbClr val="FF0000"/>
                </a:solidFill>
              </a:rPr>
              <a:t>J = I+1 to N−1</a:t>
            </a:r>
            <a:r>
              <a:rPr lang="en-IN" sz="2400" dirty="0"/>
              <a:t>) 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If </a:t>
            </a:r>
            <a:r>
              <a:rPr lang="en-IN" sz="2400" dirty="0">
                <a:solidFill>
                  <a:srgbClr val="FF0000"/>
                </a:solidFill>
              </a:rPr>
              <a:t>A[I] = A[J]</a:t>
            </a:r>
            <a:r>
              <a:rPr lang="en-IN" sz="2400" dirty="0"/>
              <a:t>: shift elements </a:t>
            </a:r>
            <a:r>
              <a:rPr lang="en-IN" sz="2400" dirty="0">
                <a:solidFill>
                  <a:srgbClr val="FF0000"/>
                </a:solidFill>
              </a:rPr>
              <a:t>left</a:t>
            </a:r>
            <a:r>
              <a:rPr lang="en-IN" sz="2400" dirty="0"/>
              <a:t> from J, decrease </a:t>
            </a:r>
            <a:r>
              <a:rPr lang="en-IN" sz="2400" dirty="0">
                <a:solidFill>
                  <a:srgbClr val="FF0000"/>
                </a:solidFill>
              </a:rPr>
              <a:t>N</a:t>
            </a:r>
            <a:r>
              <a:rPr lang="en-IN" sz="2400" dirty="0"/>
              <a:t> 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Repeat until all duplicates removed, then display </a:t>
            </a:r>
            <a:r>
              <a:rPr lang="en-IN" sz="2400" dirty="0">
                <a:solidFill>
                  <a:srgbClr val="FF0000"/>
                </a:solidFill>
              </a:rPr>
              <a:t>A[1..N]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2CC87A8-F250-1A6D-A56E-823F2411ADAE}"/>
              </a:ext>
            </a:extLst>
          </p:cNvPr>
          <p:cNvSpPr/>
          <p:nvPr/>
        </p:nvSpPr>
        <p:spPr>
          <a:xfrm>
            <a:off x="131180" y="1306609"/>
            <a:ext cx="693235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IN" sz="2400" b="1" u="sng" dirty="0"/>
              <a:t>INPUT:</a:t>
            </a:r>
          </a:p>
          <a:p>
            <a:pPr marL="457200" lvl="0" indent="-457200"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Take </a:t>
            </a:r>
            <a:r>
              <a:rPr lang="en-IN" sz="2400" dirty="0">
                <a:solidFill>
                  <a:srgbClr val="FF0000"/>
                </a:solidFill>
              </a:rPr>
              <a:t>total elements</a:t>
            </a:r>
            <a:r>
              <a:rPr lang="en-IN" sz="2400" dirty="0"/>
              <a:t> ('size'/'n') from user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45455F1-96B4-E967-ECE0-FF9462CBAE52}"/>
              </a:ext>
            </a:extLst>
          </p:cNvPr>
          <p:cNvSpPr/>
          <p:nvPr/>
        </p:nvSpPr>
        <p:spPr>
          <a:xfrm>
            <a:off x="131180" y="3196901"/>
            <a:ext cx="619198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IN" sz="2400" b="1" u="sng" dirty="0"/>
              <a:t>OUTPUT:</a:t>
            </a:r>
          </a:p>
          <a:p>
            <a:pPr lvl="0"/>
            <a:r>
              <a:rPr lang="en-IN" sz="2400" dirty="0"/>
              <a:t>Display array with </a:t>
            </a:r>
            <a:r>
              <a:rPr lang="en-IN" sz="2400" dirty="0">
                <a:solidFill>
                  <a:srgbClr val="FF0000"/>
                </a:solidFill>
              </a:rPr>
              <a:t>all duplicates removed</a:t>
            </a:r>
            <a:endParaRPr lang="en-IN" sz="24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9B91A1C-FFFF-AA97-B9C3-A3951500FDFF}"/>
              </a:ext>
            </a:extLst>
          </p:cNvPr>
          <p:cNvSpPr/>
          <p:nvPr/>
        </p:nvSpPr>
        <p:spPr>
          <a:xfrm>
            <a:off x="7308911" y="1208257"/>
            <a:ext cx="37321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b="1" dirty="0">
                <a:solidFill>
                  <a:srgbClr val="C00000"/>
                </a:solidFill>
              </a:rPr>
              <a:t>METHODOLOGY  INVOLVED: </a:t>
            </a:r>
          </a:p>
        </p:txBody>
      </p:sp>
    </p:spTree>
    <p:extLst>
      <p:ext uri="{BB962C8B-B14F-4D97-AF65-F5344CB8AC3E}">
        <p14:creationId xmlns:p14="http://schemas.microsoft.com/office/powerpoint/2010/main" val="23936646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7">
            <a:extLst>
              <a:ext uri="{FF2B5EF4-FFF2-40B4-BE49-F238E27FC236}">
                <a16:creationId xmlns:a16="http://schemas.microsoft.com/office/drawing/2014/main" id="{ACB00C36-A08F-D79C-861D-D4017F355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- 28</a:t>
            </a:r>
            <a:endParaRPr lang="en-IN" dirty="0"/>
          </a:p>
        </p:txBody>
      </p:sp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712161BD-12C5-2754-E241-6442B279D2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Write a program to delete duplicate numbers from an array.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08AE14-8C8E-6408-D268-D6B1E0C08CE8}"/>
              </a:ext>
            </a:extLst>
          </p:cNvPr>
          <p:cNvSpPr txBox="1"/>
          <p:nvPr/>
        </p:nvSpPr>
        <p:spPr>
          <a:xfrm>
            <a:off x="219471" y="1773840"/>
            <a:ext cx="5876529" cy="443198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1. [</a:t>
            </a:r>
            <a:r>
              <a:rPr lang="en-US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Outer loop — pick each element as a reference</a:t>
            </a:r>
            <a:r>
              <a:rPr lang="en-IN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]</a:t>
            </a:r>
          </a:p>
          <a:p>
            <a:r>
              <a:rPr lang="en-US" sz="2400" dirty="0">
                <a:latin typeface="Consolas" pitchFamily="49" charset="0"/>
                <a:cs typeface="Consolas" pitchFamily="49" charset="0"/>
              </a:rPr>
              <a:t>    SET I ← 1</a:t>
            </a:r>
          </a:p>
          <a:p>
            <a:r>
              <a:rPr lang="en-US" sz="2400" dirty="0">
                <a:latin typeface="Consolas" pitchFamily="49" charset="0"/>
                <a:cs typeface="Consolas" pitchFamily="49" charset="0"/>
              </a:rPr>
              <a:t>    REPEAT WHILE I &lt;= N</a:t>
            </a:r>
          </a:p>
          <a:p>
            <a:r>
              <a:rPr lang="en-IN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2. [</a:t>
            </a:r>
            <a:r>
              <a:rPr lang="en-US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Inner loop — compare with all elements after I</a:t>
            </a:r>
            <a:r>
              <a:rPr lang="en-IN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]</a:t>
            </a:r>
          </a:p>
          <a:p>
            <a:r>
              <a:rPr lang="en-IN" sz="22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US" sz="2200" dirty="0">
                <a:latin typeface="Consolas" pitchFamily="49" charset="0"/>
                <a:cs typeface="Consolas" pitchFamily="49" charset="0"/>
              </a:rPr>
              <a:t>SET J ← I + 1  </a:t>
            </a:r>
          </a:p>
          <a:p>
            <a:r>
              <a:rPr lang="en-US" sz="2200" dirty="0">
                <a:latin typeface="Consolas" pitchFamily="49" charset="0"/>
                <a:cs typeface="Consolas" pitchFamily="49" charset="0"/>
              </a:rPr>
              <a:t>    REPEAT WHILE J &lt;= N    </a:t>
            </a:r>
          </a:p>
          <a:p>
            <a:r>
              <a:rPr lang="en-US" sz="2200" dirty="0">
                <a:latin typeface="Consolas" pitchFamily="49" charset="0"/>
                <a:cs typeface="Consolas" pitchFamily="49" charset="0"/>
              </a:rPr>
              <a:t>        IF A[I] = A[J] THEN   </a:t>
            </a:r>
          </a:p>
          <a:p>
            <a:r>
              <a:rPr lang="en-US" sz="2200" dirty="0">
                <a:latin typeface="Consolas" pitchFamily="49" charset="0"/>
                <a:cs typeface="Consolas" pitchFamily="49" charset="0"/>
              </a:rPr>
              <a:t>        </a:t>
            </a:r>
            <a:r>
              <a:rPr lang="en-US" sz="2200" dirty="0">
                <a:solidFill>
                  <a:schemeClr val="accent4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/ duplicate found /</a:t>
            </a:r>
            <a:r>
              <a:rPr lang="en-US" sz="2200" dirty="0">
                <a:latin typeface="Consolas" pitchFamily="49" charset="0"/>
                <a:cs typeface="Consolas" pitchFamily="49" charset="0"/>
              </a:rPr>
              <a:t>      </a:t>
            </a:r>
          </a:p>
          <a:p>
            <a:r>
              <a:rPr lang="en-US" sz="2200" dirty="0">
                <a:latin typeface="Consolas" pitchFamily="49" charset="0"/>
                <a:cs typeface="Consolas" pitchFamily="49" charset="0"/>
              </a:rPr>
              <a:t>         SET K ← J      </a:t>
            </a:r>
          </a:p>
          <a:p>
            <a:r>
              <a:rPr lang="en-US" sz="2200" dirty="0">
                <a:latin typeface="Consolas" pitchFamily="49" charset="0"/>
                <a:cs typeface="Consolas" pitchFamily="49" charset="0"/>
              </a:rPr>
              <a:t>         REPEAT WHILE K &lt; N</a:t>
            </a:r>
          </a:p>
          <a:p>
            <a:r>
              <a:rPr lang="en-US" sz="2200" dirty="0">
                <a:latin typeface="Consolas" pitchFamily="49" charset="0"/>
                <a:cs typeface="Consolas" pitchFamily="49" charset="0"/>
              </a:rPr>
              <a:t>               A[K] ← A[K+1]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FDCB05-32B8-D593-66B5-7F8E28B4D521}"/>
              </a:ext>
            </a:extLst>
          </p:cNvPr>
          <p:cNvSpPr txBox="1"/>
          <p:nvPr/>
        </p:nvSpPr>
        <p:spPr>
          <a:xfrm>
            <a:off x="5369985" y="1312175"/>
            <a:ext cx="14520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Algorithm</a:t>
            </a:r>
            <a:endParaRPr lang="en-IN" sz="2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F66795-3F58-7E61-08CB-69C779062576}"/>
              </a:ext>
            </a:extLst>
          </p:cNvPr>
          <p:cNvSpPr txBox="1"/>
          <p:nvPr/>
        </p:nvSpPr>
        <p:spPr>
          <a:xfrm>
            <a:off x="6432006" y="1773840"/>
            <a:ext cx="5292808" cy="427809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US" sz="2000" dirty="0">
                <a:latin typeface="Consolas" pitchFamily="49" charset="0"/>
                <a:cs typeface="Consolas" pitchFamily="49" charset="0"/>
              </a:rPr>
              <a:t>              </a:t>
            </a:r>
            <a:r>
              <a:rPr lang="en-US" sz="2000" dirty="0">
                <a:solidFill>
                  <a:schemeClr val="accent4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/ shift left /</a:t>
            </a:r>
          </a:p>
          <a:p>
            <a:r>
              <a:rPr lang="en-US" sz="2000" dirty="0">
                <a:latin typeface="Consolas" pitchFamily="49" charset="0"/>
                <a:cs typeface="Consolas" pitchFamily="49" charset="0"/>
              </a:rPr>
              <a:t>              K ← K + 1      </a:t>
            </a:r>
          </a:p>
          <a:p>
            <a:r>
              <a:rPr lang="en-US" sz="2000" dirty="0">
                <a:latin typeface="Consolas" pitchFamily="49" charset="0"/>
                <a:cs typeface="Consolas" pitchFamily="49" charset="0"/>
              </a:rPr>
              <a:t>      END REPEAT      </a:t>
            </a:r>
          </a:p>
          <a:p>
            <a:r>
              <a:rPr lang="en-US" sz="2000" dirty="0">
                <a:latin typeface="Consolas" pitchFamily="49" charset="0"/>
                <a:cs typeface="Consolas" pitchFamily="49" charset="0"/>
              </a:rPr>
              <a:t>      N ← N - 1 </a:t>
            </a:r>
            <a:r>
              <a:rPr lang="en-US" sz="2000" dirty="0">
                <a:solidFill>
                  <a:schemeClr val="accent4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/ reduce size / </a:t>
            </a:r>
          </a:p>
          <a:p>
            <a:r>
              <a:rPr lang="en-US" sz="2000" dirty="0">
                <a:latin typeface="Consolas" pitchFamily="49" charset="0"/>
                <a:cs typeface="Consolas" pitchFamily="49" charset="0"/>
              </a:rPr>
              <a:t>      ELSE      </a:t>
            </a:r>
          </a:p>
          <a:p>
            <a:r>
              <a:rPr lang="en-US" sz="2000" dirty="0">
                <a:latin typeface="Consolas" pitchFamily="49" charset="0"/>
                <a:cs typeface="Consolas" pitchFamily="49" charset="0"/>
              </a:rPr>
              <a:t>          J ← J + 1    </a:t>
            </a:r>
          </a:p>
          <a:p>
            <a:r>
              <a:rPr lang="en-US" sz="2000" dirty="0">
                <a:latin typeface="Consolas" pitchFamily="49" charset="0"/>
                <a:cs typeface="Consolas" pitchFamily="49" charset="0"/>
              </a:rPr>
              <a:t>      END IF  </a:t>
            </a:r>
          </a:p>
          <a:p>
            <a:r>
              <a:rPr lang="en-US" sz="2000" dirty="0">
                <a:latin typeface="Consolas" pitchFamily="49" charset="0"/>
                <a:cs typeface="Consolas" pitchFamily="49" charset="0"/>
              </a:rPr>
              <a:t>     END REPEAT  </a:t>
            </a:r>
          </a:p>
          <a:p>
            <a:r>
              <a:rPr lang="en-US" sz="2000" dirty="0">
                <a:latin typeface="Consolas" pitchFamily="49" charset="0"/>
                <a:cs typeface="Consolas" pitchFamily="49" charset="0"/>
              </a:rPr>
              <a:t>    I ← I + 1</a:t>
            </a:r>
          </a:p>
          <a:p>
            <a:r>
              <a:rPr lang="en-US" sz="2000" dirty="0">
                <a:latin typeface="Consolas" pitchFamily="49" charset="0"/>
                <a:cs typeface="Consolas" pitchFamily="49" charset="0"/>
              </a:rPr>
              <a:t>   END REPEAT</a:t>
            </a:r>
          </a:p>
          <a:p>
            <a:r>
              <a:rPr lang="en-IN" sz="2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3. [</a:t>
            </a:r>
            <a:r>
              <a:rPr lang="en-US" sz="2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Print array with all duplicates removed</a:t>
            </a:r>
            <a:r>
              <a:rPr lang="en-IN" sz="2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]</a:t>
            </a:r>
          </a:p>
          <a:p>
            <a:r>
              <a:rPr lang="pt-BR" sz="2400" dirty="0">
                <a:latin typeface="Consolas" pitchFamily="49" charset="0"/>
              </a:rPr>
              <a:t>	PRINT A[1..N]</a:t>
            </a:r>
          </a:p>
        </p:txBody>
      </p:sp>
    </p:spTree>
    <p:extLst>
      <p:ext uri="{BB962C8B-B14F-4D97-AF65-F5344CB8AC3E}">
        <p14:creationId xmlns:p14="http://schemas.microsoft.com/office/powerpoint/2010/main" val="8682409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7">
            <a:extLst>
              <a:ext uri="{FF2B5EF4-FFF2-40B4-BE49-F238E27FC236}">
                <a16:creationId xmlns:a16="http://schemas.microsoft.com/office/drawing/2014/main" id="{3522E7A4-B4E2-CA5C-2C1D-64D6A2AD4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Program#28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5DBD0D-ECAC-B782-C30F-077211F676F7}"/>
              </a:ext>
            </a:extLst>
          </p:cNvPr>
          <p:cNvSpPr txBox="1"/>
          <p:nvPr/>
        </p:nvSpPr>
        <p:spPr>
          <a:xfrm>
            <a:off x="5233252" y="914400"/>
            <a:ext cx="1919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 Function</a:t>
            </a:r>
            <a:endParaRPr lang="en-IN" sz="24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D07E5B-3AAF-2E86-40A6-CDC50671F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350" y="1680058"/>
            <a:ext cx="5044877" cy="278154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B0ACB1E-48C2-50C3-7BA4-CE18672BC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8808" y="1680058"/>
            <a:ext cx="5105842" cy="313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4087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B71C5-1EE1-70BF-2E4E-0B02F9B99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7EC606F8-8061-269A-BA71-70D9EF3A3B68}"/>
              </a:ext>
            </a:extLst>
          </p:cNvPr>
          <p:cNvSpPr/>
          <p:nvPr/>
        </p:nvSpPr>
        <p:spPr>
          <a:xfrm>
            <a:off x="6633713" y="1128805"/>
            <a:ext cx="5288351" cy="3400063"/>
          </a:xfrm>
          <a:prstGeom prst="rect">
            <a:avLst/>
          </a:prstGeom>
          <a:solidFill>
            <a:schemeClr val="bg2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Title 7">
            <a:extLst>
              <a:ext uri="{FF2B5EF4-FFF2-40B4-BE49-F238E27FC236}">
                <a16:creationId xmlns:a16="http://schemas.microsoft.com/office/drawing/2014/main" id="{5E1922CC-4FAD-09D3-2C69-754728BE2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- 29</a:t>
            </a:r>
            <a:endParaRPr lang="en-IN" dirty="0"/>
          </a:p>
        </p:txBody>
      </p:sp>
      <p:sp>
        <p:nvSpPr>
          <p:cNvPr id="28" name="Content Placeholder 8">
            <a:extLst>
              <a:ext uri="{FF2B5EF4-FFF2-40B4-BE49-F238E27FC236}">
                <a16:creationId xmlns:a16="http://schemas.microsoft.com/office/drawing/2014/main" id="{A3B66EF6-6322-7064-8315-A5D0D4AB34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23238"/>
            <a:ext cx="12192000" cy="405567"/>
          </a:xfrm>
        </p:spPr>
        <p:txBody>
          <a:bodyPr/>
          <a:lstStyle/>
          <a:p>
            <a:r>
              <a:rPr lang="en-IN" dirty="0"/>
              <a:t>Write a program to </a:t>
            </a:r>
            <a:r>
              <a:rPr lang="en-IN" dirty="0">
                <a:solidFill>
                  <a:srgbClr val="FF0000"/>
                </a:solidFill>
              </a:rPr>
              <a:t>merge two unsorted arrays</a:t>
            </a:r>
            <a:r>
              <a:rPr lang="en-IN" dirty="0"/>
              <a:t>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2E26EE6-DC6F-71AF-D540-D5D9CC5BF37F}"/>
              </a:ext>
            </a:extLst>
          </p:cNvPr>
          <p:cNvSpPr txBox="1"/>
          <p:nvPr/>
        </p:nvSpPr>
        <p:spPr>
          <a:xfrm>
            <a:off x="6745700" y="1683870"/>
            <a:ext cx="5046609" cy="2539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Declare </a:t>
            </a:r>
            <a:r>
              <a:rPr lang="en-IN" sz="2400" dirty="0">
                <a:solidFill>
                  <a:srgbClr val="FF0000"/>
                </a:solidFill>
              </a:rPr>
              <a:t>result array C </a:t>
            </a:r>
            <a:r>
              <a:rPr lang="en-IN" sz="2400" dirty="0"/>
              <a:t>of size </a:t>
            </a:r>
            <a:r>
              <a:rPr lang="en-IN" sz="2400" dirty="0">
                <a:solidFill>
                  <a:srgbClr val="FF0000"/>
                </a:solidFill>
              </a:rPr>
              <a:t>M + N</a:t>
            </a:r>
            <a:r>
              <a:rPr lang="en-IN" sz="2400" dirty="0"/>
              <a:t> 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Copy A into C: </a:t>
            </a:r>
            <a:r>
              <a:rPr lang="en-IN" sz="2400" dirty="0">
                <a:solidFill>
                  <a:srgbClr val="FF0000"/>
                </a:solidFill>
              </a:rPr>
              <a:t>C[I] ← A[I]</a:t>
            </a:r>
            <a:r>
              <a:rPr lang="en-IN" sz="2400" dirty="0"/>
              <a:t> for </a:t>
            </a:r>
            <a:r>
              <a:rPr lang="en-IN" sz="2400" dirty="0">
                <a:solidFill>
                  <a:srgbClr val="FF0000"/>
                </a:solidFill>
              </a:rPr>
              <a:t>I = 0 to M−1</a:t>
            </a:r>
            <a:r>
              <a:rPr lang="en-IN" sz="2400" dirty="0"/>
              <a:t> 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Append B after A: </a:t>
            </a:r>
            <a:r>
              <a:rPr lang="en-IN" sz="2400" dirty="0">
                <a:solidFill>
                  <a:srgbClr val="FF0000"/>
                </a:solidFill>
              </a:rPr>
              <a:t>C[M+J] ← B[J]</a:t>
            </a:r>
            <a:r>
              <a:rPr lang="en-IN" sz="2400" dirty="0"/>
              <a:t> for </a:t>
            </a:r>
            <a:r>
              <a:rPr lang="en-IN" sz="2400" dirty="0">
                <a:solidFill>
                  <a:srgbClr val="FF0000"/>
                </a:solidFill>
              </a:rPr>
              <a:t>J = 0 to N−1</a:t>
            </a:r>
            <a:r>
              <a:rPr lang="en-IN" sz="2400" dirty="0"/>
              <a:t> 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Display </a:t>
            </a:r>
            <a:r>
              <a:rPr lang="en-IN" sz="2400" dirty="0">
                <a:solidFill>
                  <a:srgbClr val="FF0000"/>
                </a:solidFill>
              </a:rPr>
              <a:t>C[0..(M+N−1)]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EE78A92-F3D4-36A4-A986-04AD79C2DE76}"/>
              </a:ext>
            </a:extLst>
          </p:cNvPr>
          <p:cNvSpPr/>
          <p:nvPr/>
        </p:nvSpPr>
        <p:spPr>
          <a:xfrm>
            <a:off x="131180" y="1306609"/>
            <a:ext cx="693235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IN" sz="2400" b="1" u="sng" dirty="0"/>
              <a:t>INPUT:</a:t>
            </a:r>
          </a:p>
          <a:p>
            <a:pPr marL="457200" lvl="0" indent="-457200"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Take </a:t>
            </a:r>
            <a:r>
              <a:rPr lang="en-IN" sz="2400" dirty="0">
                <a:solidFill>
                  <a:srgbClr val="FF0000"/>
                </a:solidFill>
              </a:rPr>
              <a:t>first array A</a:t>
            </a:r>
            <a:r>
              <a:rPr lang="en-IN" sz="2400" dirty="0"/>
              <a:t> of size </a:t>
            </a:r>
            <a:r>
              <a:rPr lang="en-IN" sz="2400" dirty="0">
                <a:solidFill>
                  <a:srgbClr val="FF0000"/>
                </a:solidFill>
              </a:rPr>
              <a:t>M</a:t>
            </a:r>
            <a:r>
              <a:rPr lang="en-IN" sz="2400" dirty="0"/>
              <a:t> from user </a:t>
            </a:r>
          </a:p>
          <a:p>
            <a:pPr marL="457200" lvl="0" indent="-457200"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Take </a:t>
            </a:r>
            <a:r>
              <a:rPr lang="en-IN" sz="2400" dirty="0">
                <a:solidFill>
                  <a:srgbClr val="FF0000"/>
                </a:solidFill>
              </a:rPr>
              <a:t>second array B</a:t>
            </a:r>
            <a:r>
              <a:rPr lang="en-IN" sz="2400" dirty="0"/>
              <a:t> of size </a:t>
            </a:r>
            <a:r>
              <a:rPr lang="en-IN" sz="2400" dirty="0">
                <a:solidFill>
                  <a:srgbClr val="FF0000"/>
                </a:solidFill>
              </a:rPr>
              <a:t>N</a:t>
            </a:r>
            <a:r>
              <a:rPr lang="en-IN" sz="2400" dirty="0"/>
              <a:t> from user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063D841-E4E6-CE90-EDD3-493801033CC1}"/>
              </a:ext>
            </a:extLst>
          </p:cNvPr>
          <p:cNvSpPr/>
          <p:nvPr/>
        </p:nvSpPr>
        <p:spPr>
          <a:xfrm>
            <a:off x="131180" y="3196901"/>
            <a:ext cx="619198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IN" sz="2400" b="1" u="sng" dirty="0"/>
              <a:t>OUTPUT:</a:t>
            </a:r>
          </a:p>
          <a:p>
            <a:pPr lvl="0"/>
            <a:r>
              <a:rPr lang="en-IN" sz="2400" dirty="0"/>
              <a:t>Display </a:t>
            </a:r>
            <a:r>
              <a:rPr lang="en-IN" sz="2400" dirty="0">
                <a:solidFill>
                  <a:srgbClr val="FF0000"/>
                </a:solidFill>
              </a:rPr>
              <a:t>merged array C</a:t>
            </a:r>
            <a:r>
              <a:rPr lang="en-IN" sz="2400" dirty="0"/>
              <a:t> of size </a:t>
            </a:r>
            <a:r>
              <a:rPr lang="en-IN" sz="2400" dirty="0">
                <a:solidFill>
                  <a:srgbClr val="FF0000"/>
                </a:solidFill>
              </a:rPr>
              <a:t>M + N</a:t>
            </a:r>
            <a:endParaRPr lang="en-IN" sz="24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9B686F9-DFF1-78E4-14CE-A5E34960E401}"/>
              </a:ext>
            </a:extLst>
          </p:cNvPr>
          <p:cNvSpPr/>
          <p:nvPr/>
        </p:nvSpPr>
        <p:spPr>
          <a:xfrm>
            <a:off x="6745700" y="1242954"/>
            <a:ext cx="37321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b="1" dirty="0">
                <a:solidFill>
                  <a:srgbClr val="C00000"/>
                </a:solidFill>
              </a:rPr>
              <a:t>METHODOLOGY  INVOLVED: </a:t>
            </a:r>
          </a:p>
        </p:txBody>
      </p:sp>
    </p:spTree>
    <p:extLst>
      <p:ext uri="{BB962C8B-B14F-4D97-AF65-F5344CB8AC3E}">
        <p14:creationId xmlns:p14="http://schemas.microsoft.com/office/powerpoint/2010/main" val="22548727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7">
            <a:extLst>
              <a:ext uri="{FF2B5EF4-FFF2-40B4-BE49-F238E27FC236}">
                <a16:creationId xmlns:a16="http://schemas.microsoft.com/office/drawing/2014/main" id="{E0821837-AB56-6129-214A-26B606D0D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Program#29</a:t>
            </a:r>
            <a:endParaRPr lang="en-IN" dirty="0"/>
          </a:p>
        </p:txBody>
      </p:sp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28BC5D48-F41F-5D1A-40D6-A37271AD8C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Write a program to merge two unsorted arrays.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C74AEA-F3F1-765B-4618-43D6720EBB00}"/>
              </a:ext>
            </a:extLst>
          </p:cNvPr>
          <p:cNvSpPr txBox="1"/>
          <p:nvPr/>
        </p:nvSpPr>
        <p:spPr>
          <a:xfrm>
            <a:off x="219471" y="1773840"/>
            <a:ext cx="5876529" cy="27699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1. [</a:t>
            </a:r>
            <a:r>
              <a:rPr lang="en-US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Declare result array C of size M+N</a:t>
            </a:r>
            <a:r>
              <a:rPr lang="en-IN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]</a:t>
            </a:r>
          </a:p>
          <a:p>
            <a:r>
              <a:rPr lang="en-US" sz="24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pt-BR" sz="2400" dirty="0">
                <a:latin typeface="Consolas" pitchFamily="49" charset="0"/>
                <a:cs typeface="Consolas" pitchFamily="49" charset="0"/>
              </a:rPr>
              <a:t>DECLARE C[1..(M+N)]</a:t>
            </a:r>
          </a:p>
          <a:p>
            <a:r>
              <a:rPr lang="en-IN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2. [</a:t>
            </a:r>
            <a:r>
              <a:rPr lang="en-US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Copy all elements of array A into C</a:t>
            </a:r>
            <a:r>
              <a:rPr lang="en-IN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]</a:t>
            </a:r>
          </a:p>
          <a:p>
            <a:r>
              <a:rPr lang="en-IN" sz="22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US" sz="2200" dirty="0">
                <a:latin typeface="Consolas" pitchFamily="49" charset="0"/>
                <a:cs typeface="Consolas" pitchFamily="49" charset="0"/>
              </a:rPr>
              <a:t>SET I ← 1</a:t>
            </a:r>
          </a:p>
          <a:p>
            <a:r>
              <a:rPr lang="en-US" sz="2200" dirty="0">
                <a:latin typeface="Consolas" pitchFamily="49" charset="0"/>
                <a:cs typeface="Consolas" pitchFamily="49" charset="0"/>
              </a:rPr>
              <a:t>    REPEAT WHILE I &lt;= M  </a:t>
            </a:r>
          </a:p>
          <a:p>
            <a:r>
              <a:rPr lang="en-US" sz="2200" dirty="0">
                <a:latin typeface="Consolas" pitchFamily="49" charset="0"/>
                <a:cs typeface="Consolas" pitchFamily="49" charset="0"/>
              </a:rPr>
              <a:t>         C[I] ← A[I]  </a:t>
            </a:r>
          </a:p>
          <a:p>
            <a:r>
              <a:rPr lang="en-US" sz="2200" dirty="0">
                <a:latin typeface="Consolas" pitchFamily="49" charset="0"/>
                <a:cs typeface="Consolas" pitchFamily="49" charset="0"/>
              </a:rPr>
              <a:t>         I ← I + 1</a:t>
            </a:r>
          </a:p>
          <a:p>
            <a:r>
              <a:rPr lang="en-US" sz="2200" dirty="0">
                <a:latin typeface="Consolas" pitchFamily="49" charset="0"/>
                <a:cs typeface="Consolas" pitchFamily="49" charset="0"/>
              </a:rPr>
              <a:t>    END REPEAT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19559A-05FD-49D6-5813-5AA286E5DB18}"/>
              </a:ext>
            </a:extLst>
          </p:cNvPr>
          <p:cNvSpPr txBox="1"/>
          <p:nvPr/>
        </p:nvSpPr>
        <p:spPr>
          <a:xfrm>
            <a:off x="5369985" y="1312175"/>
            <a:ext cx="14520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Algorithm</a:t>
            </a:r>
            <a:endParaRPr lang="en-IN" sz="2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19A75F-1876-DE8D-706C-DEF24E9F060D}"/>
              </a:ext>
            </a:extLst>
          </p:cNvPr>
          <p:cNvSpPr txBox="1"/>
          <p:nvPr/>
        </p:nvSpPr>
        <p:spPr>
          <a:xfrm>
            <a:off x="6432006" y="1773840"/>
            <a:ext cx="5292808" cy="33547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3. [</a:t>
            </a:r>
            <a:r>
              <a:rPr lang="en-US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Append all elements of array</a:t>
            </a:r>
          </a:p>
          <a:p>
            <a:r>
              <a:rPr lang="en-US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    B after A's elements in C</a:t>
            </a:r>
            <a:r>
              <a:rPr lang="en-IN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]</a:t>
            </a:r>
          </a:p>
          <a:p>
            <a:r>
              <a:rPr lang="en-US" sz="2000" dirty="0">
                <a:latin typeface="Consolas" pitchFamily="49" charset="0"/>
                <a:cs typeface="Consolas" pitchFamily="49" charset="0"/>
              </a:rPr>
              <a:t>      SET J ← 1</a:t>
            </a:r>
          </a:p>
          <a:p>
            <a:r>
              <a:rPr lang="en-US" sz="2000" dirty="0">
                <a:latin typeface="Consolas" pitchFamily="49" charset="0"/>
                <a:cs typeface="Consolas" pitchFamily="49" charset="0"/>
              </a:rPr>
              <a:t>      REPEAT WHILE J &lt;= N  </a:t>
            </a:r>
          </a:p>
          <a:p>
            <a:r>
              <a:rPr lang="en-US" sz="2000" dirty="0">
                <a:latin typeface="Consolas" pitchFamily="49" charset="0"/>
                <a:cs typeface="Consolas" pitchFamily="49" charset="0"/>
              </a:rPr>
              <a:t>             C[M+J] ← B[J]  </a:t>
            </a:r>
          </a:p>
          <a:p>
            <a:r>
              <a:rPr lang="en-US" sz="2000" dirty="0">
                <a:latin typeface="Consolas" pitchFamily="49" charset="0"/>
                <a:cs typeface="Consolas" pitchFamily="49" charset="0"/>
              </a:rPr>
              <a:t>             J ← J + 1</a:t>
            </a:r>
          </a:p>
          <a:p>
            <a:r>
              <a:rPr lang="en-US" sz="2000" dirty="0">
                <a:latin typeface="Consolas" pitchFamily="49" charset="0"/>
                <a:cs typeface="Consolas" pitchFamily="49" charset="0"/>
              </a:rPr>
              <a:t>     END REPEAT</a:t>
            </a:r>
          </a:p>
          <a:p>
            <a:r>
              <a:rPr lang="en-IN" sz="2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4. [</a:t>
            </a:r>
            <a:r>
              <a:rPr lang="en-US" sz="2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Print merged array C of size M+N</a:t>
            </a:r>
            <a:r>
              <a:rPr lang="en-IN" sz="2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]</a:t>
            </a:r>
          </a:p>
          <a:p>
            <a:r>
              <a:rPr lang="pt-BR" sz="2400" dirty="0">
                <a:latin typeface="Consolas" pitchFamily="49" charset="0"/>
              </a:rPr>
              <a:t>	PRINT C[1..(M+N)]</a:t>
            </a:r>
          </a:p>
        </p:txBody>
      </p:sp>
    </p:spTree>
    <p:extLst>
      <p:ext uri="{BB962C8B-B14F-4D97-AF65-F5344CB8AC3E}">
        <p14:creationId xmlns:p14="http://schemas.microsoft.com/office/powerpoint/2010/main" val="20130157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7">
            <a:extLst>
              <a:ext uri="{FF2B5EF4-FFF2-40B4-BE49-F238E27FC236}">
                <a16:creationId xmlns:a16="http://schemas.microsoft.com/office/drawing/2014/main" id="{B433A7AC-6EDE-F94A-0A7F-5088849D2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Program#29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DC8C3C-8D3A-DB43-2557-7614B2CB0637}"/>
              </a:ext>
            </a:extLst>
          </p:cNvPr>
          <p:cNvSpPr txBox="1"/>
          <p:nvPr/>
        </p:nvSpPr>
        <p:spPr>
          <a:xfrm>
            <a:off x="5233252" y="914400"/>
            <a:ext cx="1919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 Function</a:t>
            </a:r>
            <a:endParaRPr lang="en-IN" sz="2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F82D03-3639-984F-85BB-189A43242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52" y="1455249"/>
            <a:ext cx="5090601" cy="39475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4858A15-9579-72F0-496E-DEA2DD826E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4898" y="1455249"/>
            <a:ext cx="4648603" cy="370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6512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C99FB-833F-4BA3-676E-23983EFDF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80BF55BC-5774-AF59-D2C2-05277C74BD49}"/>
              </a:ext>
            </a:extLst>
          </p:cNvPr>
          <p:cNvSpPr/>
          <p:nvPr/>
        </p:nvSpPr>
        <p:spPr>
          <a:xfrm>
            <a:off x="6858751" y="1642667"/>
            <a:ext cx="4995052" cy="4520938"/>
          </a:xfrm>
          <a:prstGeom prst="rect">
            <a:avLst/>
          </a:prstGeom>
          <a:solidFill>
            <a:schemeClr val="bg2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Title 7">
            <a:extLst>
              <a:ext uri="{FF2B5EF4-FFF2-40B4-BE49-F238E27FC236}">
                <a16:creationId xmlns:a16="http://schemas.microsoft.com/office/drawing/2014/main" id="{0772EA08-813E-31F5-9053-AE9A061D3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- 30</a:t>
            </a:r>
            <a:endParaRPr lang="en-IN" dirty="0"/>
          </a:p>
        </p:txBody>
      </p:sp>
      <p:sp>
        <p:nvSpPr>
          <p:cNvPr id="28" name="Content Placeholder 8">
            <a:extLst>
              <a:ext uri="{FF2B5EF4-FFF2-40B4-BE49-F238E27FC236}">
                <a16:creationId xmlns:a16="http://schemas.microsoft.com/office/drawing/2014/main" id="{1A3D1ED1-A6D1-A6CF-FEF0-4E050B3FD8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23238"/>
            <a:ext cx="12192000" cy="711200"/>
          </a:xfrm>
        </p:spPr>
        <p:txBody>
          <a:bodyPr/>
          <a:lstStyle/>
          <a:p>
            <a:r>
              <a:rPr lang="en-IN" dirty="0"/>
              <a:t>Write a program to replace </a:t>
            </a:r>
            <a:r>
              <a:rPr lang="en-IN" dirty="0">
                <a:solidFill>
                  <a:srgbClr val="FF0000"/>
                </a:solidFill>
              </a:rPr>
              <a:t>lowercase</a:t>
            </a:r>
            <a:r>
              <a:rPr lang="en-IN" dirty="0"/>
              <a:t> characters by </a:t>
            </a:r>
            <a:r>
              <a:rPr lang="en-IN" dirty="0">
                <a:solidFill>
                  <a:srgbClr val="FF0000"/>
                </a:solidFill>
              </a:rPr>
              <a:t>uppercase</a:t>
            </a:r>
            <a:r>
              <a:rPr lang="en-IN" dirty="0"/>
              <a:t> &amp; vice-versa in a </a:t>
            </a:r>
            <a:r>
              <a:rPr lang="en-IN" dirty="0">
                <a:solidFill>
                  <a:srgbClr val="FF0000"/>
                </a:solidFill>
              </a:rPr>
              <a:t>user specified string</a:t>
            </a:r>
            <a:r>
              <a:rPr lang="en-IN" dirty="0"/>
              <a:t>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8E0020-3BC3-95BC-B646-BBC6E711DDC5}"/>
              </a:ext>
            </a:extLst>
          </p:cNvPr>
          <p:cNvSpPr txBox="1"/>
          <p:nvPr/>
        </p:nvSpPr>
        <p:spPr>
          <a:xfrm>
            <a:off x="6927010" y="2224467"/>
            <a:ext cx="4858533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Find </a:t>
            </a:r>
            <a:r>
              <a:rPr lang="en-IN" sz="2400" dirty="0">
                <a:solidFill>
                  <a:srgbClr val="FF0000"/>
                </a:solidFill>
              </a:rPr>
              <a:t>length N</a:t>
            </a:r>
            <a:r>
              <a:rPr lang="en-IN" sz="2400" dirty="0"/>
              <a:t> of string 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Scan each </a:t>
            </a:r>
            <a:r>
              <a:rPr lang="en-IN" sz="2400" dirty="0">
                <a:solidFill>
                  <a:srgbClr val="FF0000"/>
                </a:solidFill>
              </a:rPr>
              <a:t>character CH</a:t>
            </a:r>
            <a:r>
              <a:rPr lang="en-IN" sz="2400" dirty="0"/>
              <a:t> one by one (</a:t>
            </a:r>
            <a:r>
              <a:rPr lang="en-IN" sz="2400" dirty="0">
                <a:solidFill>
                  <a:srgbClr val="FF0000"/>
                </a:solidFill>
              </a:rPr>
              <a:t>I = 0 to N−1</a:t>
            </a:r>
            <a:r>
              <a:rPr lang="en-IN" sz="2400" dirty="0"/>
              <a:t>) 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If CH is </a:t>
            </a:r>
            <a:r>
              <a:rPr lang="en-IN" sz="2400" dirty="0">
                <a:solidFill>
                  <a:srgbClr val="FF0000"/>
                </a:solidFill>
              </a:rPr>
              <a:t>lowercase (a–z)</a:t>
            </a:r>
            <a:r>
              <a:rPr lang="en-IN" sz="2400" dirty="0"/>
              <a:t>: convert to </a:t>
            </a:r>
            <a:r>
              <a:rPr lang="en-IN" sz="2400" dirty="0">
                <a:solidFill>
                  <a:srgbClr val="FF0000"/>
                </a:solidFill>
              </a:rPr>
              <a:t>uppercase</a:t>
            </a:r>
            <a:r>
              <a:rPr lang="en-IN" sz="2400" dirty="0"/>
              <a:t> (</a:t>
            </a:r>
            <a:r>
              <a:rPr lang="en-IN" sz="2400" dirty="0">
                <a:solidFill>
                  <a:srgbClr val="FF0000"/>
                </a:solidFill>
              </a:rPr>
              <a:t>ASCII − 32</a:t>
            </a:r>
            <a:r>
              <a:rPr lang="en-IN" sz="2400" dirty="0"/>
              <a:t>) 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If CH is </a:t>
            </a:r>
            <a:r>
              <a:rPr lang="en-IN" sz="2400" dirty="0">
                <a:solidFill>
                  <a:srgbClr val="FF0000"/>
                </a:solidFill>
              </a:rPr>
              <a:t>uppercase (A–Z)</a:t>
            </a:r>
            <a:r>
              <a:rPr lang="en-IN" sz="2400" dirty="0"/>
              <a:t>: convert to </a:t>
            </a:r>
            <a:r>
              <a:rPr lang="en-IN" sz="2400" dirty="0">
                <a:solidFill>
                  <a:srgbClr val="FF0000"/>
                </a:solidFill>
              </a:rPr>
              <a:t>lowercase</a:t>
            </a:r>
            <a:r>
              <a:rPr lang="en-IN" sz="2400" dirty="0"/>
              <a:t> (</a:t>
            </a:r>
            <a:r>
              <a:rPr lang="en-IN" sz="2400" dirty="0">
                <a:solidFill>
                  <a:srgbClr val="FF0000"/>
                </a:solidFill>
              </a:rPr>
              <a:t>ASCII + 32</a:t>
            </a:r>
            <a:r>
              <a:rPr lang="en-IN" sz="2400" dirty="0"/>
              <a:t>) </a:t>
            </a:r>
          </a:p>
          <a:p>
            <a:pPr marL="457200" indent="-457200">
              <a:spcBef>
                <a:spcPts val="600"/>
              </a:spcBef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Display the </a:t>
            </a:r>
            <a:r>
              <a:rPr lang="en-IN" sz="2400" dirty="0">
                <a:solidFill>
                  <a:srgbClr val="FF0000"/>
                </a:solidFill>
              </a:rPr>
              <a:t>final swapped string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23A7672-C86D-FC42-5EA1-4EBF8EA68B9A}"/>
              </a:ext>
            </a:extLst>
          </p:cNvPr>
          <p:cNvSpPr/>
          <p:nvPr/>
        </p:nvSpPr>
        <p:spPr>
          <a:xfrm>
            <a:off x="131180" y="1642667"/>
            <a:ext cx="619198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IN" sz="2400" b="1" u="sng" dirty="0"/>
              <a:t>INPUT:</a:t>
            </a:r>
          </a:p>
          <a:p>
            <a:pPr marL="457200" lvl="0" indent="-457200">
              <a:buClr>
                <a:srgbClr val="C00000"/>
              </a:buClr>
              <a:buFont typeface="+mj-lt"/>
              <a:buAutoNum type="arabicPeriod"/>
            </a:pPr>
            <a:r>
              <a:rPr lang="en-IN" sz="2400" dirty="0"/>
              <a:t>Take </a:t>
            </a:r>
            <a:r>
              <a:rPr lang="en-IN" sz="2400" dirty="0">
                <a:solidFill>
                  <a:srgbClr val="FF0000"/>
                </a:solidFill>
              </a:rPr>
              <a:t>string (STR)</a:t>
            </a:r>
            <a:r>
              <a:rPr lang="en-IN" sz="2400" dirty="0"/>
              <a:t> from user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8E4018B-65B8-3326-37DF-69016620C75D}"/>
              </a:ext>
            </a:extLst>
          </p:cNvPr>
          <p:cNvSpPr/>
          <p:nvPr/>
        </p:nvSpPr>
        <p:spPr>
          <a:xfrm>
            <a:off x="131180" y="3196901"/>
            <a:ext cx="619198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IN" sz="2400" b="1" u="sng" dirty="0"/>
              <a:t>OUTPUT:</a:t>
            </a:r>
          </a:p>
          <a:p>
            <a:pPr lvl="0"/>
            <a:r>
              <a:rPr lang="en-IN" sz="2400" dirty="0"/>
              <a:t>Display string with </a:t>
            </a:r>
            <a:r>
              <a:rPr lang="en-IN" sz="2400" dirty="0">
                <a:solidFill>
                  <a:srgbClr val="FF0000"/>
                </a:solidFill>
              </a:rPr>
              <a:t>cases swapped</a:t>
            </a:r>
            <a:endParaRPr lang="en-IN" sz="24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2C4DB24-53EE-CE5F-E0EC-8B83F78FFBE1}"/>
              </a:ext>
            </a:extLst>
          </p:cNvPr>
          <p:cNvSpPr/>
          <p:nvPr/>
        </p:nvSpPr>
        <p:spPr>
          <a:xfrm>
            <a:off x="6995270" y="1762802"/>
            <a:ext cx="37321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b="1" dirty="0">
                <a:solidFill>
                  <a:srgbClr val="C00000"/>
                </a:solidFill>
              </a:rPr>
              <a:t>METHODOLOGY  INVOLVED: </a:t>
            </a:r>
          </a:p>
        </p:txBody>
      </p:sp>
    </p:spTree>
    <p:extLst>
      <p:ext uri="{BB962C8B-B14F-4D97-AF65-F5344CB8AC3E}">
        <p14:creationId xmlns:p14="http://schemas.microsoft.com/office/powerpoint/2010/main" val="21479271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7">
            <a:extLst>
              <a:ext uri="{FF2B5EF4-FFF2-40B4-BE49-F238E27FC236}">
                <a16:creationId xmlns:a16="http://schemas.microsoft.com/office/drawing/2014/main" id="{03EBF57B-E977-AD7B-FBAD-EED1FEE15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Program#30</a:t>
            </a:r>
            <a:endParaRPr lang="en-IN" dirty="0"/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5F72CF1E-3CFB-A117-A600-00837592B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76144"/>
            <a:ext cx="11929641" cy="5590565"/>
          </a:xfrm>
        </p:spPr>
        <p:txBody>
          <a:bodyPr/>
          <a:lstStyle/>
          <a:p>
            <a:r>
              <a:rPr lang="en-IN" dirty="0"/>
              <a:t>WAP to replace lowercase characters by uppercase &amp; vice-versa in a user specified string.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A12B4F-0FEC-208D-3F6D-881342ED8319}"/>
              </a:ext>
            </a:extLst>
          </p:cNvPr>
          <p:cNvSpPr txBox="1"/>
          <p:nvPr/>
        </p:nvSpPr>
        <p:spPr>
          <a:xfrm>
            <a:off x="60046" y="1691368"/>
            <a:ext cx="5876529" cy="46474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IN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[</a:t>
            </a:r>
            <a:r>
              <a:rPr lang="en-US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Find length of string and initialize result]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   </a:t>
            </a:r>
          </a:p>
          <a:p>
            <a:r>
              <a:rPr lang="en-US" sz="2400" dirty="0">
                <a:latin typeface="Consolas" pitchFamily="49" charset="0"/>
                <a:cs typeface="Consolas" pitchFamily="49" charset="0"/>
              </a:rPr>
              <a:t>    SET N ← LENGTH(STR)SET    </a:t>
            </a:r>
          </a:p>
          <a:p>
            <a:r>
              <a:rPr lang="en-US" sz="2400" dirty="0">
                <a:latin typeface="Consolas" pitchFamily="49" charset="0"/>
                <a:cs typeface="Consolas" pitchFamily="49" charset="0"/>
              </a:rPr>
              <a:t>    RESULT ← ""</a:t>
            </a:r>
            <a:endParaRPr lang="pt-BR" sz="2400" dirty="0">
              <a:latin typeface="Consolas" pitchFamily="49" charset="0"/>
              <a:cs typeface="Consolas" pitchFamily="49" charset="0"/>
            </a:endParaRPr>
          </a:p>
          <a:p>
            <a:r>
              <a:rPr lang="en-IN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2. [</a:t>
            </a:r>
            <a:r>
              <a:rPr lang="en-US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Scan each character one by one</a:t>
            </a:r>
            <a:r>
              <a:rPr lang="en-IN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]</a:t>
            </a:r>
          </a:p>
          <a:p>
            <a:r>
              <a:rPr lang="en-IN" sz="22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US" sz="2200" dirty="0">
                <a:latin typeface="Consolas" pitchFamily="49" charset="0"/>
                <a:cs typeface="Consolas" pitchFamily="49" charset="0"/>
              </a:rPr>
              <a:t>SET I ← 1</a:t>
            </a:r>
          </a:p>
          <a:p>
            <a:r>
              <a:rPr lang="en-US" sz="2200" dirty="0">
                <a:latin typeface="Consolas" pitchFamily="49" charset="0"/>
                <a:cs typeface="Consolas" pitchFamily="49" charset="0"/>
              </a:rPr>
              <a:t>    REPEAT WHILE I &lt;= N  </a:t>
            </a:r>
          </a:p>
          <a:p>
            <a:r>
              <a:rPr lang="en-US" sz="2200" dirty="0">
                <a:latin typeface="Consolas" pitchFamily="49" charset="0"/>
                <a:cs typeface="Consolas" pitchFamily="49" charset="0"/>
              </a:rPr>
              <a:t>    SET CH ← STR[I]</a:t>
            </a:r>
          </a:p>
          <a:p>
            <a:r>
              <a:rPr lang="en-IN" sz="2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3. </a:t>
            </a:r>
            <a:r>
              <a:rPr lang="en-US" sz="2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[If character is lowercase, convert to uppercase</a:t>
            </a:r>
            <a:r>
              <a:rPr lang="en-IN" sz="2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]</a:t>
            </a:r>
          </a:p>
          <a:p>
            <a:r>
              <a:rPr lang="en-US" sz="22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IN" sz="24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US" sz="2200" dirty="0">
                <a:latin typeface="Consolas" pitchFamily="49" charset="0"/>
                <a:cs typeface="Consolas" pitchFamily="49" charset="0"/>
              </a:rPr>
              <a:t> CH &gt;= 'a' AND CH &lt;= 'z’ </a:t>
            </a:r>
          </a:p>
          <a:p>
            <a:r>
              <a:rPr lang="en-US" sz="22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IN" sz="24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THEN</a:t>
            </a:r>
            <a:r>
              <a:rPr lang="en-US" sz="2200" dirty="0">
                <a:latin typeface="Consolas" pitchFamily="49" charset="0"/>
                <a:cs typeface="Consolas" pitchFamily="49" charset="0"/>
              </a:rPr>
              <a:t>  CH ← TOUPPER(CH)         </a:t>
            </a:r>
          </a:p>
          <a:p>
            <a:r>
              <a:rPr lang="en-US" sz="22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US" sz="2200" dirty="0">
                <a:solidFill>
                  <a:schemeClr val="accent4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/ ASCII - 32 /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5EEBB5-B1C9-2DA2-D25C-637780F42FD8}"/>
              </a:ext>
            </a:extLst>
          </p:cNvPr>
          <p:cNvSpPr txBox="1"/>
          <p:nvPr/>
        </p:nvSpPr>
        <p:spPr>
          <a:xfrm>
            <a:off x="5369986" y="1229703"/>
            <a:ext cx="14520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Algorithm</a:t>
            </a:r>
            <a:endParaRPr lang="en-IN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636CC6-E446-D2B2-1D65-360F112DD322}"/>
              </a:ext>
            </a:extLst>
          </p:cNvPr>
          <p:cNvSpPr txBox="1"/>
          <p:nvPr/>
        </p:nvSpPr>
        <p:spPr>
          <a:xfrm>
            <a:off x="6096000" y="1691368"/>
            <a:ext cx="6028590" cy="470898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4. [</a:t>
            </a:r>
            <a:r>
              <a:rPr lang="en-US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Else if uppercase, convert to lowercase</a:t>
            </a:r>
            <a:r>
              <a:rPr lang="en-IN" sz="20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]</a:t>
            </a:r>
          </a:p>
          <a:p>
            <a:r>
              <a:rPr lang="en-US" sz="20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</a:rPr>
              <a:t>ELSE IF </a:t>
            </a:r>
            <a:r>
              <a:rPr lang="en-US" sz="2000" dirty="0">
                <a:latin typeface="Consolas" pitchFamily="49" charset="0"/>
                <a:cs typeface="Consolas" pitchFamily="49" charset="0"/>
              </a:rPr>
              <a:t>CH &gt;= 'A' AND CH &lt;= ‘Z’ </a:t>
            </a:r>
          </a:p>
          <a:p>
            <a:r>
              <a:rPr lang="en-US" sz="20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</a:rPr>
              <a:t>THEN</a:t>
            </a:r>
            <a:r>
              <a:rPr lang="en-US" sz="2000" dirty="0">
                <a:latin typeface="Consolas" pitchFamily="49" charset="0"/>
                <a:cs typeface="Consolas" pitchFamily="49" charset="0"/>
              </a:rPr>
              <a:t> CH ← TOLOWER(CH</a:t>
            </a:r>
            <a:r>
              <a:rPr lang="en-US" sz="2000" dirty="0">
                <a:solidFill>
                  <a:schemeClr val="accent4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)/ ASCII + 32 /</a:t>
            </a:r>
            <a:r>
              <a:rPr lang="en-US" sz="2000" dirty="0">
                <a:latin typeface="Consolas" pitchFamily="49" charset="0"/>
                <a:cs typeface="Consolas" pitchFamily="49" charset="0"/>
              </a:rPr>
              <a:t>  </a:t>
            </a:r>
          </a:p>
          <a:p>
            <a:r>
              <a:rPr lang="en-US" sz="2000" dirty="0">
                <a:latin typeface="Consolas" pitchFamily="49" charset="0"/>
                <a:cs typeface="Consolas" pitchFamily="49" charset="0"/>
              </a:rPr>
              <a:t>    END IF </a:t>
            </a:r>
            <a:br>
              <a:rPr lang="en-US" sz="2000" dirty="0">
                <a:latin typeface="Consolas" pitchFamily="49" charset="0"/>
                <a:cs typeface="Consolas" pitchFamily="49" charset="0"/>
              </a:rPr>
            </a:br>
            <a:r>
              <a:rPr lang="en-IN" sz="2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5. [</a:t>
            </a:r>
            <a:r>
              <a:rPr lang="en-US" sz="2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Append converted character to result string</a:t>
            </a:r>
            <a:r>
              <a:rPr lang="en-IN" sz="2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]</a:t>
            </a:r>
          </a:p>
          <a:p>
            <a:r>
              <a:rPr lang="pt-BR" sz="2400" dirty="0">
                <a:latin typeface="Consolas" pitchFamily="49" charset="0"/>
              </a:rPr>
              <a:t>	</a:t>
            </a:r>
            <a:r>
              <a:rPr lang="en-US" sz="2400" dirty="0">
                <a:latin typeface="Consolas" pitchFamily="49" charset="0"/>
              </a:rPr>
              <a:t> RESULT ← RESULT + CH  </a:t>
            </a:r>
          </a:p>
          <a:p>
            <a:r>
              <a:rPr lang="en-US" sz="2400" dirty="0">
                <a:latin typeface="Consolas" pitchFamily="49" charset="0"/>
              </a:rPr>
              <a:t>      I ← I + 1</a:t>
            </a:r>
          </a:p>
          <a:p>
            <a:r>
              <a:rPr lang="en-US" sz="2400" dirty="0">
                <a:latin typeface="Consolas" pitchFamily="49" charset="0"/>
              </a:rPr>
              <a:t>END REPEAT</a:t>
            </a:r>
          </a:p>
          <a:p>
            <a:r>
              <a:rPr lang="en-IN" sz="2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6. [</a:t>
            </a:r>
            <a:r>
              <a:rPr lang="en-US" sz="2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Print the final converted string</a:t>
            </a:r>
            <a:r>
              <a:rPr lang="en-IN" sz="2400" b="1" dirty="0">
                <a:solidFill>
                  <a:schemeClr val="tx2"/>
                </a:solidFill>
                <a:latin typeface="Consolas" pitchFamily="49" charset="0"/>
                <a:cs typeface="Consolas" pitchFamily="49" charset="0"/>
              </a:rPr>
              <a:t>]</a:t>
            </a:r>
          </a:p>
          <a:p>
            <a:r>
              <a:rPr lang="pt-BR" sz="2400" dirty="0">
                <a:latin typeface="Consolas" pitchFamily="49" charset="0"/>
              </a:rPr>
              <a:t>	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 PRINT RESULT</a:t>
            </a:r>
            <a:endParaRPr lang="pt-BR" sz="2400" dirty="0">
              <a:latin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14894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7">
            <a:extLst>
              <a:ext uri="{FF2B5EF4-FFF2-40B4-BE49-F238E27FC236}">
                <a16:creationId xmlns:a16="http://schemas.microsoft.com/office/drawing/2014/main" id="{1B41EB6E-3DBA-1081-79DE-2CBDA7EF1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Program#30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E835CB-FDE8-19CA-D4F8-80207340B33B}"/>
              </a:ext>
            </a:extLst>
          </p:cNvPr>
          <p:cNvSpPr txBox="1"/>
          <p:nvPr/>
        </p:nvSpPr>
        <p:spPr>
          <a:xfrm>
            <a:off x="5233252" y="914400"/>
            <a:ext cx="1919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 Function</a:t>
            </a:r>
            <a:endParaRPr lang="en-IN" sz="2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ED7C2F-B094-63C8-E2C7-F903AA433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040" y="1579264"/>
            <a:ext cx="5570703" cy="31778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F15BE2-30D3-541D-6E68-92EB99A967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5013" y="1579264"/>
            <a:ext cx="4778154" cy="279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7783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pradyuman.jadeja@darshan.ac.in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+91 9879461848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Computer Engineering Department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Dr. Pradyuman U. Jadeja</a:t>
            </a:r>
          </a:p>
        </p:txBody>
      </p:sp>
      <p:sp>
        <p:nvSpPr>
          <p:cNvPr id="9" name="Text Placeholder 1026">
            <a:extLst>
              <a:ext uri="{FF2B5EF4-FFF2-40B4-BE49-F238E27FC236}">
                <a16:creationId xmlns:a16="http://schemas.microsoft.com/office/drawing/2014/main" id="{D1F0AA94-EAF3-4868-942A-0125EFC5C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sz="2400" b="1" dirty="0"/>
              <a:t>Data Structure</a:t>
            </a:r>
            <a:endParaRPr lang="en-US" sz="2400" dirty="0"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/>
      </p:sp>
      <p:pic>
        <p:nvPicPr>
          <p:cNvPr id="7" name="Picture Placeholder 7">
            <a:extLst>
              <a:ext uri="{FF2B5EF4-FFF2-40B4-BE49-F238E27FC236}">
                <a16:creationId xmlns:a16="http://schemas.microsoft.com/office/drawing/2014/main" id="{B5C1F48F-F81B-E855-0507-9B882B986D9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5180" y="5218798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21059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3373</TotalTime>
  <Words>1997</Words>
  <Application>Microsoft Office PowerPoint</Application>
  <PresentationFormat>Widescreen</PresentationFormat>
  <Paragraphs>252</Paragraphs>
  <Slides>23</Slides>
  <Notes>0</Notes>
  <HiddenSlides>7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Wingdings</vt:lpstr>
      <vt:lpstr>Roboto Condensed</vt:lpstr>
      <vt:lpstr>Roboto Condensed Light</vt:lpstr>
      <vt:lpstr>Wingdings 3</vt:lpstr>
      <vt:lpstr>Arial</vt:lpstr>
      <vt:lpstr>Consolas</vt:lpstr>
      <vt:lpstr>Calibri</vt:lpstr>
      <vt:lpstr>Office Theme</vt:lpstr>
      <vt:lpstr>Lab 4 : Array </vt:lpstr>
      <vt:lpstr>Program - 24</vt:lpstr>
      <vt:lpstr>Program - 24</vt:lpstr>
      <vt:lpstr>Program - 24</vt:lpstr>
      <vt:lpstr>Program - 25</vt:lpstr>
      <vt:lpstr>Program - 25</vt:lpstr>
      <vt:lpstr>Program - 25</vt:lpstr>
      <vt:lpstr>Program - 26</vt:lpstr>
      <vt:lpstr>Program - 26</vt:lpstr>
      <vt:lpstr>Program#26</vt:lpstr>
      <vt:lpstr>Program - 27</vt:lpstr>
      <vt:lpstr>Program - 27</vt:lpstr>
      <vt:lpstr>Program#27</vt:lpstr>
      <vt:lpstr>Program - 28</vt:lpstr>
      <vt:lpstr>Program - 28</vt:lpstr>
      <vt:lpstr>Program#28</vt:lpstr>
      <vt:lpstr>Program - 29</vt:lpstr>
      <vt:lpstr>Program#29</vt:lpstr>
      <vt:lpstr>Program#29</vt:lpstr>
      <vt:lpstr>Program - 30</vt:lpstr>
      <vt:lpstr>Program#30</vt:lpstr>
      <vt:lpstr>Program#30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Unit-1 (Part 1) Introduction to Data Structure</dc:title>
  <dc:creator>ADMIN</dc:creator>
  <cp:keywords>Unit-1 (Part 1) Introduction to Data Structure</cp:keywords>
  <cp:lastModifiedBy>Dhruv Limbasiya</cp:lastModifiedBy>
  <cp:revision>341</cp:revision>
  <dcterms:created xsi:type="dcterms:W3CDTF">2020-05-01T05:09:15Z</dcterms:created>
  <dcterms:modified xsi:type="dcterms:W3CDTF">2026-06-17T04:45:46Z</dcterms:modified>
  <cp:category>Unit-1 (Part 1) Introduction to Data Structure</cp:category>
</cp:coreProperties>
</file>